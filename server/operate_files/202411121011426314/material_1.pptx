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64" r:id="rId7"/>
    <p:sldId id="265" r:id="rId8"/>
    <p:sldId id="266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Rg st="1" end="6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红红火火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7" name="whoosh.wav"/>
          </p:stSnd>
        </p:sndAc>
      </p:transition>
    </mc:Choice>
    <mc:Fallback>
      <p:transition spd="slow" advTm="1000">
        <p:fade/>
        <p:sndAc>
          <p:stSnd>
            <p:snd r:embed="rId7" name="whoosh.wav"/>
          </p:stSnd>
        </p:sndAc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红红火火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7" name="whoosh.wav"/>
          </p:stSnd>
        </p:sndAc>
      </p:transition>
    </mc:Choice>
    <mc:Fallback>
      <p:transition spd="slow" advTm="1000">
        <p:fade/>
        <p:sndAc>
          <p:stSnd>
            <p:snd r:embed="rId7" name="whoosh.wav"/>
          </p:stSnd>
        </p:sndAc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红红火火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7" name="whoosh.wav"/>
          </p:stSnd>
        </p:sndAc>
      </p:transition>
    </mc:Choice>
    <mc:Fallback>
      <p:transition spd="slow" advTm="1000">
        <p:fade/>
        <p:sndAc>
          <p:stSnd>
            <p:snd r:embed="rId7" name="whoosh.wav"/>
          </p:stSnd>
        </p:sndAc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红红火火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8" name="whoosh.wav"/>
          </p:stSnd>
        </p:sndAc>
      </p:transition>
    </mc:Choice>
    <mc:Fallback>
      <p:transition spd="slow" advTm="1000">
        <p:fade/>
        <p:sndAc>
          <p:stSnd>
            <p:snd r:embed="rId8" name="whoosh.wav"/>
          </p:stSnd>
        </p:sndAc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红红火火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10" name="whoosh.wav"/>
          </p:stSnd>
        </p:sndAc>
      </p:transition>
    </mc:Choice>
    <mc:Fallback>
      <p:transition spd="slow" advTm="1000">
        <p:fade/>
        <p:sndAc>
          <p:stSnd>
            <p:snd r:embed="rId10" name="whoosh.wav"/>
          </p:stSnd>
        </p:sndAc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红红火火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6" name="whoosh.wav"/>
          </p:stSnd>
        </p:sndAc>
      </p:transition>
    </mc:Choice>
    <mc:Fallback>
      <p:transition spd="slow" advTm="1000">
        <p:fade/>
        <p:sndAc>
          <p:stSnd>
            <p:snd r:embed="rId6" name="whoosh.wav"/>
          </p:stSnd>
        </p:sndAc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红红火火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5" name="whoosh.wav"/>
          </p:stSnd>
        </p:sndAc>
      </p:transition>
    </mc:Choice>
    <mc:Fallback>
      <p:transition spd="slow" advTm="1000">
        <p:fade/>
        <p:sndAc>
          <p:stSnd>
            <p:snd r:embed="rId5" name="whoosh.wav"/>
          </p:stSnd>
        </p:sndAc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红红火火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8" name="whoosh.wav"/>
          </p:stSnd>
        </p:sndAc>
      </p:transition>
    </mc:Choice>
    <mc:Fallback>
      <p:transition spd="slow" advTm="1000">
        <p:fade/>
        <p:sndAc>
          <p:stSnd>
            <p:snd r:embed="rId8" name="whoosh.wav"/>
          </p:stSnd>
        </p:sndAc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红红火火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7" name="whoosh.wav"/>
          </p:stSnd>
        </p:sndAc>
      </p:transition>
    </mc:Choice>
    <mc:Fallback>
      <p:transition spd="slow" advTm="1000">
        <p:fade/>
        <p:sndAc>
          <p:stSnd>
            <p:snd r:embed="rId7" name="whoosh.wav"/>
          </p:stSnd>
        </p:sndAc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红红火火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6" name="whoosh.wav"/>
          </p:stSnd>
        </p:sndAc>
      </p:transition>
    </mc:Choice>
    <mc:Fallback>
      <p:transition spd="slow" advTm="1000">
        <p:fade/>
        <p:sndAc>
          <p:stSnd>
            <p:snd r:embed="rId6" name="whoosh.wav"/>
          </p:stSnd>
        </p:sndAc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红红火火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7" name="whoosh.wav"/>
          </p:stSnd>
        </p:sndAc>
      </p:transition>
    </mc:Choice>
    <mc:Fallback>
      <p:transition spd="slow" advTm="1000">
        <p:fade/>
        <p:sndAc>
          <p:stSnd>
            <p:snd r:embed="rId7" name="whoosh.wav"/>
          </p:stSnd>
        </p:sndAc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红红火火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18" name="whoosh.wav"/>
          </p:stSnd>
        </p:sndAc>
      </p:transition>
    </mc:Choice>
    <mc:Fallback>
      <p:transition spd="slow" advTm="1000">
        <p:fade/>
        <p:sndAc>
          <p:stSnd>
            <p:snd r:embed="rId18" name="whoosh.wav"/>
          </p:stSnd>
        </p:sndAc>
      </p:transition>
    </mc:Fallback>
  </mc:AlternateConten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9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70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 anchor="ctr" anchorCtr="0"/>
          <a:p>
            <a:pPr algn="ctr">
              <a:lnSpc>
                <a:spcPct val="100000"/>
              </a:lnSpc>
            </a:pPr>
            <a:r>
              <a:rPr lang="zh-CN" altLang="zh-CN" sz="8000" b="1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春节庆典</a:t>
            </a:r>
            <a:endParaRPr lang="zh-CN" altLang="zh-CN" sz="8000" b="1"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p>
            <a:r>
              <a:rPr lang="zh-CN" altLang="en-US" sz="3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中国最重要的传统节日</a:t>
            </a:r>
            <a:endParaRPr lang="zh-CN" altLang="en-US" sz="3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5" name="whoosh.wav"/>
          </p:stSnd>
        </p:sndAc>
      </p:transition>
    </mc:Choice>
    <mc:Fallback>
      <p:transition spd="slow" advTm="1000">
        <p:fade/>
        <p:sndAc>
          <p:stSnd>
            <p:snd r:embed="rId5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76275" y="1036955"/>
            <a:ext cx="6250305" cy="36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4000">
                <a:solidFill>
                  <a:schemeClr val="tx1"/>
                </a:solidFill>
              </a:rPr>
              <a:t>春节的历史与传说</a:t>
            </a:r>
            <a:endParaRPr lang="zh-CN" altLang="en-US" sz="4000">
              <a:solidFill>
                <a:schemeClr val="tx1"/>
              </a:solidFill>
            </a:endParaRPr>
          </a:p>
          <a:p>
            <a:r>
              <a:rPr lang="zh-CN" altLang="en-US" sz="4000">
                <a:solidFill>
                  <a:schemeClr val="tx1"/>
                </a:solidFill>
              </a:rPr>
              <a:t>春节的习俗与活动</a:t>
            </a:r>
            <a:endParaRPr lang="zh-CN" altLang="en-US" sz="4000">
              <a:solidFill>
                <a:schemeClr val="tx1"/>
              </a:solidFill>
            </a:endParaRPr>
          </a:p>
          <a:p>
            <a:r>
              <a:rPr lang="zh-CN" altLang="en-US" sz="4000">
                <a:solidFill>
                  <a:schemeClr val="tx1"/>
                </a:solidFill>
              </a:rPr>
              <a:t>春节的食物与象征意义</a:t>
            </a:r>
            <a:endParaRPr lang="zh-CN" altLang="en-US" sz="4000">
              <a:solidFill>
                <a:schemeClr val="tx1"/>
              </a:solidFill>
            </a:endParaRPr>
          </a:p>
          <a:p>
            <a:r>
              <a:rPr lang="zh-CN" altLang="en-US" sz="4000">
                <a:solidFill>
                  <a:schemeClr val="tx1"/>
                </a:solidFill>
              </a:rPr>
              <a:t>春节的现代意义与全球影响</a:t>
            </a:r>
            <a:endParaRPr lang="zh-CN" altLang="en-US" sz="4000">
              <a:solidFill>
                <a:schemeClr val="tx1"/>
              </a:solidFill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0000" y="1080000"/>
            <a:ext cx="3776113" cy="3600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红红火火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3" name="whoosh.wav"/>
          </p:stSnd>
        </p:sndAc>
      </p:transition>
    </mc:Choice>
    <mc:Fallback>
      <p:transition spd="slow" advTm="1000">
        <p:fade/>
        <p:sndAc>
          <p:stSnd>
            <p:snd r:embed="rId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7460" y="104775"/>
            <a:ext cx="1096010" cy="641096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/>
          <a:p>
            <a:r>
              <a:rPr lang="zh-CN" altLang="en-US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春节的历史与传说</a:t>
            </a:r>
            <a:endParaRPr lang="zh-CN" altLang="en-US">
              <a:solidFill>
                <a:schemeClr val="bg1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12055" y="755015"/>
            <a:ext cx="6279515" cy="5760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fontAlgn="auto">
              <a:lnSpc>
                <a:spcPts val="37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 i="1">
                <a:solidFill>
                  <a:schemeClr val="bg1"/>
                </a:solidFill>
              </a:rPr>
              <a:t>春节，也称为农历新年，是中国及一些亚洲国家最</a:t>
            </a:r>
            <a:r>
              <a:rPr lang="zh-CN" altLang="en-US" i="1">
                <a:solidFill>
                  <a:schemeClr val="bg1"/>
                </a:solidFill>
                <a:sym typeface="+mn-ea"/>
              </a:rPr>
              <a:t>庆祝丰收和祈求新的一年里五谷丰登。随着时间的推移，春节的庆祝方式也在不断演变，从古代的祭祀活动发展到现在的家庭聚会、文化交流等多种形式。春节的传说中，年兽是古代传说中的恶兽，每年除夕夜出来伤人，人们通过放鞭炮、贴春联等方式驱赶年兽。灶神是掌管家庭炉灶的神，每年腊月二十三或二十四，人们会祭拜灶神，希望得到灶神的庇护。这些传说和习俗共同构成了春节丰富多彩的文化内涵。</a:t>
            </a:r>
            <a:r>
              <a:rPr lang="zh-CN" altLang="en-US" i="1">
                <a:solidFill>
                  <a:schemeClr val="bg1"/>
                </a:solidFill>
              </a:rPr>
              <a:t>重要的传统节日。它标志着农历新年的开始，通常在每年的1月21日至2月20日之间。春节的起源可以追溯到古代的农业社会，当时人们在冬季结束、春季即将到来时 </a:t>
            </a:r>
            <a:endParaRPr lang="zh-CN" altLang="en-US" i="1">
              <a:solidFill>
                <a:schemeClr val="bg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红红火火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3" name="whoosh.wav"/>
          </p:stSnd>
        </p:sndAc>
      </p:transition>
    </mc:Choice>
    <mc:Fallback>
      <p:transition spd="slow" advTm="1000">
        <p:fade/>
        <p:sndAc>
          <p:stSnd>
            <p:snd r:embed="rId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2" grpId="3" animBg="1"/>
      <p:bldP spid="2" grpId="5" animBg="1"/>
      <p:bldP spid="2" grpId="7" animBg="1"/>
      <p:bldP spid="2" grpId="8" bldLvl="0" animBg="1"/>
      <p:bldP spid="2" grpId="9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春节的习俗与活动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10480" y="1602740"/>
            <a:ext cx="6299200" cy="4864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1755"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/>
              <a:t>春节的习俗丰富多彩，体现了中国人民对新年的美好祝愿和对幸福生活的追求。贴春联是春节的重要标志，通常用红纸书写，寄托着人们对新一年的美好愿望。放鞭炮是为了驱赶邪灵和迎接新年的到来，象征着辞旧迎新。拜年是春节期间的重要活动，人们会穿上新衣，互相拜访，给亲朋好友拜年，表达祝福。压岁钱是长辈给晚辈的一种祝福，以保佑他们新的一年平安健康。春节期间，还有许多活动，如舞龙舞狮、庙会、灯会等，这些活动不仅增添了节日的喜庆气氛，也体现了中华民族的传统文化。</a:t>
            </a:r>
            <a:endParaRPr lang="zh-CN" altLang="en-US" sz="20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241200" y="1722755"/>
            <a:ext cx="4860000" cy="4500000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红红火火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3" name="whoosh.wav"/>
          </p:stSnd>
        </p:sndAc>
      </p:transition>
    </mc:Choice>
    <mc:Fallback>
      <p:transition spd="slow" advTm="1000">
        <p:fade/>
        <p:sndAc>
          <p:stSnd>
            <p:snd r:embed="rId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春节的食物与象征意义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765800" y="1906270"/>
            <a:ext cx="5502910" cy="3960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/>
              <a:t>春节的食物不仅美味，还富含深厚的文化象征意义。饺子是北方春节的传统食物，象征着财富和好运。年糕寓意着年年高升，是南方春节的传统食物。汤圆象征着团圆和美满，是元宵节的传统食物，但也经常在春节期间食用。八宝饭是一种甜糯米饭，里面含有多种干果和豆沙，象征着丰收和吉祥。这些食物不仅是春节餐桌上的美味佳肴，也是人们对新一年美好生活的期盼和祝福。</a:t>
            </a:r>
            <a:endParaRPr lang="zh-CN" altLang="en-US" sz="2000"/>
          </a:p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endParaRPr lang="zh-CN" altLang="en-US" sz="2000"/>
          </a:p>
        </p:txBody>
      </p:sp>
      <p:pic>
        <p:nvPicPr>
          <p:cNvPr id="5" name="图片 4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35" y="1906905"/>
            <a:ext cx="4993640" cy="4288790"/>
          </a:xfrm>
          <a:prstGeom prst="rect">
            <a:avLst/>
          </a:prstGeom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红红火火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3" name="whoosh.wav"/>
          </p:stSnd>
        </p:sndAc>
      </p:transition>
    </mc:Choice>
    <mc:Fallback>
      <p:transition spd="slow" advTm="1000">
        <p:fade/>
        <p:sndAc>
          <p:stSnd>
            <p:snd r:embed="rId3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bg1"/>
                </a:solidFill>
              </a:rPr>
              <a:t>春节的现代意义与全球影响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330" y="1998345"/>
            <a:ext cx="1039622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solidFill>
                  <a:schemeClr val="bg1"/>
                </a:solidFill>
              </a:rPr>
              <a:t>在现代社会，春节不仅是传统节日，也是文化交流和家庭团聚的重要时刻。随着全球化的发展，春节已经成为全球华人共同庆祝的节日，影响力遍及世界各地。春节的现代意义在于它不仅是一个庆祝丰收和祈求好运的节日，更是一个促进家庭团聚、增进亲情、传承文化的重要时刻。在全球范围内，越来越多的非华人也开始参与春节的庆祝活动，这不仅展示了中国文化的魅力，也促进了不同文化之间的交流和理解。</a:t>
            </a:r>
            <a:endParaRPr lang="zh-CN" altLang="en-US" sz="2000">
              <a:solidFill>
                <a:schemeClr val="bg1"/>
              </a:solidFill>
            </a:endParaRPr>
          </a:p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红红火火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500" advTm="1000">
        <p15:prstTrans prst="airplane" invX="1"/>
        <p:sndAc>
          <p:stSnd>
            <p:snd r:embed="rId3" name="whoosh.wav"/>
          </p:stSnd>
        </p:sndAc>
      </p:transition>
    </mc:Choice>
    <mc:Fallback>
      <p:transition spd="slow" advTm="1000">
        <p:fade/>
        <p:sndAc>
          <p:stSnd>
            <p:snd r:embed="rId3" name="whoosh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ID" val="custom20205081_1*b*1"/>
  <p:tag name="KSO_WM_TEMPLATE_CATEGORY" val="custom"/>
  <p:tag name="KSO_WM_TEMPLATE_INDEX" val="20205081"/>
  <p:tag name="KSO_WM_UNIT_LAYERLEVEL" val="1"/>
  <p:tag name="KSO_WM_TAG_VERSION" val="1.0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commondata" val="eyJoZGlkIjoiNjQwNzdkNTI0ZmEyODlhNmVjYjU4ZGU0YTBmMWRhMTc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WPS 演示</Application>
  <PresentationFormat>宽屏</PresentationFormat>
  <Paragraphs>37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春节庆典</vt:lpstr>
      <vt:lpstr>PowerPoint 演示文稿</vt:lpstr>
      <vt:lpstr>春节的历史与传说</vt:lpstr>
      <vt:lpstr>春节的习俗与活动</vt:lpstr>
      <vt:lpstr>春节的食物与象征意义</vt:lpstr>
      <vt:lpstr>春节的现代意义与全球影响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zy</cp:lastModifiedBy>
  <cp:revision>177</cp:revision>
  <dcterms:created xsi:type="dcterms:W3CDTF">2019-06-19T02:08:00Z</dcterms:created>
  <dcterms:modified xsi:type="dcterms:W3CDTF">2024-11-18T08:53:32Z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D4884CD8B58546DEA3EBF5A4C0DA088E_13</vt:lpwstr>
  </property>
</Properties>
</file>