
<file path=[Content_Types].xml><?xml version="1.0" encoding="utf-8"?>
<Types xmlns="http://schemas.openxmlformats.org/package/2006/content-types">
  <Default Extension="wav" ContentType="audio/x-wav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8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7" name="breeze.wav"/>
          </p:stSnd>
        </p:sndAc>
      </p:transition>
    </mc:Choice>
    <mc:Fallback>
      <p:transition spd="slow" advClick="0" advTm="6000">
        <p:wheel spokes="4"/>
        <p:sndAc>
          <p:stSnd>
            <p:snd r:embed="rId7" name="breeze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7" name="breeze.wav"/>
          </p:stSnd>
        </p:sndAc>
      </p:transition>
    </mc:Choice>
    <mc:Fallback>
      <p:transition spd="slow" advClick="0" advTm="6000">
        <p:wheel spokes="4"/>
        <p:sndAc>
          <p:stSnd>
            <p:snd r:embed="rId7" name="breeze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7" name="breeze.wav"/>
          </p:stSnd>
        </p:sndAc>
      </p:transition>
    </mc:Choice>
    <mc:Fallback>
      <p:transition spd="slow" advClick="0" advTm="6000">
        <p:wheel spokes="4"/>
        <p:sndAc>
          <p:stSnd>
            <p:snd r:embed="rId7" name="breeze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8" name="breeze.wav"/>
          </p:stSnd>
        </p:sndAc>
      </p:transition>
    </mc:Choice>
    <mc:Fallback>
      <p:transition spd="slow" advClick="0" advTm="6000">
        <p:wheel spokes="4"/>
        <p:sndAc>
          <p:stSnd>
            <p:snd r:embed="rId8" name="breeze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10" name="breeze.wav"/>
          </p:stSnd>
        </p:sndAc>
      </p:transition>
    </mc:Choice>
    <mc:Fallback>
      <p:transition spd="slow" advClick="0" advTm="6000">
        <p:wheel spokes="4"/>
        <p:sndAc>
          <p:stSnd>
            <p:snd r:embed="rId10" name="breeze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6" name="breeze.wav"/>
          </p:stSnd>
        </p:sndAc>
      </p:transition>
    </mc:Choice>
    <mc:Fallback>
      <p:transition spd="slow" advClick="0" advTm="6000">
        <p:wheel spokes="4"/>
        <p:sndAc>
          <p:stSnd>
            <p:snd r:embed="rId6" name="breeze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5" name="breeze.wav"/>
          </p:stSnd>
        </p:sndAc>
      </p:transition>
    </mc:Choice>
    <mc:Fallback>
      <p:transition spd="slow" advClick="0" advTm="6000">
        <p:wheel spokes="4"/>
        <p:sndAc>
          <p:stSnd>
            <p:snd r:embed="rId5" name="breeze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8" name="breeze.wav"/>
          </p:stSnd>
        </p:sndAc>
      </p:transition>
    </mc:Choice>
    <mc:Fallback>
      <p:transition spd="slow" advClick="0" advTm="6000">
        <p:wheel spokes="4"/>
        <p:sndAc>
          <p:stSnd>
            <p:snd r:embed="rId8" name="breeze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7" name="breeze.wav"/>
          </p:stSnd>
        </p:sndAc>
      </p:transition>
    </mc:Choice>
    <mc:Fallback>
      <p:transition spd="slow" advClick="0" advTm="6000">
        <p:wheel spokes="4"/>
        <p:sndAc>
          <p:stSnd>
            <p:snd r:embed="rId7" name="breeze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6" name="breeze.wav"/>
          </p:stSnd>
        </p:sndAc>
      </p:transition>
    </mc:Choice>
    <mc:Fallback>
      <p:transition spd="slow" advClick="0" advTm="6000">
        <p:wheel spokes="4"/>
        <p:sndAc>
          <p:stSnd>
            <p:snd r:embed="rId6" name="breeze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7" name="breeze.wav"/>
          </p:stSnd>
        </p:sndAc>
      </p:transition>
    </mc:Choice>
    <mc:Fallback>
      <p:transition spd="slow" advClick="0" advTm="6000">
        <p:wheel spokes="4"/>
        <p:sndAc>
          <p:stSnd>
            <p:snd r:embed="rId7" name="breeze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18" name="breeze.wav"/>
          </p:stSnd>
        </p:sndAc>
      </p:transition>
    </mc:Choice>
    <mc:Fallback>
      <p:transition spd="slow" advClick="0" advTm="6000">
        <p:wheel spokes="4"/>
        <p:sndAc>
          <p:stSnd>
            <p:snd r:embed="rId18" name="breeze.wav"/>
          </p:stSnd>
        </p:sndAc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1.wav"/><Relationship Id="rId3" Type="http://schemas.openxmlformats.org/officeDocument/2006/relationships/tags" Target="../tags/tag65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1.wav"/><Relationship Id="rId3" Type="http://schemas.openxmlformats.org/officeDocument/2006/relationships/tags" Target="../tags/tag68.xml"/><Relationship Id="rId2" Type="http://schemas.openxmlformats.org/officeDocument/2006/relationships/image" Target="../media/image5.png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1.wav"/><Relationship Id="rId3" Type="http://schemas.openxmlformats.org/officeDocument/2006/relationships/tags" Target="../tags/tag70.xml"/><Relationship Id="rId2" Type="http://schemas.openxmlformats.org/officeDocument/2006/relationships/image" Target="../media/image6.png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80" y="914400"/>
            <a:ext cx="9711690" cy="3209290"/>
          </a:xfrm>
          <a:effectLst>
            <a:reflection blurRad="6350" stA="50000" endA="300" endPos="90000" dir="5400000" sy="-100000" algn="bl" rotWithShape="0"/>
          </a:effectLst>
        </p:spPr>
        <p:txBody>
          <a:bodyPr/>
          <a:p>
            <a:r>
              <a:rPr lang="zh-CN" altLang="zh-CN" sz="960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charset="-122"/>
                <a:ea typeface="新宋体" panose="02010609030101010101" charset="-122"/>
              </a:rPr>
              <a:t>西安美景</a:t>
            </a:r>
            <a:endParaRPr lang="zh-CN" altLang="zh-CN" sz="960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charset="-122"/>
              <a:ea typeface="新宋体" panose="0201060903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4" name="breeze.wav"/>
          </p:stSnd>
        </p:sndAc>
      </p:transition>
    </mc:Choice>
    <mc:Fallback>
      <p:transition spd="slow" advClick="0" advTm="6000">
        <p:wheel spokes="4"/>
        <p:sndAc>
          <p:stSnd>
            <p:snd r:embed="rId4" name="breez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58045" y="608330"/>
            <a:ext cx="1819275" cy="705485"/>
          </a:xfrm>
        </p:spPr>
        <p:txBody>
          <a:bodyPr>
            <a:normAutofit fontScale="90000"/>
          </a:bodyPr>
          <a:p>
            <a:r>
              <a:rPr lang="zh-CN" altLang="en-US"/>
              <a:t>《简介》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488430" y="1971040"/>
            <a:ext cx="53994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西安，古称长安、镐京，现为陕西省省会、副省级市、是国务院批复确定的中国西部地区重要的中心城市，国家重要的科研、教育和工业基地 。西安是中国四大古都之一，联合国科教文组织1981年确定的“世界历史名城”，美媒评选的世界十大古都之一</a:t>
            </a:r>
            <a:endParaRPr lang="zh-CN" altLang="en-US"/>
          </a:p>
        </p:txBody>
      </p:sp>
      <p:pic>
        <p:nvPicPr>
          <p:cNvPr id="6" name="图片 5" descr="素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6488430" cy="6857365"/>
          </a:xfrm>
          <a:prstGeom prst="rect">
            <a:avLst/>
          </a:prstGeom>
        </p:spPr>
      </p:pic>
      <p:pic>
        <p:nvPicPr>
          <p:cNvPr id="7" name="图片 6" descr="素材"/>
          <p:cNvPicPr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3582000" y="3600"/>
            <a:ext cx="8640000" cy="6840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4" name="breeze.wav"/>
          </p:stSnd>
        </p:sndAc>
      </p:transition>
    </mc:Choice>
    <mc:Fallback>
      <p:transition spd="slow" advClick="0" advTm="6000">
        <p:wheel spokes="4"/>
        <p:sndAc>
          <p:stSnd>
            <p:snd r:embed="rId4" name="breez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5855" y="1313815"/>
            <a:ext cx="3162935" cy="705485"/>
          </a:xfrm>
        </p:spPr>
        <p:txBody>
          <a:bodyPr/>
          <a:p>
            <a:r>
              <a:rPr lang="zh-CN" altLang="en-US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西安古城墙</a:t>
            </a:r>
            <a:endParaRPr lang="zh-CN" altLang="en-US">
              <a:solidFill>
                <a:srgbClr val="FFC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89880" y="3905250"/>
            <a:ext cx="6466205" cy="25431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3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marL="360045" indent="-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-200" checksum="932098519"/>
                </a:ext>
              </a:extLst>
            </a:pPr>
            <a:endParaRPr lang="zh-CN" altLang="en-US"/>
          </a:p>
          <a:p>
            <a:pPr marL="360045" indent="-457200" fontAlgn="auto">
              <a:lnSpc>
                <a:spcPct val="150000"/>
              </a:lnSpc>
              <a:spcBef>
                <a:spcPts val="0"/>
              </a:spcBef>
              <a:extLst>
                <a:ext uri="{35155182-B16C-46BC-9424-99874614C6A1}">
                  <wpsdc:indentchars xmlns:wpsdc="http://www.wps.cn/officeDocument/2017/drawingmlCustomData" val="-200" checksum="932098519"/>
                </a:ext>
              </a:extLst>
            </a:pPr>
            <a:r>
              <a:rPr lang="zh-CN" altLang="en-US"/>
              <a:t>又称西安明城墙，是中国现存最完整的古代城垣，长度列全国第二。</a:t>
            </a:r>
            <a:endParaRPr lang="zh-CN" altLang="en-US"/>
          </a:p>
          <a:p>
            <a:pPr marL="360045" indent="-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-200" checksum="932098519"/>
                </a:ext>
              </a:extLst>
            </a:pPr>
            <a:r>
              <a:rPr lang="zh-CN" altLang="en-US"/>
              <a:t>与平遥城墙、荆州城墙、兴城城墙等并列为中国现存最完好的四座古城墙。</a:t>
            </a:r>
            <a:endParaRPr lang="zh-CN" altLang="en-US"/>
          </a:p>
          <a:p>
            <a:pPr marL="360045" indent="-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-200" checksum="932098519"/>
                </a:ext>
              </a:extLst>
            </a:pPr>
            <a:r>
              <a:rPr lang="zh-CN" altLang="en-US"/>
              <a:t>城墙周围有护城河环绕，著名的西安钟鼓楼就位于城墙中心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464945"/>
            <a:ext cx="4939665" cy="2689860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3" name="breeze.wav"/>
          </p:stSnd>
        </p:sndAc>
      </p:transition>
    </mc:Choice>
    <mc:Fallback>
      <p:transition spd="slow" advClick="0" advTm="6000">
        <p:wheel spokes="4"/>
        <p:sndAc>
          <p:stSnd>
            <p:snd r:embed="rId3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6" dur="2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1313815"/>
            <a:ext cx="3355340" cy="705485"/>
          </a:xfrm>
        </p:spPr>
        <p:txBody>
          <a:bodyPr/>
          <a:p>
            <a:r>
              <a:rPr lang="zh-CN" altLang="en-US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大雁塔北广场</a:t>
            </a:r>
            <a:endParaRPr lang="zh-CN" altLang="en-US">
              <a:solidFill>
                <a:srgbClr val="FFC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14465" y="1314450"/>
            <a:ext cx="4600575" cy="5207000"/>
          </a:xfrm>
          <a:prstGeom prst="parallelogram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7" name="文本框 6"/>
          <p:cNvSpPr txBox="1"/>
          <p:nvPr/>
        </p:nvSpPr>
        <p:spPr>
          <a:xfrm>
            <a:off x="505460" y="2211705"/>
            <a:ext cx="5662295" cy="4309745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  <a:ln>
            <a:solidFill>
              <a:srgbClr val="FFFF00"/>
            </a:solidFill>
          </a:ln>
        </p:spPr>
        <p:txBody>
          <a:bodyPr wrap="square" rtlCol="0">
            <a:noAutofit/>
          </a:bodyPr>
          <a:p>
            <a:r>
              <a:rPr lang="zh-CN" altLang="en-US"/>
              <a:t>市区内最著名的广场，每晚都有亚洲最大音乐喷泉表演，是游人及市民们休闲散步的好去处。</a:t>
            </a:r>
            <a:endParaRPr lang="zh-CN" altLang="en-US"/>
          </a:p>
          <a:p>
            <a:r>
              <a:rPr lang="zh-CN" altLang="en-US"/>
              <a:t>整个广场以大雁塔为中心轴，中央为主景水道，左右两侧分及广场南端设置多处景观。</a:t>
            </a:r>
            <a:endParaRPr lang="zh-CN" altLang="en-US"/>
          </a:p>
          <a:p>
            <a:r>
              <a:rPr lang="zh-CN" altLang="en-US"/>
              <a:t>东侧是陕西地方特色的戏曲大观园。园中有戏曲彩绘雕塑、地方戏曲铸铜浮雕等雕塑群。</a:t>
            </a:r>
            <a:endParaRPr lang="zh-CN" altLang="en-US"/>
          </a:p>
          <a:p>
            <a:r>
              <a:rPr lang="zh-CN" altLang="en-US"/>
              <a:t>西侧是以民俗文化为主题的民俗大观园，活灵活现的雕塑如：皮影、陕西八大怪、踩高跷、农村嫁娶及白鹿原系列等，展示了陕西各地的民俗风情。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4" name="breeze.wav"/>
          </p:stSnd>
        </p:sndAc>
      </p:transition>
    </mc:Choice>
    <mc:Fallback>
      <p:transition spd="slow" advClick="0" advTm="6000">
        <p:wheel spokes="4"/>
        <p:sndAc>
          <p:stSnd>
            <p:snd r:embed="rId4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100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build="p"/>
      <p:bldP spid="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1080135"/>
            <a:ext cx="5132070" cy="705485"/>
          </a:xfrm>
        </p:spPr>
        <p:txBody>
          <a:bodyPr/>
          <a:p>
            <a:r>
              <a:rPr lang="zh-CN" altLang="en-US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秦始皇兵马俑博物馆</a:t>
            </a:r>
            <a:endParaRPr lang="zh-CN" altLang="en-US">
              <a:solidFill>
                <a:srgbClr val="FFC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376035" y="1785620"/>
            <a:ext cx="5201285" cy="43319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8330" y="2526030"/>
            <a:ext cx="5132070" cy="3591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Clr>
                <a:srgbClr val="00B0F0"/>
              </a:buClr>
              <a:buSzPct val="120000"/>
              <a:buFont typeface="Arial Black" panose="020B0A04020102020204" charset="0"/>
              <a:buChar char="Ø"/>
            </a:pPr>
            <a:r>
              <a:rPr lang="zh-CN" altLang="en-US"/>
              <a:t>是秦始皇陵园中一处大型从葬坑，以兵马俑为基础，在原址上建立的中国最大的古代军事博物馆。</a:t>
            </a:r>
            <a:endParaRPr lang="zh-CN" altLang="en-US"/>
          </a:p>
          <a:p>
            <a:pPr marL="285750" indent="-285750">
              <a:buClr>
                <a:srgbClr val="00B0F0"/>
              </a:buClr>
              <a:buSzPct val="120000"/>
              <a:buFont typeface="Arial Black" panose="020B0A04020102020204" charset="0"/>
              <a:buChar char="Ø"/>
            </a:pPr>
            <a:r>
              <a:rPr lang="zh-CN" altLang="en-US"/>
              <a:t>共有3个兵马俑坑。一号坑是战车和步兵相间的主力军阵，约有6000个真人大小的陶俑。二号坑由战车、骑兵、弩兵混合编组。三号坑是军阵的指挥系统。</a:t>
            </a:r>
            <a:endParaRPr lang="zh-CN" altLang="en-US"/>
          </a:p>
          <a:p>
            <a:pPr marL="285750" indent="-285750">
              <a:buClr>
                <a:srgbClr val="00B0F0"/>
              </a:buClr>
              <a:buSzPct val="120000"/>
              <a:buFont typeface="Arial Black" panose="020B0A04020102020204" charset="0"/>
              <a:buChar char="Ø"/>
            </a:pPr>
            <a:r>
              <a:rPr lang="zh-CN" altLang="en-US"/>
              <a:t>出土的兵马俑分为将军俑，武士俑，车士俑等。每个陶俑的五官神情各不相同。原本都有彩绘，但因火烧和浸泡，大多已掉色脱落。</a:t>
            </a:r>
            <a:endParaRPr lang="zh-CN" altLang="en-US"/>
          </a:p>
          <a:p>
            <a:pPr marL="285750" indent="-285750">
              <a:buClr>
                <a:srgbClr val="00B0F0"/>
              </a:buClr>
              <a:buSzPct val="120000"/>
              <a:buFont typeface="Arial Black" panose="020B0A04020102020204" charset="0"/>
              <a:buChar char="Ø"/>
            </a:pPr>
            <a:r>
              <a:rPr lang="zh-CN" altLang="en-US"/>
              <a:t>铜车马展厅展出的青铜车马，使用了大量金银，制作精巧，被誉为“青铜之冠”，对秦代学术研究具有重要价值。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6000">
        <p:wheel spokes="4"/>
        <p:sndAc>
          <p:stSnd>
            <p:snd r:embed="rId4" name="breeze.wav"/>
          </p:stSnd>
        </p:sndAc>
      </p:transition>
    </mc:Choice>
    <mc:Fallback>
      <p:transition spd="slow" advClick="0" advTm="6000">
        <p:wheel spokes="4"/>
        <p:sndAc>
          <p:stSnd>
            <p:snd r:embed="rId4" name="breeze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COMMONDATA" val="eyJoZGlkIjoiNzFlMGY3OGRmZGU1YjQ0MmVmN2U4Yjg3M2ZkYWM1ZjIifQ=="/>
  <p:tag name="commondata" val="eyJoZGlkIjoiNjQwNzdkNTI0ZmEyODlhNmVjYjU4ZGU0YTBmMWRhM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</Words>
  <Application>WPS 演示</Application>
  <PresentationFormat>宽屏</PresentationFormat>
  <Paragraphs>26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新宋体</vt:lpstr>
      <vt:lpstr>Arial Black</vt:lpstr>
      <vt:lpstr>微软雅黑</vt:lpstr>
      <vt:lpstr>Arial Unicode MS</vt:lpstr>
      <vt:lpstr>Calibri</vt:lpstr>
      <vt:lpstr>WPS</vt:lpstr>
      <vt:lpstr>西安美景</vt:lpstr>
      <vt:lpstr>《简介》</vt:lpstr>
      <vt:lpstr>西安古城墙</vt:lpstr>
      <vt:lpstr>大雁塔北广场</vt:lpstr>
      <vt:lpstr>秦始皇兵马俑博物馆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准易技术~张工</cp:lastModifiedBy>
  <cp:revision>164</cp:revision>
  <dcterms:created xsi:type="dcterms:W3CDTF">2019-06-19T02:08:00Z</dcterms:created>
  <dcterms:modified xsi:type="dcterms:W3CDTF">2025-03-03T02:01:34Z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B8DB4B004BE04E8BB60AB6D5FE85C089_11</vt:lpwstr>
  </property>
</Properties>
</file>