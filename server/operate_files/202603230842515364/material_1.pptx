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7" r:id="rId5"/>
    <p:sldId id="258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Rg st="1" end="2"/>
  </p:showPr>
  <p:clrMru>
    <a:srgbClr val="E0E0E0"/>
    <a:srgbClr val="F1F1F1"/>
    <a:srgbClr val="B3B3B3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9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节气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节气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节气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节气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节气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>
            <a:alphaModFix amt="4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3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237990" y="1066165"/>
            <a:ext cx="1741170" cy="3422650"/>
          </a:xfrm>
        </p:spPr>
        <p:txBody>
          <a:bodyPr>
            <a:normAutofit fontScale="90000"/>
          </a:bodyPr>
          <a:p>
            <a:r>
              <a:rPr lang="zh-CN" altLang="zh-CN" sz="13335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小暑</a:t>
            </a:r>
            <a:endParaRPr lang="zh-CN" altLang="zh-CN" sz="13335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383020" y="2822575"/>
            <a:ext cx="589280" cy="3318510"/>
          </a:xfrm>
        </p:spPr>
        <p:txBody>
          <a:bodyPr vert="eaVert"/>
          <a:p>
            <a:r>
              <a:rPr lang="zh-CN" altLang="en-US" sz="1900" b="1">
                <a:solidFill>
                  <a:schemeClr val="accent6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清风拂院</a:t>
            </a:r>
            <a:r>
              <a:rPr lang="en-US" altLang="zh-CN" sz="1900" b="1">
                <a:solidFill>
                  <a:schemeClr val="accent6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1900" b="1">
                <a:solidFill>
                  <a:schemeClr val="accent6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不觉夏日长</a:t>
            </a:r>
            <a:endParaRPr lang="zh-CN" altLang="en-US" sz="1900" b="1">
              <a:solidFill>
                <a:schemeClr val="accent6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15" y="1779905"/>
            <a:ext cx="979170" cy="32981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rot="10800000" flipH="1" flipV="1">
            <a:off x="4204970" y="1733550"/>
            <a:ext cx="3781425" cy="3390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460740" y="1733550"/>
            <a:ext cx="3024000" cy="3384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eaVert" wrap="square" rtlCol="0">
            <a:noAutofit/>
          </a:bodyPr>
          <a:p>
            <a:pPr algn="ctr"/>
            <a:r>
              <a:rPr lang="zh-CN" altLang="en-US" sz="1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小暑的气候特点</a:t>
            </a:r>
            <a:endParaRPr lang="zh-CN" altLang="en-US" sz="17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zh-CN" altLang="en-US" sz="1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暑是二十四节气中的第十一个节气，通常在每年的7月7日或8日开始。此时，天气逐渐炎热，气温升高，降雨增多，雷暴频繁，标志着盛夏的来临。小暑期间，人们明显感受到高温潮湿的气候特点，炎热的天气和潮湿的空气交织在一起，让人感受到盛夏的威力。</a:t>
            </a:r>
            <a:endParaRPr lang="zh-CN" altLang="en-US" sz="17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755" y="1733550"/>
            <a:ext cx="3024000" cy="3391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mongolianVert" wrap="square" rtlCol="0">
            <a:noAutofit/>
          </a:bodyPr>
          <a:p>
            <a:pPr algn="ctr"/>
            <a:r>
              <a:rPr lang="zh-CN" altLang="en-US" sz="1700">
                <a:latin typeface="楷体" panose="02010609060101010101" charset="-122"/>
                <a:ea typeface="楷体" panose="02010609060101010101" charset="-122"/>
              </a:rPr>
              <a:t>小暑与伏天的关系</a:t>
            </a:r>
            <a:endParaRPr lang="zh-CN" altLang="en-US" sz="1700"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1700">
                <a:latin typeface="楷体" panose="02010609060101010101" charset="-122"/>
                <a:ea typeface="楷体" panose="02010609060101010101" charset="-122"/>
              </a:rPr>
              <a:t>小暑不仅标志着盛夏的开始，还是进入伏天的前奏。它是一年中气温最高且闷热的时期之一，伏天通常出现在小暑与处暑之间，这段时间的高温和潮湿让人体感更加闷热，也是一年中最为酷暑难耐的阶段，仿佛置身于一个天然的</a:t>
            </a:r>
            <a:r>
              <a:rPr lang="en-US" altLang="zh-CN" sz="1700"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1700">
                <a:latin typeface="楷体" panose="02010609060101010101" charset="-122"/>
                <a:ea typeface="楷体" panose="02010609060101010101" charset="-122"/>
              </a:rPr>
              <a:t>蒸笼”之中。</a:t>
            </a:r>
            <a:endParaRPr lang="zh-CN" altLang="en-US" sz="17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双波形 6"/>
          <p:cNvSpPr/>
          <p:nvPr/>
        </p:nvSpPr>
        <p:spPr>
          <a:xfrm>
            <a:off x="706755" y="307340"/>
            <a:ext cx="9180000" cy="936000"/>
          </a:xfrm>
          <a:prstGeom prst="doubleWave">
            <a:avLst/>
          </a:prstGeom>
          <a:solidFill>
            <a:srgbClr val="F1F1F1"/>
          </a:solidFill>
          <a:ln w="38100">
            <a:solidFill>
              <a:srgbClr val="E0E0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炎夏开启与伏天序曲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1816100"/>
            <a:ext cx="4222750" cy="4222750"/>
          </a:xfrm>
          <a:prstGeom prst="ellipse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26810" y="2427605"/>
            <a:ext cx="529971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在小暑时节，各地有许多独特的民俗活动。比如“食新”，农民会用新割的稻谷做成饭供奉祖先，祈求丰收；还有吃饺子、吃藕、吃黄鳝等习俗，这些食物既能开胃解馋，又具有滋补功效。此外，民间还有“晒红绿”的习俗，即在小暑前后晒衣服和书画，防止受潮霉变。在北方，人们还会喝羊汤，认为可以滋补身体、增加阳气。</a:t>
            </a:r>
            <a:endParaRPr lang="zh-CN" altLang="en-US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5660" y="236220"/>
            <a:ext cx="69215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6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楷体" panose="02010609060101010101" charset="-122"/>
                <a:ea typeface="楷体" panose="02010609060101010101" charset="-122"/>
                <a:sym typeface="+mn-ea"/>
              </a:rPr>
              <a:t>传统习俗代代相传！</a:t>
            </a:r>
            <a:endParaRPr lang="zh-CN" altLang="en-US" sz="6000" b="1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WPS 演示</Application>
  <PresentationFormat>宽屏</PresentationFormat>
  <Paragraphs>16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仿宋</vt:lpstr>
      <vt:lpstr>微软雅黑</vt:lpstr>
      <vt:lpstr>Arial Unicode MS</vt:lpstr>
      <vt:lpstr>Calibri</vt:lpstr>
      <vt:lpstr>WPS</vt:lpstr>
      <vt:lpstr>小暑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158</cp:revision>
  <dcterms:created xsi:type="dcterms:W3CDTF">2019-06-19T02:08:00Z</dcterms:created>
  <dcterms:modified xsi:type="dcterms:W3CDTF">2025-06-03T08:29:18Z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06009C71F70D47AE8D144EFBAC8A7707_11</vt:lpwstr>
  </property>
</Properties>
</file>