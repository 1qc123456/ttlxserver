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Animation="0">
    <p:present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1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7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7" name="hammer.wav"/>
          </p:stSnd>
        </p:sndAc>
      </p:transition>
    </mc:Choice>
    <mc:Fallback>
      <p:transition spd="slow" advTm="3000">
        <p:wedge/>
        <p:sndAc>
          <p:stSnd>
            <p:snd r:embed="rId7" name="hammer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7" name="hammer.wav"/>
          </p:stSnd>
        </p:sndAc>
      </p:transition>
    </mc:Choice>
    <mc:Fallback>
      <p:transition spd="slow" advTm="3000">
        <p:wedge/>
        <p:sndAc>
          <p:stSnd>
            <p:snd r:embed="rId7" name="hammer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7" name="hammer.wav"/>
          </p:stSnd>
        </p:sndAc>
      </p:transition>
    </mc:Choice>
    <mc:Fallback>
      <p:transition spd="slow" advTm="3000">
        <p:wedge/>
        <p:sndAc>
          <p:stSnd>
            <p:snd r:embed="rId7" name="hammer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8" name="hammer.wav"/>
          </p:stSnd>
        </p:sndAc>
      </p:transition>
    </mc:Choice>
    <mc:Fallback>
      <p:transition spd="slow" advTm="3000">
        <p:wedge/>
        <p:sndAc>
          <p:stSnd>
            <p:snd r:embed="rId8" name="hammer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10" name="hammer.wav"/>
          </p:stSnd>
        </p:sndAc>
      </p:transition>
    </mc:Choice>
    <mc:Fallback>
      <p:transition spd="slow" advTm="3000">
        <p:wedge/>
        <p:sndAc>
          <p:stSnd>
            <p:snd r:embed="rId10" name="hammer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6" name="hammer.wav"/>
          </p:stSnd>
        </p:sndAc>
      </p:transition>
    </mc:Choice>
    <mc:Fallback>
      <p:transition spd="slow" advTm="3000">
        <p:wedge/>
        <p:sndAc>
          <p:stSnd>
            <p:snd r:embed="rId6" name="hammer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5" name="hammer.wav"/>
          </p:stSnd>
        </p:sndAc>
      </p:transition>
    </mc:Choice>
    <mc:Fallback>
      <p:transition spd="slow" advTm="3000">
        <p:wedge/>
        <p:sndAc>
          <p:stSnd>
            <p:snd r:embed="rId5" name="hammer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8" name="hammer.wav"/>
          </p:stSnd>
        </p:sndAc>
      </p:transition>
    </mc:Choice>
    <mc:Fallback>
      <p:transition spd="slow" advTm="3000">
        <p:wedge/>
        <p:sndAc>
          <p:stSnd>
            <p:snd r:embed="rId8" name="hammer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7" name="hammer.wav"/>
          </p:stSnd>
        </p:sndAc>
      </p:transition>
    </mc:Choice>
    <mc:Fallback>
      <p:transition spd="slow" advTm="3000">
        <p:wedge/>
        <p:sndAc>
          <p:stSnd>
            <p:snd r:embed="rId7" name="hammer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6" name="hammer.wav"/>
          </p:stSnd>
        </p:sndAc>
      </p:transition>
    </mc:Choice>
    <mc:Fallback>
      <p:transition spd="slow" advTm="3000">
        <p:wedge/>
        <p:sndAc>
          <p:stSnd>
            <p:snd r:embed="rId6" name="hammer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7" name="hammer.wav"/>
          </p:stSnd>
        </p:sndAc>
      </p:transition>
    </mc:Choice>
    <mc:Fallback>
      <p:transition spd="slow" advTm="3000">
        <p:wedge/>
        <p:sndAc>
          <p:stSnd>
            <p:snd r:embed="rId7" name="hammer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18" name="hammer.wav"/>
          </p:stSnd>
        </p:sndAc>
      </p:transition>
    </mc:Choice>
    <mc:Fallback>
      <p:transition spd="slow" advTm="3000">
        <p:wedge/>
        <p:sndAc>
          <p:stSnd>
            <p:snd r:embed="rId18" name="hammer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audio" Target="../media/audio1.wav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66.xml"/><Relationship Id="rId3" Type="http://schemas.openxmlformats.org/officeDocument/2006/relationships/image" Target="../media/image3.png"/><Relationship Id="rId2" Type="http://schemas.openxmlformats.org/officeDocument/2006/relationships/tags" Target="../tags/tag65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audio" Target="../media/audio1.wav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audio" Target="../media/audio1.wav"/><Relationship Id="rId4" Type="http://schemas.openxmlformats.org/officeDocument/2006/relationships/tags" Target="../tags/tag70.xml"/><Relationship Id="rId3" Type="http://schemas.openxmlformats.org/officeDocument/2006/relationships/image" Target="../media/image5.png"/><Relationship Id="rId2" Type="http://schemas.openxmlformats.org/officeDocument/2006/relationships/tags" Target="../tags/tag69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effectLst/>
        </p:spPr>
        <p:txBody>
          <a:bodyPr/>
          <a:p>
            <a:r>
              <a:rPr lang="zh-CN" altLang="zh-CN" sz="7200" b="0" i="1" u="sng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月圆之夜</a:t>
            </a:r>
            <a:r>
              <a:rPr lang="en-US" altLang="zh-CN" sz="7200" b="0" i="1" u="sng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-</a:t>
            </a:r>
            <a:r>
              <a:rPr lang="zh-CN" altLang="zh-CN" sz="7200" b="0" i="1" u="sng">
                <a:ln>
                  <a:solidFill>
                    <a:srgbClr val="00B050"/>
                  </a:solidFill>
                </a:ln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中秋节的来源</a:t>
            </a:r>
            <a:endParaRPr lang="zh-CN" altLang="zh-CN" sz="7200" b="0" i="1" u="sng">
              <a:ln>
                <a:solidFill>
                  <a:srgbClr val="00B050"/>
                </a:solidFill>
              </a:ln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4" name="hammer.wav"/>
          </p:stSnd>
        </p:sndAc>
      </p:transition>
    </mc:Choice>
    <mc:Fallback>
      <p:transition spd="slow" advTm="3000">
        <p:wedge/>
        <p:sndAc>
          <p:stSnd>
            <p:snd r:embed="rId4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中秋节的历史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33135" y="1577340"/>
            <a:ext cx="439674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Clr>
                <a:srgbClr val="75BD42"/>
              </a:buClr>
              <a:buSzPct val="115000"/>
              <a:buFont typeface="Bahnschrift" panose="020B0502040204020203" charset="0"/>
              <a:buChar char="ω"/>
            </a:pPr>
            <a:r>
              <a:rPr lang="zh-CN" altLang="en-US"/>
              <a:t>中秋节起源于古代对月亮的祭祀，是中华民族祭月习俗的遗存和衍生。早在春秋时代，帝王就已开始祭月、拜月了，后来逐渐传到民间。</a:t>
            </a:r>
            <a:endParaRPr lang="zh-CN" altLang="en-US"/>
          </a:p>
          <a:p>
            <a:pPr marL="285750" indent="-285750">
              <a:buClr>
                <a:srgbClr val="75BD42"/>
              </a:buClr>
              <a:buSzPct val="115000"/>
              <a:buFont typeface="Bahnschrift" panose="020B0502040204020203" charset="0"/>
              <a:buChar char="ω"/>
            </a:pPr>
            <a:r>
              <a:rPr lang="zh-CN" altLang="en-US"/>
              <a:t>中秋节是农历八月十五，这一天恰好是稻子成熟的时刻，各家都拜土地神，庆祝丰收。同时，中秋也是人们心中团圆和思念的象征。</a:t>
            </a:r>
            <a:endParaRPr lang="zh-CN" altLang="en-US"/>
          </a:p>
          <a:p>
            <a:pPr marL="285750" indent="-285750">
              <a:buClr>
                <a:srgbClr val="75BD42"/>
              </a:buClr>
              <a:buSzPct val="115000"/>
              <a:buFont typeface="Bahnschrift" panose="020B0502040204020203" charset="0"/>
              <a:buChar char="ω"/>
            </a:pPr>
            <a:r>
              <a:rPr lang="zh-CN" altLang="en-US"/>
              <a:t>唐代时，中秋风俗在中国北方地区已流行，在唐代中秋节成为了官方认定的全国性节日。北宋时期，正式定八月十五为“中秋节”。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577340"/>
            <a:ext cx="3877945" cy="433133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5" name="hammer.wav"/>
          </p:stSnd>
        </p:sndAc>
      </p:transition>
    </mc:Choice>
    <mc:Fallback>
      <p:transition spd="slow" advTm="3000">
        <p:wedge/>
        <p:sndAc>
          <p:stSnd>
            <p:snd r:embed="rId5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5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0" dur="12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5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3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749935" y="1544955"/>
            <a:ext cx="10769600" cy="5077460"/>
          </a:xfrm>
          <a:prstGeom prst="rect">
            <a:avLst/>
          </a:prstGeom>
          <a:noFill/>
          <a:ln w="25400">
            <a:gradFill>
              <a:gsLst>
                <a:gs pos="0">
                  <a:schemeClr val="accent2"/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 t="-100000" r="-100000"/>
            </a:gradFill>
          </a:ln>
          <a:scene3d>
            <a:camera prst="perspectiveAbove"/>
            <a:lightRig rig="threePt" dir="t"/>
          </a:scene3d>
        </p:spPr>
        <p:txBody>
          <a:bodyPr wrap="square" rtlCol="0">
            <a:spAutoFit/>
          </a:bodyPr>
          <a:p>
            <a:pPr algn="ctr"/>
            <a:r>
              <a:rPr lang="zh-CN" altLang="en-US" sz="2400" b="1">
                <a:solidFill>
                  <a:srgbClr val="00B050"/>
                </a:solidFill>
              </a:rPr>
              <a:t>嫦娥奔月</a:t>
            </a:r>
            <a:endParaRPr lang="zh-CN" altLang="en-US"/>
          </a:p>
          <a:p>
            <a:pPr indent="0" fontAlgn="auto">
              <a:lnSpc>
                <a:spcPct val="150000"/>
              </a:lnSpc>
            </a:pPr>
            <a:r>
              <a:rPr lang="zh-CN" altLang="en-US"/>
              <a:t>后羿射日成功后娶了嫦娥，王母给了他一包成仙的药，但后羿只想和嫦娥在人间长相厮守。后来嫦娥为了保护仙药不被坏人夺走，自己吃了仙药，飞升到月亮上去了。从此，中秋节赏月就与嫦娥奔月的传说紧密相连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algn="ctr"/>
            <a:r>
              <a:rPr lang="zh-CN" altLang="en-US" sz="2400" b="1">
                <a:solidFill>
                  <a:srgbClr val="00B050"/>
                </a:solidFill>
              </a:rPr>
              <a:t>吴刚伐桂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/>
              <a:t>相传吴刚受天帝惩罚到月宫砍伐桂树，但桂树随砍随合，天帝把这种永无休止的劳动作为对吴刚的惩罚。这个传说给中秋节增添了神秘的色彩。</a:t>
            </a:r>
            <a:endParaRPr lang="zh-CN" altLang="en-US"/>
          </a:p>
          <a:p>
            <a:pPr indent="0" algn="l" fontAlgn="auto">
              <a:lnSpc>
                <a:spcPct val="150000"/>
              </a:lnSpc>
            </a:pPr>
            <a:endParaRPr lang="zh-CN" altLang="en-US"/>
          </a:p>
          <a:p>
            <a:pPr algn="ctr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玉兔捣药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altLang="en-US"/>
              <a:t>传说月亮上有一只玉兔，它拿着玉杵，跪地捣药，成蛤蟆丸，服用此等药丸可以长生成仙。玉兔的形象也常出现在中秋节的民间艺术品中。</a:t>
            </a:r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749935" y="552450"/>
            <a:ext cx="5624195" cy="992505"/>
          </a:xfrm>
          <a:prstGeom prst="roundRect">
            <a:avLst/>
          </a:prstGeom>
          <a:solidFill>
            <a:schemeClr val="accent4">
              <a:lumMod val="75000"/>
            </a:schemeClr>
          </a:solidFill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3200">
              <a:solidFill>
                <a:srgbClr val="FFFF00"/>
              </a:solidFill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2007870" y="553085"/>
            <a:ext cx="3132000" cy="900000"/>
          </a:xfrm>
        </p:spPr>
        <p:txBody>
          <a:bodyPr>
            <a:normAutofit fontScale="90000"/>
          </a:bodyPr>
          <a:p>
            <a:r>
              <a:rPr lang="zh-CN" altLang="en-US">
                <a:solidFill>
                  <a:srgbClr val="FFFF00"/>
                </a:solidFill>
              </a:rPr>
              <a:t>与月亮的传说</a:t>
            </a:r>
            <a:endParaRPr lang="zh-CN" altLang="en-US">
              <a:solidFill>
                <a:srgbClr val="FFFF00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4" name="hammer.wav"/>
          </p:stSnd>
        </p:sndAc>
      </p:transition>
    </mc:Choice>
    <mc:Fallback>
      <p:transition spd="slow" advTm="3000">
        <p:wedge/>
        <p:sndAc>
          <p:stSnd>
            <p:snd r:embed="rId4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为什么叫中秋节</a:t>
            </a:r>
            <a:endParaRPr lang="zh-CN" altLang="en-US"/>
          </a:p>
        </p:txBody>
      </p:sp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560000" y="720000"/>
            <a:ext cx="4320000" cy="5760000"/>
          </a:xfrm>
          <a:prstGeom prst="ellipse">
            <a:avLst/>
          </a:prstGeo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</p:pic>
      <p:sp>
        <p:nvSpPr>
          <p:cNvPr id="6" name="文本框 5"/>
          <p:cNvSpPr txBox="1"/>
          <p:nvPr/>
        </p:nvSpPr>
        <p:spPr>
          <a:xfrm>
            <a:off x="734060" y="1717040"/>
            <a:ext cx="5736590" cy="45847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农历八月为秋季第二个月</a:t>
            </a:r>
            <a:endParaRPr lang="zh-CN" altLang="en-US" sz="2400" b="1">
              <a:solidFill>
                <a:srgbClr val="00B050"/>
              </a:solidFill>
            </a:endParaRPr>
          </a:p>
          <a:p>
            <a:pPr indent="0" fontAlgn="auto">
              <a:lnSpc>
                <a:spcPct val="150000"/>
              </a:lnSpc>
              <a:spcBef>
                <a:spcPts val="600"/>
              </a:spcBef>
            </a:pPr>
            <a:r>
              <a:rPr lang="zh-CN" altLang="en-US"/>
              <a:t>在中国农历中，一年被分为四季，每季又分为孟、仲、季三个部分。农历八月正好是秋季的第二个月，因此被称为“仲秋”。而八月十五恰好是秋季的一半，因此得名“中秋”。</a:t>
            </a:r>
            <a:endParaRPr lang="zh-CN" altLang="en-US"/>
          </a:p>
          <a:p>
            <a:endParaRPr lang="zh-CN" altLang="en-US"/>
          </a:p>
          <a:p>
            <a:pPr algn="l">
              <a:buClrTx/>
              <a:buSzTx/>
              <a:buFontTx/>
            </a:pPr>
            <a:r>
              <a:rPr lang="zh-CN" altLang="en-US" sz="2400" b="1">
                <a:solidFill>
                  <a:srgbClr val="00B050"/>
                </a:solidFill>
              </a:rPr>
              <a:t>团圆和思念的象征</a:t>
            </a:r>
            <a:endParaRPr lang="zh-CN" altLang="en-US" sz="2400" b="1">
              <a:solidFill>
                <a:srgbClr val="00B050"/>
              </a:solidFill>
            </a:endParaRPr>
          </a:p>
          <a:p>
            <a:pPr algn="l">
              <a:lnSpc>
                <a:spcPct val="150000"/>
              </a:lnSpc>
              <a:spcBef>
                <a:spcPts val="600"/>
              </a:spcBef>
              <a:buClrTx/>
              <a:buSzTx/>
              <a:buFontTx/>
            </a:pPr>
            <a:r>
              <a:rPr lang="zh-CN" altLang="en-US"/>
              <a:t>中秋节是中华民族的传统节日之一，它承载着人们对团圆和思念的美好寓意。在这一天，人们会通过各种方式庆祝节日，表达亲情和友情的重要性。因此，“中秋节”这个名称也体现了人们对家庭团聚和美好生活的向往。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  <p:sndAc>
          <p:stSnd>
            <p:snd r:embed="rId5" name="hammer.wav"/>
          </p:stSnd>
        </p:sndAc>
      </p:transition>
    </mc:Choice>
    <mc:Fallback>
      <p:transition spd="slow" advTm="3000">
        <p:wedge/>
        <p:sndAc>
          <p:stSnd>
            <p:snd r:embed="rId5" name="hammer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3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wheel(3)">
                                      <p:cBhvr>
                                        <p:cTn id="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COMMONDATA" val="eyJoZGlkIjoiNzFlMGY3OGRmZGU1YjQ0MmVmN2U4Yjg3M2ZkYWM1ZjIifQ=="/>
  <p:tag name="commondata" val="eyJoZGlkIjoiNjQwNzdkNTI0ZmEyODlhNmVjYjU4ZGU0YTBmMWRhM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631</Words>
  <Application>WPS 演示</Application>
  <PresentationFormat>宽屏</PresentationFormat>
  <Paragraphs>28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楷体</vt:lpstr>
      <vt:lpstr>Bahnschrift</vt:lpstr>
      <vt:lpstr>微软雅黑</vt:lpstr>
      <vt:lpstr>Arial Unicode MS</vt:lpstr>
      <vt:lpstr>Calibri</vt:lpstr>
      <vt:lpstr>WPS</vt:lpstr>
      <vt:lpstr>月圆之夜-中秋节的来源</vt:lpstr>
      <vt:lpstr>中秋节的历史</vt:lpstr>
      <vt:lpstr>与月亮的传说</vt:lpstr>
      <vt:lpstr>为什么叫中秋节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准易技术~张工</cp:lastModifiedBy>
  <cp:revision>161</cp:revision>
  <dcterms:created xsi:type="dcterms:W3CDTF">2019-06-19T02:08:00Z</dcterms:created>
  <dcterms:modified xsi:type="dcterms:W3CDTF">2025-03-10T23:46:23Z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2693EF7EC6384D29853DB7245245DE14_11</vt:lpwstr>
  </property>
</Properties>
</file>