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-90" y="-870"/>
      </p:cViewPr>
      <p:guideLst>
        <p:guide orient="horz" pos="2160"/>
        <p:guide pos="28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99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audio" Target="../media/audio1.wav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2" Type="http://schemas.openxmlformats.org/officeDocument/2006/relationships/audio" Target="../media/audio1.wav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6" Type="http://schemas.openxmlformats.org/officeDocument/2006/relationships/audio" Target="../media/audio1.wav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022181" y="458788"/>
            <a:ext cx="556022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2465785" y="-7938"/>
            <a:ext cx="1092994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3899297" y="5929313"/>
            <a:ext cx="13716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363141" y="113823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616744" y="3236913"/>
            <a:ext cx="161925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6324600" y="6116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8083154" y="2560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545306" y="1936750"/>
            <a:ext cx="702469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068286" y="2510565"/>
            <a:ext cx="5007429" cy="902363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068286" y="3461461"/>
            <a:ext cx="5007429" cy="590550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18" name="push.wav"/>
          </p:stSnd>
        </p:sndAc>
      </p:transition>
    </mc:Choice>
    <mc:Fallback>
      <p:transition spd="slow">
        <p:strips dir="rd"/>
        <p:sndAc>
          <p:stSnd>
            <p:snd r:embed="rId18" name="push.wav"/>
          </p:stSnd>
        </p:sndAc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7" name="push.wav"/>
          </p:stSnd>
        </p:sndAc>
      </p:transition>
    </mc:Choice>
    <mc:Fallback>
      <p:transition spd="slow">
        <p:strips dir="rd"/>
        <p:sndAc>
          <p:stSnd>
            <p:snd r:embed="rId7" name="push.wav"/>
          </p:stSnd>
        </p:sndAc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56085" y="2114550"/>
            <a:ext cx="2010965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181100" y="2266950"/>
            <a:ext cx="1783556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571875" y="3602038"/>
            <a:ext cx="371117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352110" y="3541713"/>
            <a:ext cx="86915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7724775" y="3541713"/>
            <a:ext cx="86916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475935" y="3541713"/>
            <a:ext cx="86915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7600950" y="3541713"/>
            <a:ext cx="86916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078831" y="23082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2252663" y="2360613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2407444" y="2478088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2522339" y="2640806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1852613" y="4416425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1682354" y="43656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1529954" y="424338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417439" y="4079081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3548063" y="2895613"/>
            <a:ext cx="3734753" cy="564898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3548063" y="3753579"/>
            <a:ext cx="3734753" cy="581108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5DB6B-299C-4F61-8596-3ECB41FAC93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22" name="push.wav"/>
          </p:stSnd>
        </p:sndAc>
      </p:transition>
    </mc:Choice>
    <mc:Fallback>
      <p:transition spd="slow">
        <p:strips dir="rd"/>
        <p:sndAc>
          <p:stSnd>
            <p:snd r:embed="rId22" name="push.wav"/>
          </p:stSnd>
        </p:sndAc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CCDF3-5843-4DFC-8A82-7B69C3DF62AE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8" name="push.wav"/>
          </p:stSnd>
        </p:sndAc>
      </p:transition>
    </mc:Choice>
    <mc:Fallback>
      <p:transition spd="slow">
        <p:strips dir="rd"/>
        <p:sndAc>
          <p:stSnd>
            <p:snd r:embed="rId8" name="push.wav"/>
          </p:stSnd>
        </p:sndAc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6B217-24D4-4375-B1ED-761FF951D68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10" name="push.wav"/>
          </p:stSnd>
        </p:sndAc>
      </p:transition>
    </mc:Choice>
    <mc:Fallback>
      <p:transition spd="slow">
        <p:strips dir="rd"/>
        <p:sndAc>
          <p:stSnd>
            <p:snd r:embed="rId10" name="push.wav"/>
          </p:stSnd>
        </p:sndAc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49C00-89D8-4D4A-9FDA-96A9C7BBE615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6" name="push.wav"/>
          </p:stSnd>
        </p:sndAc>
      </p:transition>
    </mc:Choice>
    <mc:Fallback>
      <p:transition spd="slow">
        <p:strips dir="rd"/>
        <p:sndAc>
          <p:stSnd>
            <p:snd r:embed="rId6" name="push.wav"/>
          </p:stSnd>
        </p:sndAc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F7DED-90B2-411F-81E6-44A93979470D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5" name="push.wav"/>
          </p:stSnd>
        </p:sndAc>
      </p:transition>
    </mc:Choice>
    <mc:Fallback>
      <p:transition spd="slow">
        <p:strips dir="rd"/>
        <p:sndAc>
          <p:stSnd>
            <p:snd r:embed="rId5" name="push.wav"/>
          </p:stSnd>
        </p:sndAc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1D30E-F5D0-4919-B3CD-7761D0DF691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8" name="push.wav"/>
          </p:stSnd>
        </p:sndAc>
      </p:transition>
    </mc:Choice>
    <mc:Fallback>
      <p:transition spd="slow">
        <p:strips dir="rd"/>
        <p:sndAc>
          <p:stSnd>
            <p:snd r:embed="rId8" name="push.wav"/>
          </p:stSnd>
        </p:sndAc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28518-8E92-489E-A776-35F24215827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7" name="push.wav"/>
          </p:stSnd>
        </p:sndAc>
      </p:transition>
    </mc:Choice>
    <mc:Fallback>
      <p:transition spd="slow">
        <p:strips dir="rd"/>
        <p:sndAc>
          <p:stSnd>
            <p:snd r:embed="rId7" name="push.wav"/>
          </p:stSnd>
        </p:sndAc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23ED0-9AC0-4F34-ABCA-4B6795D6D0A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6" name="push.wav"/>
          </p:stSnd>
        </p:sndAc>
      </p:transition>
    </mc:Choice>
    <mc:Fallback>
      <p:transition spd="slow">
        <p:strips dir="rd"/>
        <p:sndAc>
          <p:stSnd>
            <p:snd r:embed="rId6" name="push.wav"/>
          </p:stSnd>
        </p:sndAc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110854" y="1231812"/>
            <a:ext cx="1122759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6067425" y="-7938"/>
            <a:ext cx="785813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3444479" y="5781675"/>
            <a:ext cx="1587103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7439025" y="490378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6204950" y="23358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982266" y="4641850"/>
            <a:ext cx="471488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4360069" y="893763"/>
            <a:ext cx="422672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452423" y="2842161"/>
            <a:ext cx="6239154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8921A-3659-40E6-BF05-B007AA185C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16" name="push.wav"/>
          </p:stSnd>
        </p:sndAc>
      </p:transition>
    </mc:Choice>
    <mc:Fallback>
      <p:transition spd="slow">
        <p:strips dir="rd"/>
        <p:sndAc>
          <p:stSnd>
            <p:snd r:embed="rId16" name="push.wav"/>
          </p:stSnd>
        </p:sndAc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18" name="push.wav"/>
          </p:stSnd>
        </p:sndAc>
      </p:transition>
    </mc:Choice>
    <mc:Fallback>
      <p:transition spd="slow">
        <p:strips dir="rd"/>
        <p:sndAc>
          <p:stSnd>
            <p:snd r:embed="rId18" name="push.wav"/>
          </p:stSnd>
        </p:sndAc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slide" Target="slide5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.jpeg"/><Relationship Id="rId1" Type="http://schemas.openxmlformats.org/officeDocument/2006/relationships/tags" Target="../tags/tag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dirty="0" smtClean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中国春节习俗</a:t>
            </a:r>
            <a:endParaRPr lang="zh-CN" altLang="en-US" sz="4800" dirty="0" smtClean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2400" b="1" dirty="0" smtClean="0">
                <a:ea typeface="华文行楷" panose="02010800040101010101" pitchFamily="2" charset="-122"/>
                <a:hlinkClick r:id="rId1" action="ppaction://hlinksldjump"/>
              </a:rPr>
              <a:t>扫尘</a:t>
            </a:r>
            <a:endParaRPr lang="zh-CN" altLang="en-US" sz="2400" b="1" dirty="0" smtClean="0">
              <a:ea typeface="华文行楷" panose="02010800040101010101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anose="02010800040101010101" pitchFamily="2" charset="-122"/>
                <a:hlinkClick r:id="rId2" action="ppaction://hlinksldjump"/>
              </a:rPr>
              <a:t>贴春联</a:t>
            </a:r>
            <a:endParaRPr lang="zh-CN" altLang="en-US" sz="2400" b="1" dirty="0" smtClean="0">
              <a:ea typeface="华文行楷" panose="02010800040101010101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anose="02010800040101010101" pitchFamily="2" charset="-122"/>
                <a:hlinkClick r:id="rId3" action="ppaction://hlinksldjump"/>
              </a:rPr>
              <a:t>守岁</a:t>
            </a:r>
            <a:endParaRPr lang="zh-CN" altLang="en-US" sz="2400" b="1" dirty="0" smtClean="0">
              <a:ea typeface="华文行楷" panose="02010800040101010101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anose="02010800040101010101" pitchFamily="2" charset="-122"/>
                <a:hlinkClick r:id="rId4" action="ppaction://hlinksldjump"/>
              </a:rPr>
              <a:t>拜年</a:t>
            </a:r>
            <a:endParaRPr lang="zh-CN" altLang="en-US" sz="2400" b="1" dirty="0" smtClean="0">
              <a:ea typeface="华文行楷" panose="0201080004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5" name="push.wav"/>
          </p:stSnd>
        </p:sndAc>
      </p:transition>
    </mc:Choice>
    <mc:Fallback>
      <p:transition spd="slow">
        <p:strips dir="rd"/>
        <p:sndAc>
          <p:stSnd>
            <p:snd r:embed="rId5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扫尘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宋体" panose="02010600030101010101" pitchFamily="2" charset="-122"/>
              </a:rPr>
              <a:t>“</a:t>
            </a:r>
            <a:r>
              <a:rPr lang="zh-CN" altLang="en-US" dirty="0" smtClean="0"/>
              <a:t>腊月二十四，掸尘扫房子</a:t>
            </a:r>
            <a:r>
              <a:rPr lang="zh-CN" altLang="en-US" dirty="0" smtClean="0">
                <a:latin typeface="宋体" panose="02010600030101010101" pitchFamily="2" charset="-122"/>
              </a:rPr>
              <a:t>”</a:t>
            </a:r>
            <a:r>
              <a:rPr lang="en-US" altLang="zh-CN" dirty="0" smtClean="0"/>
              <a:t>,</a:t>
            </a:r>
            <a:r>
              <a:rPr lang="zh-CN" altLang="en-US" dirty="0" smtClean="0"/>
              <a:t>每逢春节来临，家家户户都要打扫环境，清洗各种器具，拆洗被褥窗帘，洒扫六闾庭院，掸拂尘垢蛛网，疏浚明渠暗沟。到处洋溢着欢欢喜喜搞卫生、干干净净迎新春的欢乐气氛。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1" name="push.wav"/>
          </p:stSnd>
        </p:sndAc>
      </p:transition>
    </mc:Choice>
    <mc:Fallback>
      <p:transition spd="slow">
        <p:strips dir="rd"/>
        <p:sndAc>
          <p:stSnd>
            <p:snd r:embed="rId1" name="pu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贴春联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春联也叫门对、春贴、对联、对子、桃符等，它以工整、对偶、简洁、精巧的文字描绘时代背景，抒发美好愿望，是我国特有的文学形式。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1" name="push.wav"/>
          </p:stSnd>
        </p:sndAc>
      </p:transition>
    </mc:Choice>
    <mc:Fallback>
      <p:transition spd="slow">
        <p:strips dir="rd"/>
        <p:sndAc>
          <p:stSnd>
            <p:snd r:embed="rId1" name="pu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守岁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古时守岁有两种含义：年长者守岁为</a:t>
            </a:r>
            <a:r>
              <a:rPr lang="zh-CN" altLang="en-US" dirty="0" smtClean="0">
                <a:latin typeface="宋体" panose="02010600030101010101" pitchFamily="2" charset="-122"/>
              </a:rPr>
              <a:t>“</a:t>
            </a:r>
            <a:r>
              <a:rPr lang="zh-CN" altLang="en-US" dirty="0" smtClean="0"/>
              <a:t>辞岁</a:t>
            </a:r>
            <a:r>
              <a:rPr lang="zh-CN" altLang="en-US" dirty="0" smtClean="0">
                <a:latin typeface="宋体" panose="02010600030101010101" pitchFamily="2" charset="-122"/>
              </a:rPr>
              <a:t>”</a:t>
            </a:r>
            <a:r>
              <a:rPr lang="zh-CN" altLang="en-US" dirty="0" smtClean="0"/>
              <a:t>有珍爱光阴的意思；年轻人守岁，是为延长父母寿命。自汉代以来，新旧年交替的时刻一般为夜半时分。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1" name="push.wav"/>
          </p:stSnd>
        </p:sndAc>
      </p:transition>
    </mc:Choice>
    <mc:Fallback>
      <p:transition spd="slow">
        <p:strips dir="rd"/>
        <p:sndAc>
          <p:stSnd>
            <p:snd r:embed="rId1" name="pu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拜年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新年的初一，人们都早早起来，穿上最漂亮的衣服，打扮得整整齐齐，出门去走亲访友，相互拜年，恭祝来年大吉大利。</a:t>
            </a:r>
            <a:endParaRPr lang="zh-CN" altLang="en-US" dirty="0" smtClean="0"/>
          </a:p>
        </p:txBody>
      </p:sp>
      <p:pic>
        <p:nvPicPr>
          <p:cNvPr id="4" name="图片 3" descr="WPS演示030素材文件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39975" y="2060575"/>
            <a:ext cx="4500000" cy="3240000"/>
          </a:xfrm>
          <a:prstGeom prst="rect">
            <a:avLst/>
          </a:prstGeom>
          <a:effectLst>
            <a:softEdge rad="7620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trips dir="rd"/>
        <p:sndAc>
          <p:stSnd>
            <p:snd r:embed="rId3" name="push.wav"/>
          </p:stSnd>
        </p:sndAc>
      </p:transition>
    </mc:Choice>
    <mc:Fallback>
      <p:transition spd="slow">
        <p:strips dir="rd"/>
        <p:sndAc>
          <p:stSnd>
            <p:snd r:embed="rId3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UNIT_PLACING_PICTURE_USER_VIEWPORT" val="{&quot;height&quot;:9590,&quot;width&quot;:14400}"/>
</p:tagLst>
</file>

<file path=ppt/tags/tag99.xml><?xml version="1.0" encoding="utf-8"?>
<p:tagLst xmlns:p="http://schemas.openxmlformats.org/presentationml/2006/main">
  <p:tag name="KSO_WPP_MARK_KEY" val="563fb1a8-109c-4349-8fad-b497018c9be1"/>
  <p:tag name="COMMONDATA" val="eyJoZGlkIjoiM2Q2NDY3ODBmZDEyZTZiNTFiOWYyZGE1YmNkNTA1NzMifQ=="/>
  <p:tag name="commondata" val="eyJoZGlkIjoiMDM4Y2E3YjY4NTU0ZDUyYjZiOTkxNzk1OGIxZmY3MTM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WPS 演示</Application>
  <PresentationFormat>全屏显示(4:3)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黑体</vt:lpstr>
      <vt:lpstr>华文行楷</vt:lpstr>
      <vt:lpstr>Arial Unicode MS</vt:lpstr>
      <vt:lpstr>Calibri</vt:lpstr>
      <vt:lpstr>主题七</vt:lpstr>
      <vt:lpstr>中国春节习俗</vt:lpstr>
      <vt:lpstr>扫尘</vt:lpstr>
      <vt:lpstr>贴春联 </vt:lpstr>
      <vt:lpstr>守岁 </vt:lpstr>
      <vt:lpstr>拜年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中国春节习俗</dc:title>
  <dc:creator>user</dc:creator>
  <cp:lastModifiedBy>Administrator</cp:lastModifiedBy>
  <cp:revision>10</cp:revision>
  <dcterms:created xsi:type="dcterms:W3CDTF">2013-08-30T06:32:00Z</dcterms:created>
  <dcterms:modified xsi:type="dcterms:W3CDTF">2023-11-23T06:20:43Z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82D314555F06412AAFC90D5FC6324A15_12</vt:lpwstr>
  </property>
  <property fmtid="{D5CDD505-2E9C-101B-9397-08002B2CF9AE}" pid="3" name="KSOProductBuildVer">
    <vt:lpwstr>2052-12.1.0.15712</vt:lpwstr>
  </property>
</Properties>
</file>