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缅怀先人，传承文化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缅怀先人，传承文化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缅怀先人，传承文化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缅怀先人，传承文化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7" name="camera.wav"/>
          </p:stSnd>
        </p:sndAc>
      </p:transition>
    </mc:Choice>
    <mc:Fallback>
      <p:transition spd="slow" advClick="0" advTm="2000">
        <p:newsflash/>
        <p:sndAc>
          <p:stSnd>
            <p:snd r:embed="rId7" name="camera.wav"/>
          </p:stSnd>
        </p:sndAc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7" name="camera.wav"/>
          </p:stSnd>
        </p:sndAc>
      </p:transition>
    </mc:Choice>
    <mc:Fallback>
      <p:transition spd="slow" advClick="0" advTm="2000">
        <p:newsflash/>
        <p:sndAc>
          <p:stSnd>
            <p:snd r:embed="rId7" name="camera.wav"/>
          </p:stSnd>
        </p:sndAc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7" name="camera.wav"/>
          </p:stSnd>
        </p:sndAc>
      </p:transition>
    </mc:Choice>
    <mc:Fallback>
      <p:transition spd="slow" advClick="0" advTm="2000">
        <p:newsflash/>
        <p:sndAc>
          <p:stSnd>
            <p:snd r:embed="rId7" name="camera.wav"/>
          </p:stSnd>
        </p:sndAc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8" name="camera.wav"/>
          </p:stSnd>
        </p:sndAc>
      </p:transition>
    </mc:Choice>
    <mc:Fallback>
      <p:transition spd="slow" advClick="0" advTm="2000">
        <p:newsflash/>
        <p:sndAc>
          <p:stSnd>
            <p:snd r:embed="rId8" name="camera.wav"/>
          </p:stSnd>
        </p:sndAc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10" name="camera.wav"/>
          </p:stSnd>
        </p:sndAc>
      </p:transition>
    </mc:Choice>
    <mc:Fallback>
      <p:transition spd="slow" advClick="0" advTm="2000">
        <p:newsflash/>
        <p:sndAc>
          <p:stSnd>
            <p:snd r:embed="rId10" name="camera.wav"/>
          </p:stSnd>
        </p:sndAc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6" name="camera.wav"/>
          </p:stSnd>
        </p:sndAc>
      </p:transition>
    </mc:Choice>
    <mc:Fallback>
      <p:transition spd="slow" advClick="0" advTm="2000">
        <p:newsflash/>
        <p:sndAc>
          <p:stSnd>
            <p:snd r:embed="rId6" name="camera.wav"/>
          </p:stSnd>
        </p:sndAc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5" name="camera.wav"/>
          </p:stSnd>
        </p:sndAc>
      </p:transition>
    </mc:Choice>
    <mc:Fallback>
      <p:transition spd="slow" advClick="0" advTm="2000">
        <p:newsflash/>
        <p:sndAc>
          <p:stSnd>
            <p:snd r:embed="rId5" name="camera.wav"/>
          </p:stSnd>
        </p:sndAc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8" name="camera.wav"/>
          </p:stSnd>
        </p:sndAc>
      </p:transition>
    </mc:Choice>
    <mc:Fallback>
      <p:transition spd="slow" advClick="0" advTm="2000">
        <p:newsflash/>
        <p:sndAc>
          <p:stSnd>
            <p:snd r:embed="rId8" name="camera.wav"/>
          </p:stSnd>
        </p:sndAc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7" name="camera.wav"/>
          </p:stSnd>
        </p:sndAc>
      </p:transition>
    </mc:Choice>
    <mc:Fallback>
      <p:transition spd="slow" advClick="0" advTm="2000">
        <p:newsflash/>
        <p:sndAc>
          <p:stSnd>
            <p:snd r:embed="rId7" name="camera.wav"/>
          </p:stSnd>
        </p:sndAc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6" name="camera.wav"/>
          </p:stSnd>
        </p:sndAc>
      </p:transition>
    </mc:Choice>
    <mc:Fallback>
      <p:transition spd="slow" advClick="0" advTm="2000">
        <p:newsflash/>
        <p:sndAc>
          <p:stSnd>
            <p:snd r:embed="rId6" name="camera.wav"/>
          </p:stSnd>
        </p:sndAc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7" name="camera.wav"/>
          </p:stSnd>
        </p:sndAc>
      </p:transition>
    </mc:Choice>
    <mc:Fallback>
      <p:transition spd="slow" advClick="0" advTm="2000">
        <p:newsflash/>
        <p:sndAc>
          <p:stSnd>
            <p:snd r:embed="rId7" name="camera.wav"/>
          </p:stSnd>
        </p:sndAc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audio" Target="../media/audio1.wav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19" name="camera.wav"/>
          </p:stSnd>
        </p:sndAc>
      </p:transition>
    </mc:Choice>
    <mc:Fallback>
      <p:transition spd="slow" advClick="0" advTm="2000">
        <p:newsflash/>
        <p:sndAc>
          <p:stSnd>
            <p:snd r:embed="rId19" name="camera.wav"/>
          </p:stSnd>
        </p:sndAc>
      </p:transition>
    </mc:Fallback>
  </mc:AlternateConten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tags" Target="../tags/tag68.xml"/><Relationship Id="rId3" Type="http://schemas.openxmlformats.org/officeDocument/2006/relationships/image" Target="../media/image4.png"/><Relationship Id="rId2" Type="http://schemas.openxmlformats.org/officeDocument/2006/relationships/tags" Target="../tags/tag6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9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effectLst/>
        </p:spPr>
        <p:txBody>
          <a:bodyPr/>
          <a:p>
            <a:pPr algn="dist"/>
            <a:r>
              <a:rPr lang="zh-CN" altLang="zh-CN" sz="4800" i="1">
                <a:solidFill>
                  <a:schemeClr val="accent4">
                    <a:lumMod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清明节 - 春和景明，缅怀与新生</a:t>
            </a:r>
            <a:endParaRPr lang="zh-CN" altLang="zh-CN" sz="4800" i="1">
              <a:solidFill>
                <a:schemeClr val="accent4">
                  <a:lumMod val="5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探索中国传统节日文化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4" name="camera.wav"/>
          </p:stSnd>
        </p:sndAc>
      </p:transition>
    </mc:Choice>
    <mc:Fallback>
      <p:transition spd="slow" advClick="0" advTm="2000">
        <p:newsflash/>
        <p:sndAc>
          <p:stSnd>
            <p:snd r:embed="rId4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17465" y="302260"/>
            <a:ext cx="4789170" cy="705485"/>
          </a:xfrm>
        </p:spPr>
        <p:txBody>
          <a:bodyPr/>
          <a:p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清明节的起源和历史</a:t>
            </a: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15" y="638175"/>
            <a:ext cx="3891915" cy="5581650"/>
          </a:xfrm>
          <a:prstGeom prst="snipRoundRect">
            <a:avLst/>
          </a:prstGeom>
          <a:ln w="38100" cap="sq">
            <a:solidFill>
              <a:schemeClr val="accent4">
                <a:lumMod val="75000"/>
              </a:schemeClr>
            </a:solidFill>
            <a:prstDash val="dash"/>
          </a:ln>
        </p:spPr>
      </p:pic>
      <p:sp>
        <p:nvSpPr>
          <p:cNvPr id="5" name="文本框 4"/>
          <p:cNvSpPr txBox="1"/>
          <p:nvPr/>
        </p:nvSpPr>
        <p:spPr>
          <a:xfrm>
            <a:off x="6287135" y="1313815"/>
            <a:ext cx="4592955" cy="5170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solidFill>
                  <a:srgbClr val="00B050"/>
                </a:solidFill>
              </a:rPr>
              <a:t>起源</a:t>
            </a:r>
            <a:endParaRPr lang="zh-CN" altLang="en-US" sz="4000" b="1">
              <a:solidFill>
                <a:srgbClr val="00B050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r>
              <a:rPr lang="zh-CN" altLang="en-US"/>
              <a:t>清明节，又称踏青节、行清节、三月节、祭祖节等，是中华民族古老的节日，也是最重要的祭祀节日之一。其起源可追溯到古代农耕文化和自然崇拜。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00B050"/>
                </a:solidFill>
                <a:sym typeface="+mn-ea"/>
              </a:rPr>
              <a:t>历史发展</a:t>
            </a:r>
            <a:endParaRPr lang="zh-CN" altLang="en-US" sz="4000" b="1">
              <a:solidFill>
                <a:srgbClr val="00B050"/>
              </a:solidFill>
            </a:endParaRPr>
          </a:p>
          <a:p>
            <a:pPr indent="0" fontAlgn="auto">
              <a:lnSpc>
                <a:spcPct val="150000"/>
              </a:lnSpc>
              <a:spcBef>
                <a:spcPts val="1200"/>
              </a:spcBef>
            </a:pPr>
            <a:r>
              <a:rPr lang="zh-CN" altLang="en-US">
                <a:sym typeface="+mn-ea"/>
              </a:rPr>
              <a:t>在古代，清明节与寒食节、上巳节等节日相关联，随着历史的演变，逐渐融合成为一个以祭祖扫墓为主、兼具踏青游玩等习俗的重要节日。</a:t>
            </a:r>
            <a:endParaRPr lang="zh-CN" altLang="en-US"/>
          </a:p>
          <a:p>
            <a:pPr indent="0" fontAlgn="auto">
              <a:lnSpc>
                <a:spcPct val="150000"/>
              </a:lnSpc>
              <a:spcBef>
                <a:spcPts val="1800"/>
              </a:spcBef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4" name="camera.wav"/>
          </p:stSnd>
        </p:sndAc>
      </p:transition>
    </mc:Choice>
    <mc:Fallback>
      <p:transition spd="slow" advClick="0" advTm="2000">
        <p:newsflash/>
        <p:sndAc>
          <p:stSnd>
            <p:snd r:embed="rId4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6682740" cy="705485"/>
          </a:xfrm>
        </p:spPr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与春天和祭祖的关系</a:t>
            </a: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36840" y="1059815"/>
            <a:ext cx="4090670" cy="55124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7385" y="1716405"/>
            <a:ext cx="6819265" cy="4855845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 anchorCtr="0">
            <a:noAutofit/>
          </a:bodyPr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00B050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春天的象征</a:t>
            </a:r>
            <a:endParaRPr lang="zh-CN" altLang="en-US" sz="4000" b="1">
              <a:solidFill>
                <a:srgbClr val="00B050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r>
              <a:rPr lang="zh-CN" altLang="en-US">
                <a:effectLst>
                  <a:reflection blurRad="6350" stA="60000" endA="900" endPos="60000" dist="60007" dir="5400000" sy="-100000" algn="bl" rotWithShape="0"/>
                </a:effectLst>
              </a:rPr>
              <a:t>清明节正值春季，是万物复苏、生机盎然的时节。人们通过踏青、插柳等活动，感受春天的气息，祈求来年的丰收和幸福。</a:t>
            </a:r>
            <a:endParaRPr lang="zh-CN" altLang="en-US"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endParaRPr lang="zh-CN" altLang="en-US"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00B050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祭祖的传统</a:t>
            </a:r>
            <a:endParaRPr lang="zh-CN" altLang="en-US" sz="4000" b="1">
              <a:solidFill>
                <a:srgbClr val="00B050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  <a:buClrTx/>
              <a:buSzTx/>
              <a:buFontTx/>
            </a:pPr>
            <a:r>
              <a:rPr lang="zh-CN" altLang="en-US">
                <a:effectLst>
                  <a:reflection blurRad="6350" stA="60000" endA="900" endPos="60000" dist="60007" dir="5400000" sy="-100000" algn="bl" rotWithShape="0"/>
                </a:effectLst>
              </a:rPr>
              <a:t>清明节是祭祖扫墓的重要日子。人们前往祖先墓地，献上供品、焚烧纸钱，表达对先人的怀念和敬仰之情。这一传统凝聚了中华民族顽强生存和追求幸福的重要动力。</a:t>
            </a:r>
            <a:endParaRPr lang="zh-CN" altLang="en-US"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endParaRPr lang="zh-CN" altLang="en-US">
              <a:effectLst>
                <a:reflection blurRad="6350" stA="60000" endA="900" endPos="60000" dist="60007" dir="5400000" sy="-100000" algn="bl" rotWithShape="0"/>
              </a:effectLst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5" name="camera.wav"/>
          </p:stSnd>
        </p:sndAc>
      </p:transition>
    </mc:Choice>
    <mc:Fallback>
      <p:transition spd="slow" advClick="0" advTm="2000">
        <p:newsflash/>
        <p:sndAc>
          <p:stSnd>
            <p:snd r:embed="rId5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5" presetClass="emph" presetSubtype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" dur="3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2" dur="3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3" dur="3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5" presetClass="emph" presetSubtype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" dur="3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7" dur="3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8" dur="3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5" presetClass="emph" presetSubtype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1" dur="3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2" dur="3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3" dur="3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chemeClr val="accent4">
                    <a:lumMod val="50000"/>
                  </a:schemeClr>
                </a:solidFill>
              </a:rPr>
              <a:t>清明节的重要意义</a:t>
            </a:r>
            <a:endParaRPr lang="zh-CN" altLang="en-US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9300" y="1660525"/>
            <a:ext cx="10828020" cy="4843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52095" indent="457200" algn="ctr" fontAlgn="auto">
              <a:lnSpc>
                <a:spcPct val="250000"/>
              </a:lnSpc>
              <a:spcAft>
                <a:spcPts val="600"/>
              </a:spcAft>
              <a:extLst>
                <a:ext uri="{35155182-B16C-46BC-9424-99874614C6A1}">
                  <wpsdc:indentchars xmlns:wpsdc="http://www.wps.cn/officeDocument/2017/drawingmlCustomData" val="180" checksum="255773816"/>
                </a:ext>
              </a:extLst>
            </a:pPr>
            <a:r>
              <a:rPr lang="zh-CN" altLang="en-US" sz="200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仿宋" panose="02010609060101010101" charset="-122"/>
                <a:ea typeface="仿宋" panose="02010609060101010101" charset="-122"/>
              </a:rPr>
              <a:t>清明节是中国重要的传统节日，它不仅是对先人的缅怀和对生命的尊重，也是传承孝道、家族团聚和文化认同的重要时刻。这个节日让人们在春天的复苏中亲近自然，体验人与自然的和谐，同时通过祭扫活动回顾历史，增强民族认同感。清明节还促进了社会和谐，提供了心理慰藉，并随着时代发展，逐渐融入环保意识，倡导绿色祭扫，体现了对可持续发展的重视。简而言之，清明节是中国文化中一个多维度、富有深意的节日，它连接过去与现在，自然与人文，个体与社会，是中华民族精神文化的重要组成部分。</a:t>
            </a:r>
            <a:endParaRPr lang="zh-CN" altLang="en-US" sz="2000">
              <a:solidFill>
                <a:schemeClr val="accent4">
                  <a:lumMod val="60000"/>
                  <a:lumOff val="40000"/>
                </a:schemeClr>
              </a:solidFill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泪滴形 2"/>
          <p:cNvSpPr/>
          <p:nvPr/>
        </p:nvSpPr>
        <p:spPr>
          <a:xfrm>
            <a:off x="10440000" y="540000"/>
            <a:ext cx="914400" cy="914400"/>
          </a:xfrm>
          <a:prstGeom prst="teardrop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2024-10-10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2000">
        <p:newsflash/>
        <p:sndAc>
          <p:stSnd>
            <p:snd r:embed="rId3" name="camera.wav"/>
          </p:stSnd>
        </p:sndAc>
      </p:transition>
    </mc:Choice>
    <mc:Fallback>
      <p:transition spd="slow" advClick="0" advTm="2000">
        <p:newsflash/>
        <p:sndAc>
          <p:stSnd>
            <p:snd r:embed="rId3" name="camera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ID" val="custom20205081_1*b*1"/>
  <p:tag name="KSO_WM_TEMPLATE_CATEGORY" val="custom"/>
  <p:tag name="KSO_WM_TEMPLATE_INDEX" val="20205081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WPS 演示</Application>
  <PresentationFormat>宽屏</PresentationFormat>
  <Paragraphs>38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仿宋</vt:lpstr>
      <vt:lpstr>微软雅黑</vt:lpstr>
      <vt:lpstr>Arial Unicode MS</vt:lpstr>
      <vt:lpstr>Calibri</vt:lpstr>
      <vt:lpstr>WPS</vt:lpstr>
      <vt:lpstr>清明节 - 春和景明，缅怀与新生</vt:lpstr>
      <vt:lpstr>清明节的起源和历史</vt:lpstr>
      <vt:lpstr>与春天和祭祖的关系</vt:lpstr>
      <vt:lpstr>清明节的重要意义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160</cp:revision>
  <dcterms:created xsi:type="dcterms:W3CDTF">2019-06-19T02:08:00Z</dcterms:created>
  <dcterms:modified xsi:type="dcterms:W3CDTF">2024-11-13T06:49:23Z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D82FC278D30E4488A145C1519FB564A8_11</vt:lpwstr>
  </property>
</Properties>
</file>