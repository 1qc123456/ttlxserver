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7" autoAdjust="0"/>
    <p:restoredTop sz="94702" autoAdjust="0"/>
  </p:normalViewPr>
  <p:slideViewPr>
    <p:cSldViewPr>
      <p:cViewPr varScale="1">
        <p:scale>
          <a:sx n="101" d="100"/>
          <a:sy n="101" d="100"/>
        </p:scale>
        <p:origin x="-26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1026"/>
          <p:cNvGrpSpPr>
            <a:grpSpLocks/>
          </p:cNvGrpSpPr>
          <p:nvPr/>
        </p:nvGrpSpPr>
        <p:grpSpPr bwMode="auto">
          <a:xfrm>
            <a:off x="-1035050" y="1552575"/>
            <a:ext cx="10179050" cy="5305425"/>
            <a:chOff x="-652" y="978"/>
            <a:chExt cx="6412" cy="3342"/>
          </a:xfrm>
        </p:grpSpPr>
        <p:sp>
          <p:nvSpPr>
            <p:cNvPr id="4099" name="Freeform 1027"/>
            <p:cNvSpPr>
              <a:spLocks/>
            </p:cNvSpPr>
            <p:nvPr/>
          </p:nvSpPr>
          <p:spPr bwMode="auto">
            <a:xfrm>
              <a:off x="2061" y="1707"/>
              <a:ext cx="3699" cy="2613"/>
            </a:xfrm>
            <a:custGeom>
              <a:avLst/>
              <a:gdLst>
                <a:gd name="T0" fmla="*/ 1523 w 3699"/>
                <a:gd name="T1" fmla="*/ 2611 h 2613"/>
                <a:gd name="T2" fmla="*/ 3698 w 3699"/>
                <a:gd name="T3" fmla="*/ 2612 h 2613"/>
                <a:gd name="T4" fmla="*/ 3698 w 3699"/>
                <a:gd name="T5" fmla="*/ 2228 h 2613"/>
                <a:gd name="T6" fmla="*/ 0 w 3699"/>
                <a:gd name="T7" fmla="*/ 0 h 2613"/>
                <a:gd name="T8" fmla="*/ 160 w 3699"/>
                <a:gd name="T9" fmla="*/ 118 h 2613"/>
                <a:gd name="T10" fmla="*/ 292 w 3699"/>
                <a:gd name="T11" fmla="*/ 219 h 2613"/>
                <a:gd name="T12" fmla="*/ 441 w 3699"/>
                <a:gd name="T13" fmla="*/ 347 h 2613"/>
                <a:gd name="T14" fmla="*/ 585 w 3699"/>
                <a:gd name="T15" fmla="*/ 482 h 2613"/>
                <a:gd name="T16" fmla="*/ 796 w 3699"/>
                <a:gd name="T17" fmla="*/ 711 h 2613"/>
                <a:gd name="T18" fmla="*/ 983 w 3699"/>
                <a:gd name="T19" fmla="*/ 955 h 2613"/>
                <a:gd name="T20" fmla="*/ 1119 w 3699"/>
                <a:gd name="T21" fmla="*/ 1168 h 2613"/>
                <a:gd name="T22" fmla="*/ 1238 w 3699"/>
                <a:gd name="T23" fmla="*/ 1388 h 2613"/>
                <a:gd name="T24" fmla="*/ 1331 w 3699"/>
                <a:gd name="T25" fmla="*/ 1608 h 2613"/>
                <a:gd name="T26" fmla="*/ 1400 w 3699"/>
                <a:gd name="T27" fmla="*/ 1809 h 2613"/>
                <a:gd name="T28" fmla="*/ 1447 w 3699"/>
                <a:gd name="T29" fmla="*/ 1979 h 2613"/>
                <a:gd name="T30" fmla="*/ 1490 w 3699"/>
                <a:gd name="T31" fmla="*/ 2190 h 2613"/>
                <a:gd name="T32" fmla="*/ 1511 w 3699"/>
                <a:gd name="T33" fmla="*/ 2374 h 2613"/>
                <a:gd name="T34" fmla="*/ 1523 w 3699"/>
                <a:gd name="T35" fmla="*/ 2611 h 2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" name="Arc 1028"/>
            <p:cNvSpPr>
              <a:spLocks/>
            </p:cNvSpPr>
            <p:nvPr/>
          </p:nvSpPr>
          <p:spPr bwMode="auto">
            <a:xfrm>
              <a:off x="-652" y="978"/>
              <a:ext cx="4237" cy="3342"/>
            </a:xfrm>
            <a:custGeom>
              <a:avLst/>
              <a:gdLst>
                <a:gd name="G0" fmla="+- 0 0 0"/>
                <a:gd name="G1" fmla="+- 21231 0 0"/>
                <a:gd name="G2" fmla="+- 21600 0 0"/>
                <a:gd name="T0" fmla="*/ 3977 w 21600"/>
                <a:gd name="T1" fmla="*/ 0 h 21231"/>
                <a:gd name="T2" fmla="*/ 21600 w 21600"/>
                <a:gd name="T3" fmla="*/ 21231 h 21231"/>
                <a:gd name="T4" fmla="*/ 0 w 21600"/>
                <a:gd name="T5" fmla="*/ 21231 h 21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231" fill="none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</a:path>
                <a:path w="21600" h="21231" stroke="0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  <a:lnTo>
                    <a:pt x="0" y="21231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101" name="Rectangle 1029"/>
          <p:cNvSpPr>
            <a:spLocks noGrp="1" noChangeArrowheads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4102" name="Rectangle 103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</p:spPr>
        <p:txBody>
          <a:bodyPr lIns="92075" tIns="46038" rIns="92075" bIns="46038"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4103" name="Rectangle 1031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104" name="Rectangle 1032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105" name="Rectangle 1033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436524C8-84B0-4E10-B16C-878B1DF592C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5C348E-8D30-4D11-9747-23F1EBFF28C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6551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D3BF92-A5A9-479D-8D08-1FA68588314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0286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817681-E15F-4FD5-9CDE-DA416F59D21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7250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CD3B0B-F23A-4A94-BD2D-0CEEDFECC8C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9770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975756-62B8-4ECB-A204-3C69BBE366F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1714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9A94EC-1617-445C-BD94-7C063F7ABB4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7857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6DA5E2-2C8B-4615-B87F-F03D6DBE085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5179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FEBBC2-4846-4A2C-8409-44C36947B87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3009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82B8F1-AEB2-4D1E-8B32-4CF9963B4F7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4099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472AC0-29A8-4A0A-9633-27AEE3958B7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4187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0" y="1588"/>
            <a:ext cx="9132888" cy="6845300"/>
            <a:chOff x="0" y="1"/>
            <a:chExt cx="5753" cy="4312"/>
          </a:xfrm>
        </p:grpSpPr>
        <p:sp>
          <p:nvSpPr>
            <p:cNvPr id="3075" name="Freeform 3"/>
            <p:cNvSpPr>
              <a:spLocks/>
            </p:cNvSpPr>
            <p:nvPr/>
          </p:nvSpPr>
          <p:spPr bwMode="auto">
            <a:xfrm>
              <a:off x="3394" y="999"/>
              <a:ext cx="2359" cy="3314"/>
            </a:xfrm>
            <a:custGeom>
              <a:avLst/>
              <a:gdLst>
                <a:gd name="T0" fmla="*/ 1905 w 2359"/>
                <a:gd name="T1" fmla="*/ 3312 h 3314"/>
                <a:gd name="T2" fmla="*/ 2358 w 2359"/>
                <a:gd name="T3" fmla="*/ 3313 h 3314"/>
                <a:gd name="T4" fmla="*/ 2358 w 2359"/>
                <a:gd name="T5" fmla="*/ 1437 h 3314"/>
                <a:gd name="T6" fmla="*/ 0 w 2359"/>
                <a:gd name="T7" fmla="*/ 0 h 3314"/>
                <a:gd name="T8" fmla="*/ 201 w 2359"/>
                <a:gd name="T9" fmla="*/ 150 h 3314"/>
                <a:gd name="T10" fmla="*/ 366 w 2359"/>
                <a:gd name="T11" fmla="*/ 279 h 3314"/>
                <a:gd name="T12" fmla="*/ 552 w 2359"/>
                <a:gd name="T13" fmla="*/ 441 h 3314"/>
                <a:gd name="T14" fmla="*/ 732 w 2359"/>
                <a:gd name="T15" fmla="*/ 612 h 3314"/>
                <a:gd name="T16" fmla="*/ 996 w 2359"/>
                <a:gd name="T17" fmla="*/ 903 h 3314"/>
                <a:gd name="T18" fmla="*/ 1230 w 2359"/>
                <a:gd name="T19" fmla="*/ 1212 h 3314"/>
                <a:gd name="T20" fmla="*/ 1400 w 2359"/>
                <a:gd name="T21" fmla="*/ 1482 h 3314"/>
                <a:gd name="T22" fmla="*/ 1548 w 2359"/>
                <a:gd name="T23" fmla="*/ 1761 h 3314"/>
                <a:gd name="T24" fmla="*/ 1665 w 2359"/>
                <a:gd name="T25" fmla="*/ 2040 h 3314"/>
                <a:gd name="T26" fmla="*/ 1751 w 2359"/>
                <a:gd name="T27" fmla="*/ 2295 h 3314"/>
                <a:gd name="T28" fmla="*/ 1809 w 2359"/>
                <a:gd name="T29" fmla="*/ 2511 h 3314"/>
                <a:gd name="T30" fmla="*/ 1863 w 2359"/>
                <a:gd name="T31" fmla="*/ 2778 h 3314"/>
                <a:gd name="T32" fmla="*/ 1890 w 2359"/>
                <a:gd name="T33" fmla="*/ 3012 h 3314"/>
                <a:gd name="T34" fmla="*/ 1905 w 2359"/>
                <a:gd name="T35" fmla="*/ 3312 h 3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" name="Arc 4"/>
            <p:cNvSpPr>
              <a:spLocks/>
            </p:cNvSpPr>
            <p:nvPr/>
          </p:nvSpPr>
          <p:spPr bwMode="auto">
            <a:xfrm>
              <a:off x="0" y="1"/>
              <a:ext cx="5298" cy="431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07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kumimoji="0" sz="1400"/>
            </a:lvl1pPr>
          </a:lstStyle>
          <a:p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kumimoji="0" sz="1400"/>
            </a:lvl1pPr>
          </a:lstStyle>
          <a:p>
            <a:endParaRPr lang="en-US" altLang="zh-CN"/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fld id="{38F92092-A869-44FC-91A5-E2233B3978E3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l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l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1905000"/>
            <a:ext cx="7772400" cy="1143000"/>
          </a:xfrm>
        </p:spPr>
        <p:txBody>
          <a:bodyPr/>
          <a:lstStyle/>
          <a:p>
            <a:r>
              <a:rPr lang="en-US" altLang="zh-CN" sz="6000">
                <a:latin typeface="楷体_GB2312" pitchFamily="49" charset="-122"/>
                <a:ea typeface="楷体_GB2312" pitchFamily="49" charset="-122"/>
              </a:rPr>
              <a:t>20</a:t>
            </a:r>
            <a:r>
              <a:rPr lang="zh-CN" altLang="en-US" sz="6000">
                <a:latin typeface="楷体_GB2312" pitchFamily="49" charset="-122"/>
                <a:ea typeface="楷体_GB2312" pitchFamily="49" charset="-122"/>
              </a:rPr>
              <a:t>世纪科学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0" y="3733800"/>
            <a:ext cx="6400800" cy="2057400"/>
          </a:xfrm>
        </p:spPr>
        <p:txBody>
          <a:bodyPr/>
          <a:lstStyle/>
          <a:p>
            <a:r>
              <a:rPr lang="zh-CN" altLang="en-US" sz="4400">
                <a:ea typeface="楷体_GB2312" pitchFamily="49" charset="-122"/>
              </a:rPr>
              <a:t>超级能量的开发</a:t>
            </a:r>
          </a:p>
          <a:p>
            <a:r>
              <a:rPr lang="zh-CN" altLang="en-US" sz="4400">
                <a:ea typeface="楷体_GB2312" pitchFamily="49" charset="-122"/>
              </a:rPr>
              <a:t>生活世界的重塑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>
                <a:ea typeface="楷体_GB2312" pitchFamily="49" charset="-122"/>
              </a:rPr>
              <a:t>20</a:t>
            </a:r>
            <a:r>
              <a:rPr lang="zh-CN" altLang="en-US" sz="4000">
                <a:ea typeface="楷体_GB2312" pitchFamily="49" charset="-122"/>
              </a:rPr>
              <a:t>世纪</a:t>
            </a:r>
            <a:r>
              <a:rPr lang="en-US" altLang="zh-CN" sz="4000">
                <a:ea typeface="楷体_GB2312" pitchFamily="49" charset="-122"/>
              </a:rPr>
              <a:t>100</a:t>
            </a:r>
            <a:r>
              <a:rPr lang="zh-CN" altLang="en-US" sz="4000">
                <a:ea typeface="楷体_GB2312" pitchFamily="49" charset="-122"/>
              </a:rPr>
              <a:t>项新闻的科技部分（</a:t>
            </a:r>
            <a:r>
              <a:rPr lang="en-US" altLang="zh-CN" sz="4000">
                <a:ea typeface="楷体_GB2312" pitchFamily="49" charset="-122"/>
              </a:rPr>
              <a:t>38</a:t>
            </a:r>
            <a:r>
              <a:rPr lang="zh-CN" altLang="en-US" sz="4000">
                <a:ea typeface="楷体_GB2312" pitchFamily="49" charset="-122"/>
              </a:rPr>
              <a:t>）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76400"/>
            <a:ext cx="8763000" cy="4953000"/>
          </a:xfrm>
        </p:spPr>
        <p:txBody>
          <a:bodyPr/>
          <a:lstStyle/>
          <a:p>
            <a:r>
              <a:rPr lang="zh-CN" altLang="en-US" sz="2800">
                <a:ea typeface="楷体_GB2312" pitchFamily="49" charset="-122"/>
              </a:rPr>
              <a:t>纯理论</a:t>
            </a:r>
            <a:r>
              <a:rPr lang="en-US" altLang="zh-CN" sz="2800">
                <a:ea typeface="楷体_GB2312" pitchFamily="49" charset="-122"/>
              </a:rPr>
              <a:t>5</a:t>
            </a:r>
            <a:r>
              <a:rPr lang="zh-CN" altLang="en-US" sz="2800">
                <a:ea typeface="楷体_GB2312" pitchFamily="49" charset="-122"/>
              </a:rPr>
              <a:t>项（</a:t>
            </a:r>
            <a:r>
              <a:rPr lang="en-US" altLang="zh-CN" sz="2800">
                <a:ea typeface="楷体_GB2312" pitchFamily="49" charset="-122"/>
              </a:rPr>
              <a:t>DNA</a:t>
            </a:r>
            <a:r>
              <a:rPr lang="zh-CN" altLang="en-US" sz="2800">
                <a:ea typeface="楷体_GB2312" pitchFamily="49" charset="-122"/>
              </a:rPr>
              <a:t>、相对论、量子论、弗洛伊德、进化论）</a:t>
            </a:r>
          </a:p>
          <a:p>
            <a:r>
              <a:rPr lang="zh-CN" altLang="en-US" sz="2800">
                <a:ea typeface="楷体_GB2312" pitchFamily="49" charset="-122"/>
              </a:rPr>
              <a:t>核能利用</a:t>
            </a:r>
            <a:r>
              <a:rPr lang="en-US" altLang="zh-CN" sz="2800">
                <a:ea typeface="楷体_GB2312" pitchFamily="49" charset="-122"/>
              </a:rPr>
              <a:t>4</a:t>
            </a:r>
            <a:r>
              <a:rPr lang="zh-CN" altLang="en-US" sz="2800">
                <a:ea typeface="楷体_GB2312" pitchFamily="49" charset="-122"/>
              </a:rPr>
              <a:t>项（投弹、试爆、研制、核电站事故）</a:t>
            </a:r>
          </a:p>
          <a:p>
            <a:r>
              <a:rPr lang="zh-CN" altLang="en-US" sz="2800">
                <a:ea typeface="楷体_GB2312" pitchFamily="49" charset="-122"/>
              </a:rPr>
              <a:t>航空</a:t>
            </a:r>
            <a:r>
              <a:rPr lang="en-US" altLang="zh-CN" sz="2800">
                <a:ea typeface="楷体_GB2312" pitchFamily="49" charset="-122"/>
              </a:rPr>
              <a:t>3</a:t>
            </a:r>
            <a:r>
              <a:rPr lang="zh-CN" altLang="en-US" sz="2800">
                <a:ea typeface="楷体_GB2312" pitchFamily="49" charset="-122"/>
              </a:rPr>
              <a:t>项（莱特兄弟、林白、喷气式）</a:t>
            </a:r>
          </a:p>
          <a:p>
            <a:r>
              <a:rPr lang="zh-CN" altLang="en-US" sz="2800">
                <a:ea typeface="楷体_GB2312" pitchFamily="49" charset="-122"/>
              </a:rPr>
              <a:t>航天</a:t>
            </a:r>
            <a:r>
              <a:rPr lang="en-US" altLang="zh-CN" sz="2800">
                <a:ea typeface="楷体_GB2312" pitchFamily="49" charset="-122"/>
              </a:rPr>
              <a:t>7</a:t>
            </a:r>
            <a:r>
              <a:rPr lang="zh-CN" altLang="en-US" sz="2800">
                <a:ea typeface="楷体_GB2312" pitchFamily="49" charset="-122"/>
              </a:rPr>
              <a:t>项（登月、卫星、加加林、谢帕德、挑战者号、格伦、火星探索者）</a:t>
            </a:r>
          </a:p>
          <a:p>
            <a:r>
              <a:rPr lang="zh-CN" altLang="en-US" sz="2800">
                <a:ea typeface="楷体_GB2312" pitchFamily="49" charset="-122"/>
              </a:rPr>
              <a:t>生物医药</a:t>
            </a:r>
            <a:r>
              <a:rPr lang="en-US" altLang="zh-CN" sz="2800">
                <a:ea typeface="楷体_GB2312" pitchFamily="49" charset="-122"/>
              </a:rPr>
              <a:t>6</a:t>
            </a:r>
            <a:r>
              <a:rPr lang="zh-CN" altLang="en-US" sz="2800">
                <a:ea typeface="楷体_GB2312" pitchFamily="49" charset="-122"/>
              </a:rPr>
              <a:t>项（盘尼西林、避孕丸、脊髓灰质炎疫苗、艾滋病、克隆羊、试管婴儿）</a:t>
            </a:r>
          </a:p>
          <a:p>
            <a:r>
              <a:rPr lang="zh-CN" altLang="en-US" sz="2800">
                <a:ea typeface="楷体_GB2312" pitchFamily="49" charset="-122"/>
              </a:rPr>
              <a:t>通讯传媒</a:t>
            </a:r>
            <a:r>
              <a:rPr lang="en-US" altLang="zh-CN" sz="2800">
                <a:ea typeface="楷体_GB2312" pitchFamily="49" charset="-122"/>
              </a:rPr>
              <a:t>10</a:t>
            </a:r>
            <a:r>
              <a:rPr lang="zh-CN" altLang="en-US" sz="2800">
                <a:ea typeface="楷体_GB2312" pitchFamily="49" charset="-122"/>
              </a:rPr>
              <a:t>项（电视机、个人电脑、</a:t>
            </a:r>
            <a:r>
              <a:rPr lang="en-US" altLang="zh-CN" sz="2800">
                <a:ea typeface="楷体_GB2312" pitchFamily="49" charset="-122"/>
              </a:rPr>
              <a:t>WWW</a:t>
            </a:r>
            <a:r>
              <a:rPr lang="zh-CN" altLang="en-US" sz="2800">
                <a:ea typeface="楷体_GB2312" pitchFamily="49" charset="-122"/>
              </a:rPr>
              <a:t>、晶体管、电台节目、</a:t>
            </a:r>
            <a:r>
              <a:rPr lang="en-US" altLang="zh-CN" sz="2800">
                <a:ea typeface="楷体_GB2312" pitchFamily="49" charset="-122"/>
              </a:rPr>
              <a:t>ENIAC</a:t>
            </a:r>
            <a:r>
              <a:rPr lang="zh-CN" altLang="en-US" sz="2800">
                <a:ea typeface="楷体_GB2312" pitchFamily="49" charset="-122"/>
              </a:rPr>
              <a:t>、电视、晶片、马可尼、微软）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楷体_GB2312" pitchFamily="49" charset="-122"/>
              </a:rPr>
              <a:t>原子能的开发（</a:t>
            </a:r>
            <a:r>
              <a:rPr lang="en-US" altLang="zh-CN">
                <a:ea typeface="楷体_GB2312" pitchFamily="49" charset="-122"/>
              </a:rPr>
              <a:t>1</a:t>
            </a:r>
            <a:r>
              <a:rPr lang="zh-CN" altLang="en-US">
                <a:ea typeface="楷体_GB2312" pitchFamily="49" charset="-122"/>
              </a:rPr>
              <a:t>）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>
                <a:ea typeface="楷体_GB2312" pitchFamily="49" charset="-122"/>
              </a:rPr>
              <a:t>1919</a:t>
            </a:r>
            <a:r>
              <a:rPr lang="zh-CN" altLang="en-US">
                <a:ea typeface="楷体_GB2312" pitchFamily="49" charset="-122"/>
              </a:rPr>
              <a:t>年，英国卢瑟福用</a:t>
            </a:r>
            <a:r>
              <a:rPr lang="en-US" altLang="zh-CN">
                <a:cs typeface="Times New Roman" pitchFamily="18" charset="0"/>
              </a:rPr>
              <a:t>α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粒子轰击氮原子核，使其嬗变成氧原子。</a:t>
            </a:r>
          </a:p>
          <a:p>
            <a:pPr>
              <a:lnSpc>
                <a:spcPct val="90000"/>
              </a:lnSpc>
            </a:pPr>
            <a:r>
              <a:rPr lang="en-US" altLang="zh-CN">
                <a:latin typeface="楷体_GB2312" pitchFamily="49" charset="-122"/>
                <a:ea typeface="楷体_GB2312" pitchFamily="49" charset="-122"/>
              </a:rPr>
              <a:t>1932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年，查得威克发现中子</a:t>
            </a:r>
          </a:p>
          <a:p>
            <a:pPr>
              <a:lnSpc>
                <a:spcPct val="90000"/>
              </a:lnSpc>
            </a:pPr>
            <a:r>
              <a:rPr lang="en-US" altLang="zh-CN">
                <a:latin typeface="楷体_GB2312" pitchFamily="49" charset="-122"/>
                <a:ea typeface="楷体_GB2312" pitchFamily="49" charset="-122"/>
              </a:rPr>
              <a:t>1934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年，法国约里奥－居里夫妇用</a:t>
            </a:r>
            <a:r>
              <a:rPr lang="en-US" altLang="zh-CN">
                <a:cs typeface="Times New Roman" pitchFamily="18" charset="0"/>
              </a:rPr>
              <a:t>α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粒子轰击铝，产生了一个磷的同位素，但很快放出正电子蜕变为硅。</a:t>
            </a:r>
          </a:p>
          <a:p>
            <a:pPr>
              <a:lnSpc>
                <a:spcPct val="90000"/>
              </a:lnSpc>
            </a:pPr>
            <a:r>
              <a:rPr lang="en-US" altLang="zh-CN">
                <a:latin typeface="楷体_GB2312" pitchFamily="49" charset="-122"/>
                <a:ea typeface="楷体_GB2312" pitchFamily="49" charset="-122"/>
              </a:rPr>
              <a:t>1933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年，卢瑟福和爱因斯坦均没有意识到原子能的实际利用近在眼前。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楷体_GB2312" pitchFamily="49" charset="-122"/>
              </a:rPr>
              <a:t>原子能的开发（</a:t>
            </a:r>
            <a:r>
              <a:rPr lang="en-US" altLang="zh-CN">
                <a:ea typeface="楷体_GB2312" pitchFamily="49" charset="-122"/>
              </a:rPr>
              <a:t>2</a:t>
            </a:r>
            <a:r>
              <a:rPr lang="zh-CN" altLang="en-US">
                <a:ea typeface="楷体_GB2312" pitchFamily="49" charset="-122"/>
              </a:rPr>
              <a:t>）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>
                <a:ea typeface="楷体_GB2312" pitchFamily="49" charset="-122"/>
              </a:rPr>
              <a:t>1934</a:t>
            </a:r>
            <a:r>
              <a:rPr lang="zh-CN" altLang="en-US" sz="2800">
                <a:ea typeface="楷体_GB2312" pitchFamily="49" charset="-122"/>
              </a:rPr>
              <a:t>年，意大利物理学家费米用中子轰击原子核，并发现通过石蜡减速之后的慢中子，裂核能力更强。费米因此获</a:t>
            </a:r>
            <a:r>
              <a:rPr lang="en-US" altLang="zh-CN" sz="2800">
                <a:ea typeface="楷体_GB2312" pitchFamily="49" charset="-122"/>
              </a:rPr>
              <a:t>38</a:t>
            </a:r>
            <a:r>
              <a:rPr lang="zh-CN" altLang="en-US" sz="2800">
                <a:ea typeface="楷体_GB2312" pitchFamily="49" charset="-122"/>
              </a:rPr>
              <a:t>年物理奖。</a:t>
            </a:r>
          </a:p>
          <a:p>
            <a:r>
              <a:rPr lang="en-US" altLang="zh-CN" sz="2800">
                <a:ea typeface="楷体_GB2312" pitchFamily="49" charset="-122"/>
              </a:rPr>
              <a:t>1938</a:t>
            </a:r>
            <a:r>
              <a:rPr lang="zh-CN" altLang="en-US" sz="2800">
                <a:ea typeface="楷体_GB2312" pitchFamily="49" charset="-122"/>
              </a:rPr>
              <a:t>年，德国哈恩发现铀嬗变后出现的新元素与铀相距甚远。奥地利女物理学家迈特纳提出核裂变猜想，以解释铀实验。并称裂变过程要放出大量能量。</a:t>
            </a:r>
          </a:p>
          <a:p>
            <a:r>
              <a:rPr lang="zh-CN" altLang="en-US" sz="2800">
                <a:ea typeface="楷体_GB2312" pitchFamily="49" charset="-122"/>
              </a:rPr>
              <a:t>费米提出链式反应概念。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楷体_GB2312" pitchFamily="49" charset="-122"/>
              </a:rPr>
              <a:t>原子能的开发（</a:t>
            </a:r>
            <a:r>
              <a:rPr lang="en-US" altLang="zh-CN">
                <a:ea typeface="楷体_GB2312" pitchFamily="49" charset="-122"/>
              </a:rPr>
              <a:t>3</a:t>
            </a:r>
            <a:r>
              <a:rPr lang="zh-CN" altLang="en-US">
                <a:ea typeface="楷体_GB2312" pitchFamily="49" charset="-122"/>
              </a:rPr>
              <a:t>）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1933</a:t>
            </a:r>
            <a:r>
              <a:rPr lang="zh-CN" altLang="en-US" sz="2800">
                <a:ea typeface="楷体_GB2312" pitchFamily="49" charset="-122"/>
              </a:rPr>
              <a:t>年，爱因斯坦移居美国</a:t>
            </a:r>
          </a:p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1938</a:t>
            </a:r>
            <a:r>
              <a:rPr lang="zh-CN" altLang="en-US" sz="2800">
                <a:ea typeface="楷体_GB2312" pitchFamily="49" charset="-122"/>
              </a:rPr>
              <a:t>年，费米逃往美国</a:t>
            </a:r>
          </a:p>
          <a:p>
            <a:pPr>
              <a:lnSpc>
                <a:spcPct val="90000"/>
              </a:lnSpc>
            </a:pPr>
            <a:r>
              <a:rPr lang="zh-CN" altLang="en-US" sz="2800">
                <a:ea typeface="楷体_GB2312" pitchFamily="49" charset="-122"/>
              </a:rPr>
              <a:t>德国尚有普朗克、玻恩、海森堡、魏扎克、劳厄、哈恩、盖革</a:t>
            </a:r>
          </a:p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1933</a:t>
            </a:r>
            <a:r>
              <a:rPr lang="zh-CN" altLang="en-US" sz="2800">
                <a:ea typeface="楷体_GB2312" pitchFamily="49" charset="-122"/>
              </a:rPr>
              <a:t>年，匈牙利物理学家齐拉德（</a:t>
            </a:r>
            <a:r>
              <a:rPr lang="en-US" altLang="zh-CN" sz="2800">
                <a:ea typeface="楷体_GB2312" pitchFamily="49" charset="-122"/>
              </a:rPr>
              <a:t>1898</a:t>
            </a:r>
            <a:r>
              <a:rPr lang="zh-CN" altLang="en-US" sz="2800">
                <a:ea typeface="楷体_GB2312" pitchFamily="49" charset="-122"/>
              </a:rPr>
              <a:t>－</a:t>
            </a:r>
            <a:r>
              <a:rPr lang="en-US" altLang="zh-CN" sz="2800">
                <a:ea typeface="楷体_GB2312" pitchFamily="49" charset="-122"/>
              </a:rPr>
              <a:t>1964</a:t>
            </a:r>
            <a:r>
              <a:rPr lang="zh-CN" altLang="en-US" sz="2800">
                <a:ea typeface="楷体_GB2312" pitchFamily="49" charset="-122"/>
              </a:rPr>
              <a:t>）已经意识到核能的开发可能用于军事</a:t>
            </a:r>
          </a:p>
          <a:p>
            <a:pPr lvl="1">
              <a:lnSpc>
                <a:spcPct val="90000"/>
              </a:lnSpc>
            </a:pPr>
            <a:r>
              <a:rPr lang="en-US" altLang="zh-CN" sz="2400">
                <a:ea typeface="楷体_GB2312" pitchFamily="49" charset="-122"/>
              </a:rPr>
              <a:t>1935</a:t>
            </a:r>
            <a:r>
              <a:rPr lang="zh-CN" altLang="en-US" sz="2400">
                <a:ea typeface="楷体_GB2312" pitchFamily="49" charset="-122"/>
              </a:rPr>
              <a:t>年，建议物理学家暂缓发表研究成果</a:t>
            </a:r>
          </a:p>
          <a:p>
            <a:pPr lvl="1">
              <a:lnSpc>
                <a:spcPct val="90000"/>
              </a:lnSpc>
            </a:pPr>
            <a:r>
              <a:rPr lang="en-US" altLang="zh-CN" sz="2400">
                <a:ea typeface="楷体_GB2312" pitchFamily="49" charset="-122"/>
              </a:rPr>
              <a:t>1939</a:t>
            </a:r>
            <a:r>
              <a:rPr lang="zh-CN" altLang="en-US" sz="2400">
                <a:ea typeface="楷体_GB2312" pitchFamily="49" charset="-122"/>
              </a:rPr>
              <a:t>年，玻尔认为核能利用为时尚早</a:t>
            </a:r>
          </a:p>
          <a:p>
            <a:pPr lvl="1">
              <a:lnSpc>
                <a:spcPct val="90000"/>
              </a:lnSpc>
            </a:pPr>
            <a:r>
              <a:rPr lang="en-US" altLang="zh-CN" sz="2400">
                <a:ea typeface="楷体_GB2312" pitchFamily="49" charset="-122"/>
              </a:rPr>
              <a:t>1939</a:t>
            </a:r>
            <a:r>
              <a:rPr lang="zh-CN" altLang="en-US" sz="2400">
                <a:ea typeface="楷体_GB2312" pitchFamily="49" charset="-122"/>
              </a:rPr>
              <a:t>年，说服美国政府抢在德国之前抓紧研制原子弹。爱因斯坦、萨克斯、罗斯福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楷体_GB2312" pitchFamily="49" charset="-122"/>
              </a:rPr>
              <a:t>原子能的开发（</a:t>
            </a:r>
            <a:r>
              <a:rPr lang="en-US" altLang="zh-CN">
                <a:ea typeface="楷体_GB2312" pitchFamily="49" charset="-122"/>
              </a:rPr>
              <a:t>4</a:t>
            </a:r>
            <a:r>
              <a:rPr lang="zh-CN" altLang="en-US">
                <a:ea typeface="楷体_GB2312" pitchFamily="49" charset="-122"/>
              </a:rPr>
              <a:t>）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1940</a:t>
            </a:r>
            <a:r>
              <a:rPr lang="zh-CN" altLang="en-US" sz="2800">
                <a:ea typeface="楷体_GB2312" pitchFamily="49" charset="-122"/>
              </a:rPr>
              <a:t>年，美国政府正式大量拨款，启动“曼哈顿工程”，格罗夫斯将军为行政首脑</a:t>
            </a:r>
          </a:p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1941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12</a:t>
            </a:r>
            <a:r>
              <a:rPr lang="zh-CN" altLang="en-US" sz="2800">
                <a:ea typeface="楷体_GB2312" pitchFamily="49" charset="-122"/>
              </a:rPr>
              <a:t>月－</a:t>
            </a:r>
            <a:r>
              <a:rPr lang="en-US" altLang="zh-CN" sz="2800">
                <a:ea typeface="楷体_GB2312" pitchFamily="49" charset="-122"/>
              </a:rPr>
              <a:t>1942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12</a:t>
            </a:r>
            <a:r>
              <a:rPr lang="zh-CN" altLang="en-US" sz="2800">
                <a:ea typeface="楷体_GB2312" pitchFamily="49" charset="-122"/>
              </a:rPr>
              <a:t>月，费米在芝加哥研制原子反应堆</a:t>
            </a:r>
          </a:p>
          <a:p>
            <a:pPr>
              <a:lnSpc>
                <a:spcPct val="90000"/>
              </a:lnSpc>
            </a:pPr>
            <a:r>
              <a:rPr lang="zh-CN" altLang="en-US" sz="2800">
                <a:ea typeface="楷体_GB2312" pitchFamily="49" charset="-122"/>
              </a:rPr>
              <a:t>铀的提纯</a:t>
            </a:r>
          </a:p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1943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1</a:t>
            </a:r>
            <a:r>
              <a:rPr lang="zh-CN" altLang="en-US" sz="2800">
                <a:ea typeface="楷体_GB2312" pitchFamily="49" charset="-122"/>
              </a:rPr>
              <a:t>月－</a:t>
            </a:r>
            <a:r>
              <a:rPr lang="en-US" altLang="zh-CN" sz="2800">
                <a:ea typeface="楷体_GB2312" pitchFamily="49" charset="-122"/>
              </a:rPr>
              <a:t>1945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7</a:t>
            </a:r>
            <a:r>
              <a:rPr lang="zh-CN" altLang="en-US" sz="2800">
                <a:ea typeface="楷体_GB2312" pitchFamily="49" charset="-122"/>
              </a:rPr>
              <a:t>月。奥本海默在新墨西哥州的洛斯阿拉莫斯主持原子弹研制。</a:t>
            </a:r>
          </a:p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7</a:t>
            </a:r>
            <a:r>
              <a:rPr lang="zh-CN" altLang="en-US" sz="2800">
                <a:ea typeface="楷体_GB2312" pitchFamily="49" charset="-122"/>
              </a:rPr>
              <a:t>月</a:t>
            </a:r>
            <a:r>
              <a:rPr lang="en-US" altLang="zh-CN" sz="2800">
                <a:ea typeface="楷体_GB2312" pitchFamily="49" charset="-122"/>
              </a:rPr>
              <a:t>16</a:t>
            </a:r>
            <a:r>
              <a:rPr lang="zh-CN" altLang="en-US" sz="2800">
                <a:ea typeface="楷体_GB2312" pitchFamily="49" charset="-122"/>
              </a:rPr>
              <a:t>日凌晨</a:t>
            </a:r>
            <a:r>
              <a:rPr lang="en-US" altLang="zh-CN" sz="2800">
                <a:ea typeface="楷体_GB2312" pitchFamily="49" charset="-122"/>
              </a:rPr>
              <a:t>5</a:t>
            </a:r>
            <a:r>
              <a:rPr lang="zh-CN" altLang="en-US" sz="2800">
                <a:ea typeface="楷体_GB2312" pitchFamily="49" charset="-122"/>
              </a:rPr>
              <a:t>时</a:t>
            </a:r>
            <a:r>
              <a:rPr lang="en-US" altLang="zh-CN" sz="2800">
                <a:ea typeface="楷体_GB2312" pitchFamily="49" charset="-122"/>
              </a:rPr>
              <a:t>30</a:t>
            </a:r>
            <a:r>
              <a:rPr lang="zh-CN" altLang="en-US" sz="2800">
                <a:ea typeface="楷体_GB2312" pitchFamily="49" charset="-122"/>
              </a:rPr>
              <a:t>分，第一颗铀原子弹试爆成功。比一千个太阳都亮。</a:t>
            </a:r>
          </a:p>
          <a:p>
            <a:pPr>
              <a:lnSpc>
                <a:spcPct val="90000"/>
              </a:lnSpc>
            </a:pPr>
            <a:r>
              <a:rPr lang="zh-CN" altLang="en-US" sz="2800">
                <a:ea typeface="楷体_GB2312" pitchFamily="49" charset="-122"/>
              </a:rPr>
              <a:t>曼哈顿工程：动员</a:t>
            </a:r>
            <a:r>
              <a:rPr lang="en-US" altLang="zh-CN" sz="2800">
                <a:ea typeface="楷体_GB2312" pitchFamily="49" charset="-122"/>
              </a:rPr>
              <a:t>50</a:t>
            </a:r>
            <a:r>
              <a:rPr lang="zh-CN" altLang="en-US" sz="2800">
                <a:ea typeface="楷体_GB2312" pitchFamily="49" charset="-122"/>
              </a:rPr>
              <a:t>万人，耗费</a:t>
            </a:r>
            <a:r>
              <a:rPr lang="en-US" altLang="zh-CN" sz="2800">
                <a:ea typeface="楷体_GB2312" pitchFamily="49" charset="-122"/>
              </a:rPr>
              <a:t>22</a:t>
            </a:r>
            <a:r>
              <a:rPr lang="zh-CN" altLang="en-US" sz="2800">
                <a:ea typeface="楷体_GB2312" pitchFamily="49" charset="-122"/>
              </a:rPr>
              <a:t>亿美元，占用全国三分之一的电力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楷体_GB2312" pitchFamily="49" charset="-122"/>
              </a:rPr>
              <a:t>原子能的开发（</a:t>
            </a:r>
            <a:r>
              <a:rPr lang="en-US" altLang="zh-CN">
                <a:ea typeface="楷体_GB2312" pitchFamily="49" charset="-122"/>
              </a:rPr>
              <a:t>5</a:t>
            </a:r>
            <a:r>
              <a:rPr lang="zh-CN" altLang="en-US">
                <a:ea typeface="楷体_GB2312" pitchFamily="49" charset="-122"/>
              </a:rPr>
              <a:t>）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1944</a:t>
            </a:r>
            <a:r>
              <a:rPr lang="zh-CN" altLang="en-US" sz="2800">
                <a:ea typeface="楷体_GB2312" pitchFamily="49" charset="-122"/>
              </a:rPr>
              <a:t>年底，盟军的特工小组已经发现德国造不出原子弹</a:t>
            </a:r>
          </a:p>
          <a:p>
            <a:pPr>
              <a:lnSpc>
                <a:spcPct val="90000"/>
              </a:lnSpc>
            </a:pPr>
            <a:r>
              <a:rPr lang="zh-CN" altLang="en-US" sz="2800">
                <a:ea typeface="楷体_GB2312" pitchFamily="49" charset="-122"/>
              </a:rPr>
              <a:t>科学家的犹豫：</a:t>
            </a:r>
          </a:p>
          <a:p>
            <a:pPr lvl="1">
              <a:lnSpc>
                <a:spcPct val="90000"/>
              </a:lnSpc>
            </a:pPr>
            <a:r>
              <a:rPr lang="zh-CN" altLang="en-US" sz="2400">
                <a:ea typeface="楷体_GB2312" pitchFamily="49" charset="-122"/>
              </a:rPr>
              <a:t>继续干吗？缺乏政治和道义上的支持</a:t>
            </a:r>
          </a:p>
          <a:p>
            <a:pPr lvl="1">
              <a:lnSpc>
                <a:spcPct val="90000"/>
              </a:lnSpc>
            </a:pPr>
            <a:r>
              <a:rPr lang="zh-CN" altLang="en-US" sz="2400">
                <a:ea typeface="楷体_GB2312" pitchFamily="49" charset="-122"/>
              </a:rPr>
              <a:t>不干吗？不符合现代科学技术的精神</a:t>
            </a:r>
          </a:p>
          <a:p>
            <a:pPr lvl="1">
              <a:lnSpc>
                <a:spcPct val="90000"/>
              </a:lnSpc>
            </a:pPr>
            <a:r>
              <a:rPr lang="zh-CN" altLang="en-US" sz="2400">
                <a:ea typeface="楷体_GB2312" pitchFamily="49" charset="-122"/>
              </a:rPr>
              <a:t>好的理由：应该让全人类知道它的威力</a:t>
            </a:r>
          </a:p>
          <a:p>
            <a:pPr>
              <a:lnSpc>
                <a:spcPct val="90000"/>
              </a:lnSpc>
            </a:pPr>
            <a:r>
              <a:rPr lang="zh-CN" altLang="en-US" sz="2800">
                <a:ea typeface="楷体_GB2312" pitchFamily="49" charset="-122"/>
              </a:rPr>
              <a:t>齐拉德、爱因斯坦的态度</a:t>
            </a:r>
          </a:p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1945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8</a:t>
            </a:r>
            <a:r>
              <a:rPr lang="zh-CN" altLang="en-US" sz="2800">
                <a:ea typeface="楷体_GB2312" pitchFamily="49" charset="-122"/>
              </a:rPr>
              <a:t>月</a:t>
            </a:r>
            <a:r>
              <a:rPr lang="en-US" altLang="zh-CN" sz="2800">
                <a:ea typeface="楷体_GB2312" pitchFamily="49" charset="-122"/>
              </a:rPr>
              <a:t>6</a:t>
            </a:r>
            <a:r>
              <a:rPr lang="zh-CN" altLang="en-US" sz="2800">
                <a:ea typeface="楷体_GB2312" pitchFamily="49" charset="-122"/>
              </a:rPr>
              <a:t>日，铀弹小男孩投到广岛；</a:t>
            </a:r>
            <a:r>
              <a:rPr lang="en-US" altLang="zh-CN" sz="2800">
                <a:ea typeface="楷体_GB2312" pitchFamily="49" charset="-122"/>
              </a:rPr>
              <a:t>8</a:t>
            </a:r>
            <a:r>
              <a:rPr lang="zh-CN" altLang="en-US" sz="2800">
                <a:ea typeface="楷体_GB2312" pitchFamily="49" charset="-122"/>
              </a:rPr>
              <a:t>月</a:t>
            </a:r>
            <a:r>
              <a:rPr lang="en-US" altLang="zh-CN" sz="2800">
                <a:ea typeface="楷体_GB2312" pitchFamily="49" charset="-122"/>
              </a:rPr>
              <a:t>9</a:t>
            </a:r>
            <a:r>
              <a:rPr lang="zh-CN" altLang="en-US" sz="2800">
                <a:ea typeface="楷体_GB2312" pitchFamily="49" charset="-122"/>
              </a:rPr>
              <a:t>日，钚弹胖子投在长崎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楷体_GB2312" pitchFamily="49" charset="-122"/>
              </a:rPr>
              <a:t>原子能的开发（</a:t>
            </a:r>
            <a:r>
              <a:rPr lang="en-US" altLang="zh-CN">
                <a:ea typeface="楷体_GB2312" pitchFamily="49" charset="-122"/>
              </a:rPr>
              <a:t>6</a:t>
            </a:r>
            <a:r>
              <a:rPr lang="zh-CN" altLang="en-US">
                <a:ea typeface="楷体_GB2312" pitchFamily="49" charset="-122"/>
              </a:rPr>
              <a:t>）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>
                <a:ea typeface="楷体_GB2312" pitchFamily="49" charset="-122"/>
              </a:rPr>
              <a:t>核军备竞赛：盟国之争</a:t>
            </a:r>
          </a:p>
          <a:p>
            <a:r>
              <a:rPr lang="en-US" altLang="zh-CN" sz="2800">
                <a:ea typeface="楷体_GB2312" pitchFamily="49" charset="-122"/>
              </a:rPr>
              <a:t>45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8</a:t>
            </a:r>
            <a:r>
              <a:rPr lang="zh-CN" altLang="en-US" sz="2800">
                <a:ea typeface="楷体_GB2312" pitchFamily="49" charset="-122"/>
              </a:rPr>
              <a:t>月，斯大林下令抓紧研制原子弹</a:t>
            </a:r>
          </a:p>
          <a:p>
            <a:r>
              <a:rPr lang="en-US" altLang="zh-CN" sz="2800">
                <a:ea typeface="楷体_GB2312" pitchFamily="49" charset="-122"/>
              </a:rPr>
              <a:t>1949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8</a:t>
            </a:r>
            <a:r>
              <a:rPr lang="zh-CN" altLang="en-US" sz="2800">
                <a:ea typeface="楷体_GB2312" pitchFamily="49" charset="-122"/>
              </a:rPr>
              <a:t>月，苏联成功地进行了核实验</a:t>
            </a:r>
          </a:p>
          <a:p>
            <a:r>
              <a:rPr lang="en-US" altLang="zh-CN" sz="2800">
                <a:ea typeface="楷体_GB2312" pitchFamily="49" charset="-122"/>
              </a:rPr>
              <a:t>1952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11</a:t>
            </a:r>
            <a:r>
              <a:rPr lang="zh-CN" altLang="en-US" sz="2800">
                <a:ea typeface="楷体_GB2312" pitchFamily="49" charset="-122"/>
              </a:rPr>
              <a:t>月</a:t>
            </a:r>
            <a:r>
              <a:rPr lang="en-US" altLang="zh-CN" sz="2800">
                <a:ea typeface="楷体_GB2312" pitchFamily="49" charset="-122"/>
              </a:rPr>
              <a:t>1</a:t>
            </a:r>
            <a:r>
              <a:rPr lang="zh-CN" altLang="en-US" sz="2800">
                <a:ea typeface="楷体_GB2312" pitchFamily="49" charset="-122"/>
              </a:rPr>
              <a:t>日，美国试爆第一颗氢弹</a:t>
            </a:r>
          </a:p>
          <a:p>
            <a:r>
              <a:rPr lang="en-US" altLang="zh-CN" sz="2800">
                <a:ea typeface="楷体_GB2312" pitchFamily="49" charset="-122"/>
              </a:rPr>
              <a:t>1953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8</a:t>
            </a:r>
            <a:r>
              <a:rPr lang="zh-CN" altLang="en-US" sz="2800">
                <a:ea typeface="楷体_GB2312" pitchFamily="49" charset="-122"/>
              </a:rPr>
              <a:t>月，苏联研制氢弹成功</a:t>
            </a:r>
          </a:p>
          <a:p>
            <a:r>
              <a:rPr lang="en-US" altLang="zh-CN" sz="2800">
                <a:ea typeface="楷体_GB2312" pitchFamily="49" charset="-122"/>
              </a:rPr>
              <a:t>1952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10</a:t>
            </a:r>
            <a:r>
              <a:rPr lang="zh-CN" altLang="en-US" sz="2800">
                <a:ea typeface="楷体_GB2312" pitchFamily="49" charset="-122"/>
              </a:rPr>
              <a:t>月</a:t>
            </a:r>
            <a:r>
              <a:rPr lang="en-US" altLang="zh-CN" sz="2800">
                <a:ea typeface="楷体_GB2312" pitchFamily="49" charset="-122"/>
              </a:rPr>
              <a:t>3</a:t>
            </a:r>
            <a:r>
              <a:rPr lang="zh-CN" altLang="en-US" sz="2800">
                <a:ea typeface="楷体_GB2312" pitchFamily="49" charset="-122"/>
              </a:rPr>
              <a:t>日，英国研制成功原子弹</a:t>
            </a:r>
          </a:p>
          <a:p>
            <a:r>
              <a:rPr lang="en-US" altLang="zh-CN" sz="2800">
                <a:ea typeface="楷体_GB2312" pitchFamily="49" charset="-122"/>
              </a:rPr>
              <a:t>1960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2</a:t>
            </a:r>
            <a:r>
              <a:rPr lang="zh-CN" altLang="en-US" sz="2800">
                <a:ea typeface="楷体_GB2312" pitchFamily="49" charset="-122"/>
              </a:rPr>
              <a:t>月</a:t>
            </a:r>
            <a:r>
              <a:rPr lang="en-US" altLang="zh-CN" sz="2800">
                <a:ea typeface="楷体_GB2312" pitchFamily="49" charset="-122"/>
              </a:rPr>
              <a:t>13</a:t>
            </a:r>
            <a:r>
              <a:rPr lang="zh-CN" altLang="en-US" sz="2800">
                <a:ea typeface="楷体_GB2312" pitchFamily="49" charset="-122"/>
              </a:rPr>
              <a:t>日，法国研制成功钚弹</a:t>
            </a:r>
          </a:p>
          <a:p>
            <a:r>
              <a:rPr lang="en-US" altLang="zh-CN" sz="2800">
                <a:ea typeface="楷体_GB2312" pitchFamily="49" charset="-122"/>
              </a:rPr>
              <a:t>1964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10</a:t>
            </a:r>
            <a:r>
              <a:rPr lang="zh-CN" altLang="en-US" sz="2800">
                <a:ea typeface="楷体_GB2312" pitchFamily="49" charset="-122"/>
              </a:rPr>
              <a:t>月</a:t>
            </a:r>
            <a:r>
              <a:rPr lang="en-US" altLang="zh-CN" sz="2800">
                <a:ea typeface="楷体_GB2312" pitchFamily="49" charset="-122"/>
              </a:rPr>
              <a:t>16</a:t>
            </a:r>
            <a:r>
              <a:rPr lang="zh-CN" altLang="en-US" sz="2800">
                <a:ea typeface="楷体_GB2312" pitchFamily="49" charset="-122"/>
              </a:rPr>
              <a:t>日，中国试爆成功原子弹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楷体_GB2312" pitchFamily="49" charset="-122"/>
              </a:rPr>
              <a:t>原子能的开发（</a:t>
            </a:r>
            <a:r>
              <a:rPr lang="en-US" altLang="zh-CN">
                <a:ea typeface="楷体_GB2312" pitchFamily="49" charset="-122"/>
              </a:rPr>
              <a:t>7</a:t>
            </a:r>
            <a:r>
              <a:rPr lang="zh-CN" altLang="en-US">
                <a:ea typeface="楷体_GB2312" pitchFamily="49" charset="-122"/>
              </a:rPr>
              <a:t>）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</a:t>
            </a:r>
            <a:r>
              <a:rPr lang="zh-CN" altLang="en-US" sz="2800">
                <a:ea typeface="楷体_GB2312" pitchFamily="49" charset="-122"/>
              </a:rPr>
              <a:t>公斤核燃料相当于</a:t>
            </a:r>
            <a:r>
              <a:rPr lang="en-US" altLang="zh-CN" sz="2800">
                <a:ea typeface="楷体_GB2312" pitchFamily="49" charset="-122"/>
              </a:rPr>
              <a:t>2500</a:t>
            </a:r>
            <a:r>
              <a:rPr lang="zh-CN" altLang="en-US" sz="2800">
                <a:ea typeface="楷体_GB2312" pitchFamily="49" charset="-122"/>
              </a:rPr>
              <a:t>吨煤</a:t>
            </a:r>
          </a:p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1954</a:t>
            </a:r>
            <a:r>
              <a:rPr lang="zh-CN" altLang="en-US" sz="2800">
                <a:ea typeface="楷体_GB2312" pitchFamily="49" charset="-122"/>
              </a:rPr>
              <a:t>年，苏联建成第一座小型原子能电站；</a:t>
            </a:r>
            <a:r>
              <a:rPr lang="en-US" altLang="zh-CN" sz="2800">
                <a:ea typeface="楷体_GB2312" pitchFamily="49" charset="-122"/>
              </a:rPr>
              <a:t>1956</a:t>
            </a:r>
            <a:r>
              <a:rPr lang="zh-CN" altLang="en-US" sz="2800">
                <a:ea typeface="楷体_GB2312" pitchFamily="49" charset="-122"/>
              </a:rPr>
              <a:t>（英国），</a:t>
            </a:r>
            <a:r>
              <a:rPr lang="en-US" altLang="zh-CN" sz="2800">
                <a:ea typeface="楷体_GB2312" pitchFamily="49" charset="-122"/>
              </a:rPr>
              <a:t>1957</a:t>
            </a:r>
            <a:r>
              <a:rPr lang="zh-CN" altLang="en-US" sz="2800">
                <a:ea typeface="楷体_GB2312" pitchFamily="49" charset="-122"/>
              </a:rPr>
              <a:t>（美国）</a:t>
            </a:r>
          </a:p>
          <a:p>
            <a:pPr>
              <a:lnSpc>
                <a:spcPct val="90000"/>
              </a:lnSpc>
            </a:pPr>
            <a:r>
              <a:rPr lang="zh-CN" altLang="en-US" sz="2800">
                <a:ea typeface="楷体_GB2312" pitchFamily="49" charset="-122"/>
              </a:rPr>
              <a:t>核电站：成本低、污染小、效率高，但事故太可怕</a:t>
            </a:r>
          </a:p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1986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4</a:t>
            </a:r>
            <a:r>
              <a:rPr lang="zh-CN" altLang="en-US" sz="2800">
                <a:ea typeface="楷体_GB2312" pitchFamily="49" charset="-122"/>
              </a:rPr>
              <a:t>月</a:t>
            </a:r>
            <a:r>
              <a:rPr lang="en-US" altLang="zh-CN" sz="2800">
                <a:ea typeface="楷体_GB2312" pitchFamily="49" charset="-122"/>
              </a:rPr>
              <a:t>26</a:t>
            </a:r>
            <a:r>
              <a:rPr lang="zh-CN" altLang="en-US" sz="2800">
                <a:ea typeface="楷体_GB2312" pitchFamily="49" charset="-122"/>
              </a:rPr>
              <a:t>日切尔诺贝利核电站第</a:t>
            </a:r>
            <a:r>
              <a:rPr lang="en-US" altLang="zh-CN" sz="2800">
                <a:ea typeface="楷体_GB2312" pitchFamily="49" charset="-122"/>
              </a:rPr>
              <a:t>4</a:t>
            </a:r>
            <a:r>
              <a:rPr lang="zh-CN" altLang="en-US" sz="2800">
                <a:ea typeface="楷体_GB2312" pitchFamily="49" charset="-122"/>
              </a:rPr>
              <a:t>号机组发生爆炸。人为造成三道安全措施无效</a:t>
            </a:r>
          </a:p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1979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3</a:t>
            </a:r>
            <a:r>
              <a:rPr lang="zh-CN" altLang="en-US" sz="2800">
                <a:ea typeface="楷体_GB2312" pitchFamily="49" charset="-122"/>
              </a:rPr>
              <a:t>月</a:t>
            </a:r>
            <a:r>
              <a:rPr lang="en-US" altLang="zh-CN" sz="2800">
                <a:ea typeface="楷体_GB2312" pitchFamily="49" charset="-122"/>
              </a:rPr>
              <a:t>28</a:t>
            </a:r>
            <a:r>
              <a:rPr lang="zh-CN" altLang="en-US" sz="2800">
                <a:ea typeface="楷体_GB2312" pitchFamily="49" charset="-122"/>
              </a:rPr>
              <a:t>日三里岛核电站二号堆事故，由于多重安全系统发挥作用，后果不严重</a:t>
            </a:r>
          </a:p>
          <a:p>
            <a:pPr>
              <a:lnSpc>
                <a:spcPct val="90000"/>
              </a:lnSpc>
            </a:pPr>
            <a:r>
              <a:rPr lang="zh-CN" altLang="en-US" sz="2800">
                <a:ea typeface="楷体_GB2312" pitchFamily="49" charset="-122"/>
              </a:rPr>
              <a:t>核聚变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aring">
  <a:themeElements>
    <a:clrScheme name="Soaring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Soaring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Pages>0</Pages>
  <Words>759</Words>
  <Characters>0</Characters>
  <Application>Microsoft Office PowerPoint</Application>
  <DocSecurity>0</DocSecurity>
  <PresentationFormat>全屏显示(4:3)</PresentationFormat>
  <Lines>0</Lines>
  <Paragraphs>58</Paragraphs>
  <Slides>9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0" baseType="lpstr">
      <vt:lpstr>Soaring</vt:lpstr>
      <vt:lpstr>20世纪科学</vt:lpstr>
      <vt:lpstr>20世纪100项新闻的科技部分（38）</vt:lpstr>
      <vt:lpstr>原子能的开发（1）</vt:lpstr>
      <vt:lpstr>原子能的开发（2）</vt:lpstr>
      <vt:lpstr>原子能的开发（3）</vt:lpstr>
      <vt:lpstr>原子能的开发（4）</vt:lpstr>
      <vt:lpstr>原子能的开发（5）</vt:lpstr>
      <vt:lpstr>原子能的开发（6）</vt:lpstr>
      <vt:lpstr>原子能的开发（7）</vt:lpstr>
    </vt:vector>
  </TitlesOfParts>
  <Manager/>
  <Company/>
  <LinksUpToDate>false</LinksUpToDate>
  <CharactersWithSpaces>0</CharactersWithSpaces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20世纪科学</dc:title>
  <dc:subject/>
  <dc:creator/>
  <cp:keywords/>
  <dc:description/>
  <cp:lastModifiedBy>admin</cp:lastModifiedBy>
  <cp:revision>2</cp:revision>
  <cp:lastPrinted>1601-01-01T00:00:00Z</cp:lastPrinted>
  <dcterms:modified xsi:type="dcterms:W3CDTF">2013-09-12T03:39:59Z</dcterms:modified>
  <cp:category/>
</cp:coreProperties>
</file>