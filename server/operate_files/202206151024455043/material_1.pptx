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95" d="100"/>
          <a:sy n="95" d="100"/>
        </p:scale>
        <p:origin x="-114" y="-354"/>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slide" Target="slides/slide4.xml"/><Relationship Id="rId4" Type="http://schemas.openxmlformats.org/officeDocument/2006/relationships/slide" Target="slides/slide3.xml"/><Relationship Id="rId9"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t>2022-6-13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t>2022-6-13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p>
            <a:fld id="{530820CF-B880-4189-942D-D702A7CBA730}" type="datetimeFigureOut">
              <a:rPr lang="zh-CN" altLang="en-US" smtClean="0"/>
              <a:t>2022-6-13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530820CF-B880-4189-942D-D702A7CBA730}" type="datetimeFigureOut">
              <a:rPr lang="zh-CN" altLang="en-US" smtClean="0"/>
              <a:t>2022-6-13</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530820CF-B880-4189-942D-D702A7CBA730}" type="datetimeFigureOut">
              <a:rPr lang="zh-CN" altLang="en-US" smtClean="0"/>
              <a:t>2022-6-13</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单击此处编辑母版标题样式</a:t>
            </a:r>
            <a:endParaRPr lang="zh-CN" altLang="en-US" dirty="0"/>
          </a:p>
        </p:txBody>
      </p:sp>
      <p:sp>
        <p:nvSpPr>
          <p:cNvPr id="3" name="日期占位符 2"/>
          <p:cNvSpPr>
            <a:spLocks noGrp="1"/>
          </p:cNvSpPr>
          <p:nvPr>
            <p:ph type="dt" sz="half" idx="10"/>
          </p:nvPr>
        </p:nvSpPr>
        <p:spPr/>
        <p:txBody>
          <a:bodyPr/>
          <a:lstStyle/>
          <a:p>
            <a:fld id="{530820CF-B880-4189-942D-D702A7CBA730}" type="datetimeFigureOut">
              <a:rPr lang="zh-CN" altLang="en-US" smtClean="0"/>
              <a:t>2022-6-13</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30820CF-B880-4189-942D-D702A7CBA730}" type="datetimeFigureOut">
              <a:rPr lang="zh-CN" altLang="en-US" smtClean="0"/>
              <a:t>2022-6-13</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530820CF-B880-4189-942D-D702A7CBA730}" type="datetimeFigureOut">
              <a:rPr lang="zh-CN" altLang="en-US" smtClean="0"/>
              <a:t>2022-6-13</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530820CF-B880-4189-942D-D702A7CBA730}" type="datetimeFigureOut">
              <a:rPr lang="zh-CN" altLang="en-US" smtClean="0"/>
              <a:t>2022-6-13</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t>2022-6-13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t>2022-6-13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srcRect/>
          <a:tile tx="0" ty="0" sx="100000" sy="100000" flip="none" algn="tl"/>
        </a:blip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CN" altLang="en-US" dirty="0" smtClean="0"/>
              <a:t>单击此处编辑母版标题样式</a:t>
            </a:r>
            <a:endParaRPr lang="zh-CN" altLang="en-US" dirty="0"/>
          </a:p>
        </p:txBody>
      </p:sp>
      <p:sp>
        <p:nvSpPr>
          <p:cNvPr id="3" name="文本占位符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CN" altLang="en-US" dirty="0" smtClean="0"/>
              <a:t>单击此处编辑母版文本样式</a:t>
            </a:r>
          </a:p>
          <a:p>
            <a:pPr lvl="1"/>
            <a:r>
              <a:rPr lang="zh-CN" altLang="en-US" dirty="0" smtClean="0"/>
              <a:t>第二级</a:t>
            </a:r>
          </a:p>
          <a:p>
            <a:pPr lvl="2"/>
            <a:r>
              <a:rPr lang="zh-CN" altLang="en-US" dirty="0" smtClean="0"/>
              <a:t>第三级</a:t>
            </a:r>
          </a:p>
          <a:p>
            <a:pPr lvl="3"/>
            <a:r>
              <a:rPr lang="zh-CN" altLang="en-US" dirty="0" smtClean="0"/>
              <a:t>第四级</a:t>
            </a:r>
          </a:p>
          <a:p>
            <a:pPr lvl="4"/>
            <a:r>
              <a:rPr lang="zh-CN" altLang="en-US" dirty="0" smtClean="0"/>
              <a:t>第五级</a:t>
            </a:r>
            <a:endParaRPr lang="zh-CN" altLang="en-US" dirty="0"/>
          </a:p>
        </p:txBody>
      </p:sp>
      <p:sp>
        <p:nvSpPr>
          <p:cNvPr id="4"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30820CF-B880-4189-942D-D702A7CBA730}" type="datetimeFigureOut">
              <a:rPr lang="zh-CN" altLang="en-US" smtClean="0"/>
              <a:t>2022-6-13</a:t>
            </a:fld>
            <a:endParaRPr lang="zh-CN" altLang="en-US"/>
          </a:p>
        </p:txBody>
      </p:sp>
      <p:sp>
        <p:nvSpPr>
          <p:cNvPr id="5"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C913308-F349-4B6D-A68A-DD1791B4A57B}"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iming>
    <p:tnLst>
      <p:par>
        <p:cTn id="1" dur="indefinite" restart="never" nodeType="tmRoot"/>
      </p:par>
    </p:tnLst>
  </p:timing>
  <p:txStyles>
    <p:titleStyle>
      <a:lvl1pPr algn="ctr" defTabSz="914400" rtl="0" eaLnBrk="1" latinLnBrk="0" hangingPunct="1">
        <a:spcBef>
          <a:spcPct val="0"/>
        </a:spcBef>
        <a:buNone/>
        <a:defRPr sz="4800" b="1" kern="1200">
          <a:solidFill>
            <a:srgbClr val="0070C0"/>
          </a:solidFill>
          <a:latin typeface="宋体" pitchFamily="2" charset="-122"/>
          <a:ea typeface="宋体" pitchFamily="2" charset="-122"/>
          <a:cs typeface="+mj-cs"/>
        </a:defRPr>
      </a:lvl1pPr>
    </p:titleStyle>
    <p:bodyStyle>
      <a:lvl1pPr marL="342900" indent="-342900" algn="l" defTabSz="914400" rtl="0" eaLnBrk="1" latinLnBrk="0" hangingPunct="1">
        <a:lnSpc>
          <a:spcPct val="150000"/>
        </a:lnSpc>
        <a:spcBef>
          <a:spcPct val="20000"/>
        </a:spcBef>
        <a:buClr>
          <a:srgbClr val="FFFF00"/>
        </a:buClr>
        <a:buFont typeface="Wingdings" panose="05000000000000000000" pitchFamily="2" charset="2"/>
        <a:buChar char="z"/>
        <a:defRPr sz="2000" b="1" kern="1200">
          <a:solidFill>
            <a:srgbClr val="7030A0"/>
          </a:solidFill>
          <a:latin typeface="华文行楷" pitchFamily="2" charset="-122"/>
          <a:ea typeface="华文行楷" pitchFamily="2" charset="-122"/>
          <a:cs typeface="+mn-cs"/>
        </a:defRPr>
      </a:lvl1pPr>
      <a:lvl2pPr marL="742950" indent="-285750" algn="l" defTabSz="914400" rtl="0" eaLnBrk="1" latinLnBrk="0" hangingPunct="1">
        <a:lnSpc>
          <a:spcPct val="150000"/>
        </a:lnSpc>
        <a:spcBef>
          <a:spcPct val="20000"/>
        </a:spcBef>
        <a:buClr>
          <a:srgbClr val="FFFF00"/>
        </a:buClr>
        <a:buFont typeface="Wingdings" panose="05000000000000000000" pitchFamily="2" charset="2"/>
        <a:buChar char="z"/>
        <a:defRPr sz="2000" b="1" kern="1200">
          <a:solidFill>
            <a:srgbClr val="7030A0"/>
          </a:solidFill>
          <a:latin typeface="华文行楷" pitchFamily="2" charset="-122"/>
          <a:ea typeface="华文行楷" pitchFamily="2" charset="-122"/>
          <a:cs typeface="+mn-cs"/>
        </a:defRPr>
      </a:lvl2pPr>
      <a:lvl3pPr marL="1143000" indent="-228600" algn="l" defTabSz="914400" rtl="0" eaLnBrk="1" latinLnBrk="0" hangingPunct="1">
        <a:lnSpc>
          <a:spcPct val="150000"/>
        </a:lnSpc>
        <a:spcBef>
          <a:spcPct val="20000"/>
        </a:spcBef>
        <a:buClr>
          <a:srgbClr val="FFFF00"/>
        </a:buClr>
        <a:buFont typeface="Wingdings" panose="05000000000000000000" pitchFamily="2" charset="2"/>
        <a:buChar char="z"/>
        <a:defRPr sz="2000" b="1" kern="1200">
          <a:solidFill>
            <a:srgbClr val="7030A0"/>
          </a:solidFill>
          <a:latin typeface="华文行楷" pitchFamily="2" charset="-122"/>
          <a:ea typeface="华文行楷" pitchFamily="2" charset="-122"/>
          <a:cs typeface="+mn-cs"/>
        </a:defRPr>
      </a:lvl3pPr>
      <a:lvl4pPr marL="1600200" indent="-228600" algn="l" defTabSz="914400" rtl="0" eaLnBrk="1" latinLnBrk="0" hangingPunct="1">
        <a:lnSpc>
          <a:spcPct val="150000"/>
        </a:lnSpc>
        <a:spcBef>
          <a:spcPct val="20000"/>
        </a:spcBef>
        <a:buClr>
          <a:srgbClr val="FFFF00"/>
        </a:buClr>
        <a:buFont typeface="Wingdings" panose="05000000000000000000" pitchFamily="2" charset="2"/>
        <a:buChar char="z"/>
        <a:defRPr sz="2000" b="1" kern="1200">
          <a:solidFill>
            <a:srgbClr val="7030A0"/>
          </a:solidFill>
          <a:latin typeface="华文行楷" pitchFamily="2" charset="-122"/>
          <a:ea typeface="华文行楷" pitchFamily="2" charset="-122"/>
          <a:cs typeface="+mn-cs"/>
        </a:defRPr>
      </a:lvl4pPr>
      <a:lvl5pPr marL="2057400" indent="-228600" algn="l" defTabSz="914400" rtl="0" eaLnBrk="1" latinLnBrk="0" hangingPunct="1">
        <a:lnSpc>
          <a:spcPct val="150000"/>
        </a:lnSpc>
        <a:spcBef>
          <a:spcPct val="20000"/>
        </a:spcBef>
        <a:buClr>
          <a:srgbClr val="FFFF00"/>
        </a:buClr>
        <a:buFont typeface="Wingdings" panose="05000000000000000000" pitchFamily="2" charset="2"/>
        <a:buChar char="z"/>
        <a:defRPr sz="2000" b="1" kern="1200">
          <a:solidFill>
            <a:srgbClr val="7030A0"/>
          </a:solidFill>
          <a:latin typeface="华文行楷" pitchFamily="2" charset="-122"/>
          <a:ea typeface="华文行楷" pitchFamily="2"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 Target="slide3.xml"/><Relationship Id="rId2" Type="http://schemas.openxmlformats.org/officeDocument/2006/relationships/slide" Target="slide2.xml"/><Relationship Id="rId1" Type="http://schemas.openxmlformats.org/officeDocument/2006/relationships/slideLayout" Target="../slideLayouts/slideLayout6.xml"/><Relationship Id="rId4" Type="http://schemas.openxmlformats.org/officeDocument/2006/relationships/slide" Target="slide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网络</a:t>
            </a:r>
            <a:endParaRPr lang="zh-CN" altLang="en-US" dirty="0"/>
          </a:p>
        </p:txBody>
      </p:sp>
      <p:sp>
        <p:nvSpPr>
          <p:cNvPr id="3" name="横卷形 2"/>
          <p:cNvSpPr/>
          <p:nvPr/>
        </p:nvSpPr>
        <p:spPr>
          <a:xfrm>
            <a:off x="2722667" y="1275646"/>
            <a:ext cx="3649532" cy="1440160"/>
          </a:xfrm>
          <a:prstGeom prst="horizontalScroll">
            <a:avLst/>
          </a:prstGeom>
          <a:noFill/>
          <a:ln w="3175">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4800" b="1" dirty="0" smtClean="0">
                <a:solidFill>
                  <a:schemeClr val="tx1"/>
                </a:solidFill>
                <a:latin typeface="隶书" pitchFamily="49" charset="-122"/>
                <a:ea typeface="隶书" pitchFamily="49" charset="-122"/>
                <a:hlinkClick r:id="rId2" action="ppaction://hlinksldjump"/>
              </a:rPr>
              <a:t>信息战</a:t>
            </a:r>
            <a:endParaRPr lang="zh-CN" altLang="en-US" sz="4800" b="1" dirty="0">
              <a:solidFill>
                <a:schemeClr val="tx1"/>
              </a:solidFill>
              <a:latin typeface="隶书" pitchFamily="49" charset="-122"/>
              <a:ea typeface="隶书" pitchFamily="49" charset="-122"/>
            </a:endParaRPr>
          </a:p>
        </p:txBody>
      </p:sp>
      <p:sp>
        <p:nvSpPr>
          <p:cNvPr id="4" name="横卷形 3"/>
          <p:cNvSpPr/>
          <p:nvPr/>
        </p:nvSpPr>
        <p:spPr>
          <a:xfrm>
            <a:off x="2722667" y="3102114"/>
            <a:ext cx="3649533" cy="1584176"/>
          </a:xfrm>
          <a:prstGeom prst="horizontalScroll">
            <a:avLst/>
          </a:prstGeom>
          <a:noFill/>
          <a:ln w="3175">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4800" b="1" dirty="0">
                <a:solidFill>
                  <a:schemeClr val="tx1"/>
                </a:solidFill>
                <a:latin typeface="隶书" pitchFamily="49" charset="-122"/>
                <a:ea typeface="隶书" pitchFamily="49" charset="-122"/>
                <a:hlinkClick r:id="rId3" action="ppaction://hlinksldjump"/>
              </a:rPr>
              <a:t>网络安全</a:t>
            </a:r>
            <a:endParaRPr lang="zh-CN" altLang="en-US" sz="4800" b="1" dirty="0">
              <a:solidFill>
                <a:schemeClr val="tx1"/>
              </a:solidFill>
              <a:latin typeface="隶书" pitchFamily="49" charset="-122"/>
              <a:ea typeface="隶书" pitchFamily="49" charset="-122"/>
            </a:endParaRPr>
          </a:p>
        </p:txBody>
      </p:sp>
      <p:sp>
        <p:nvSpPr>
          <p:cNvPr id="5" name="横卷形 4"/>
          <p:cNvSpPr/>
          <p:nvPr/>
        </p:nvSpPr>
        <p:spPr>
          <a:xfrm>
            <a:off x="2722666" y="5056584"/>
            <a:ext cx="3649533" cy="1368152"/>
          </a:xfrm>
          <a:prstGeom prst="horizontalScroll">
            <a:avLst/>
          </a:prstGeom>
          <a:noFill/>
          <a:ln w="3175">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4800" b="1" dirty="0">
                <a:solidFill>
                  <a:schemeClr val="tx1"/>
                </a:solidFill>
                <a:latin typeface="隶书" pitchFamily="49" charset="-122"/>
                <a:ea typeface="隶书" pitchFamily="49" charset="-122"/>
                <a:hlinkClick r:id="rId4" action="ppaction://hlinksldjump"/>
              </a:rPr>
              <a:t>物联网</a:t>
            </a:r>
            <a:endParaRPr lang="zh-CN" altLang="en-US" sz="4800" b="1" dirty="0">
              <a:solidFill>
                <a:schemeClr val="tx1"/>
              </a:solidFill>
              <a:latin typeface="隶书" pitchFamily="49" charset="-122"/>
              <a:ea typeface="隶书" pitchFamily="49" charset="-122"/>
            </a:endParaRPr>
          </a:p>
        </p:txBody>
      </p:sp>
    </p:spTree>
    <p:extLst>
      <p:ext uri="{BB962C8B-B14F-4D97-AF65-F5344CB8AC3E}">
        <p14:creationId xmlns:p14="http://schemas.microsoft.com/office/powerpoint/2010/main" val="23049258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8"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p:tgtEl>
                                          <p:spTgt spid="3">
                                            <p:txEl>
                                              <p:pRg st="0" end="0"/>
                                            </p:txEl>
                                          </p:spTgt>
                                        </p:tgtEl>
                                        <p:attrNameLst>
                                          <p:attrName>ppt_x</p:attrName>
                                        </p:attrNameLst>
                                      </p:cBhvr>
                                      <p:tavLst>
                                        <p:tav tm="0">
                                          <p:val>
                                            <p:strVal val="#ppt_x-#ppt_w*1.125000"/>
                                          </p:val>
                                        </p:tav>
                                        <p:tav tm="100000">
                                          <p:val>
                                            <p:strVal val="#ppt_x"/>
                                          </p:val>
                                        </p:tav>
                                      </p:tavLst>
                                    </p:anim>
                                    <p:animEffect transition="in" filter="wipe(right)">
                                      <p:cBhvr>
                                        <p:cTn id="8" dur="500"/>
                                        <p:tgtEl>
                                          <p:spTgt spid="3">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2" presetClass="entr" presetSubtype="2" fill="hold" nodeType="clickEffect">
                                  <p:stCondLst>
                                    <p:cond delay="0"/>
                                  </p:stCondLst>
                                  <p:childTnLst>
                                    <p:set>
                                      <p:cBhvr>
                                        <p:cTn id="12" dur="1" fill="hold">
                                          <p:stCondLst>
                                            <p:cond delay="0"/>
                                          </p:stCondLst>
                                        </p:cTn>
                                        <p:tgtEl>
                                          <p:spTgt spid="4">
                                            <p:txEl>
                                              <p:pRg st="0" end="0"/>
                                            </p:txEl>
                                          </p:spTgt>
                                        </p:tgtEl>
                                        <p:attrNameLst>
                                          <p:attrName>style.visibility</p:attrName>
                                        </p:attrNameLst>
                                      </p:cBhvr>
                                      <p:to>
                                        <p:strVal val="visible"/>
                                      </p:to>
                                    </p:set>
                                    <p:anim calcmode="lin" valueType="num">
                                      <p:cBhvr additive="base">
                                        <p:cTn id="13" dur="500"/>
                                        <p:tgtEl>
                                          <p:spTgt spid="4">
                                            <p:txEl>
                                              <p:pRg st="0" end="0"/>
                                            </p:txEl>
                                          </p:spTgt>
                                        </p:tgtEl>
                                        <p:attrNameLst>
                                          <p:attrName>ppt_x</p:attrName>
                                        </p:attrNameLst>
                                      </p:cBhvr>
                                      <p:tavLst>
                                        <p:tav tm="0">
                                          <p:val>
                                            <p:strVal val="#ppt_x+#ppt_w*1.125000"/>
                                          </p:val>
                                        </p:tav>
                                        <p:tav tm="100000">
                                          <p:val>
                                            <p:strVal val="#ppt_x"/>
                                          </p:val>
                                        </p:tav>
                                      </p:tavLst>
                                    </p:anim>
                                    <p:animEffect transition="in" filter="wipe(left)">
                                      <p:cBhvr>
                                        <p:cTn id="14" dur="500"/>
                                        <p:tgtEl>
                                          <p:spTgt spid="4">
                                            <p:txEl>
                                              <p:pRg st="0" end="0"/>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2" presetClass="entr" presetSubtype="4" fill="hold" nodeType="clickEffect">
                                  <p:stCondLst>
                                    <p:cond delay="0"/>
                                  </p:stCondLst>
                                  <p:childTnLst>
                                    <p:set>
                                      <p:cBhvr>
                                        <p:cTn id="18" dur="1" fill="hold">
                                          <p:stCondLst>
                                            <p:cond delay="0"/>
                                          </p:stCondLst>
                                        </p:cTn>
                                        <p:tgtEl>
                                          <p:spTgt spid="5">
                                            <p:txEl>
                                              <p:pRg st="0" end="0"/>
                                            </p:txEl>
                                          </p:spTgt>
                                        </p:tgtEl>
                                        <p:attrNameLst>
                                          <p:attrName>style.visibility</p:attrName>
                                        </p:attrNameLst>
                                      </p:cBhvr>
                                      <p:to>
                                        <p:strVal val="visible"/>
                                      </p:to>
                                    </p:set>
                                    <p:anim calcmode="lin" valueType="num">
                                      <p:cBhvr additive="base">
                                        <p:cTn id="19" dur="500"/>
                                        <p:tgtEl>
                                          <p:spTgt spid="5">
                                            <p:txEl>
                                              <p:pRg st="0" end="0"/>
                                            </p:txEl>
                                          </p:spTgt>
                                        </p:tgtEl>
                                        <p:attrNameLst>
                                          <p:attrName>ppt_y</p:attrName>
                                        </p:attrNameLst>
                                      </p:cBhvr>
                                      <p:tavLst>
                                        <p:tav tm="0">
                                          <p:val>
                                            <p:strVal val="#ppt_y+#ppt_h*1.125000"/>
                                          </p:val>
                                        </p:tav>
                                        <p:tav tm="100000">
                                          <p:val>
                                            <p:strVal val="#ppt_y"/>
                                          </p:val>
                                        </p:tav>
                                      </p:tavLst>
                                    </p:anim>
                                    <p:animEffect transition="in" filter="wipe(up)">
                                      <p:cBhvr>
                                        <p:cTn id="20" dur="500"/>
                                        <p:tgtEl>
                                          <p:spTgt spid="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信息战</a:t>
            </a:r>
            <a:endParaRPr lang="zh-CN" altLang="en-US" dirty="0"/>
          </a:p>
        </p:txBody>
      </p:sp>
      <p:sp>
        <p:nvSpPr>
          <p:cNvPr id="5" name="内容占位符 4"/>
          <p:cNvSpPr>
            <a:spLocks noGrp="1"/>
          </p:cNvSpPr>
          <p:nvPr>
            <p:ph idx="1"/>
          </p:nvPr>
        </p:nvSpPr>
        <p:spPr/>
        <p:txBody>
          <a:bodyPr/>
          <a:lstStyle/>
          <a:p>
            <a:r>
              <a:rPr lang="zh-CN" altLang="en-US" dirty="0"/>
              <a:t>对信息战和运作的影响</a:t>
            </a:r>
            <a:r>
              <a:rPr lang="en-US" altLang="zh-CN" dirty="0"/>
              <a:t>:</a:t>
            </a:r>
            <a:r>
              <a:rPr lang="zh-CN" altLang="en-US" dirty="0"/>
              <a:t>这是使信息战和运作具有其重要性的关键的两三个趋势之一。</a:t>
            </a:r>
            <a:endParaRPr lang="en-US" altLang="zh-CN" dirty="0"/>
          </a:p>
          <a:p>
            <a:r>
              <a:rPr lang="zh-CN" altLang="en-US" dirty="0"/>
              <a:t>破坏或许并不明目张胆，或者易于发现。</a:t>
            </a:r>
            <a:endParaRPr lang="en-US" altLang="zh-CN" dirty="0"/>
          </a:p>
          <a:p>
            <a:r>
              <a:rPr lang="zh-CN" altLang="en-US" dirty="0"/>
              <a:t>由于生产系统对客户的直接输入日益开放，这就有可能修改电脑控制的机床的程序，以生产略微不合规格的产品</a:t>
            </a:r>
            <a:r>
              <a:rPr lang="en-US" altLang="zh-CN" dirty="0"/>
              <a:t>——</a:t>
            </a:r>
            <a:r>
              <a:rPr lang="zh-CN" altLang="en-US" dirty="0"/>
              <a:t>甚至自行修改规格，这样，产品的差异就永远不会受到注意。</a:t>
            </a:r>
          </a:p>
        </p:txBody>
      </p:sp>
    </p:spTree>
    <p:extLst>
      <p:ext uri="{BB962C8B-B14F-4D97-AF65-F5344CB8AC3E}">
        <p14:creationId xmlns:p14="http://schemas.microsoft.com/office/powerpoint/2010/main" val="34224576"/>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竖排标题 1"/>
          <p:cNvSpPr>
            <a:spLocks noGrp="1"/>
          </p:cNvSpPr>
          <p:nvPr>
            <p:ph type="title" orient="vert"/>
          </p:nvPr>
        </p:nvSpPr>
        <p:spPr/>
        <p:txBody>
          <a:bodyPr/>
          <a:lstStyle/>
          <a:p>
            <a:r>
              <a:rPr lang="zh-CN" altLang="en-US" dirty="0" smtClean="0"/>
              <a:t>网络安全</a:t>
            </a:r>
            <a:endParaRPr lang="zh-CN" altLang="en-US" dirty="0"/>
          </a:p>
        </p:txBody>
      </p:sp>
      <p:sp>
        <p:nvSpPr>
          <p:cNvPr id="3" name="竖排文字占位符 2"/>
          <p:cNvSpPr>
            <a:spLocks noGrp="1"/>
          </p:cNvSpPr>
          <p:nvPr>
            <p:ph type="body" orient="vert" idx="1"/>
          </p:nvPr>
        </p:nvSpPr>
        <p:spPr/>
        <p:txBody>
          <a:bodyPr/>
          <a:lstStyle/>
          <a:p>
            <a:r>
              <a:rPr lang="zh-CN" altLang="en-US" dirty="0"/>
              <a:t>网络安全，通常指计算机网络的安全，实际上也可以指计算机通信网络的安全。</a:t>
            </a:r>
            <a:endParaRPr lang="en-US" altLang="zh-CN" dirty="0"/>
          </a:p>
          <a:p>
            <a:r>
              <a:rPr lang="zh-CN" altLang="en-US" dirty="0"/>
              <a:t>计算机通信网络是将若干台具有独立功能的计算机通过通信设备及传输媒体互连起来，在通信软件的支持下，实现计算机间的信息传输与交换的系统。</a:t>
            </a:r>
            <a:endParaRPr lang="en-US" altLang="zh-CN" dirty="0"/>
          </a:p>
          <a:p>
            <a:r>
              <a:rPr lang="zh-CN" altLang="en-US" dirty="0"/>
              <a:t>而计算机网络是指以共享资源为目的，利用通信手段把地域上相对分散的若干独立的计算机系统、终端设备和数据设备连接起来，并在协议的控制下进行数据交换的系统。</a:t>
            </a:r>
          </a:p>
        </p:txBody>
      </p:sp>
    </p:spTree>
    <p:extLst>
      <p:ext uri="{BB962C8B-B14F-4D97-AF65-F5344CB8AC3E}">
        <p14:creationId xmlns:p14="http://schemas.microsoft.com/office/powerpoint/2010/main" val="393393794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物联网</a:t>
            </a:r>
            <a:endParaRPr lang="zh-CN" altLang="en-US" dirty="0"/>
          </a:p>
        </p:txBody>
      </p:sp>
      <p:sp>
        <p:nvSpPr>
          <p:cNvPr id="3" name="内容占位符 2"/>
          <p:cNvSpPr>
            <a:spLocks noGrp="1"/>
          </p:cNvSpPr>
          <p:nvPr>
            <p:ph idx="1"/>
          </p:nvPr>
        </p:nvSpPr>
        <p:spPr/>
        <p:txBody>
          <a:bodyPr>
            <a:normAutofit/>
          </a:bodyPr>
          <a:lstStyle/>
          <a:p>
            <a:r>
              <a:rPr lang="en-US" altLang="zh-CN" dirty="0"/>
              <a:t>RFID</a:t>
            </a:r>
            <a:r>
              <a:rPr lang="zh-CN" altLang="en-US" dirty="0"/>
              <a:t>意义上的物联网，所依据的</a:t>
            </a:r>
            <a:r>
              <a:rPr lang="en-US" altLang="zh-CN" dirty="0" err="1"/>
              <a:t>EPCglobal</a:t>
            </a:r>
            <a:r>
              <a:rPr lang="zh-CN" altLang="en-US" dirty="0"/>
              <a:t>标准在推出时，即被定义为未来物联网的核心标准，但是该标准及其惟一的方法手段</a:t>
            </a:r>
            <a:r>
              <a:rPr lang="en-US" altLang="zh-CN" dirty="0"/>
              <a:t>RFID</a:t>
            </a:r>
            <a:r>
              <a:rPr lang="zh-CN" altLang="en-US" dirty="0"/>
              <a:t>电子标签所固有的局限性，使它难以真正指向物联网所提倡的智慧星球。</a:t>
            </a:r>
            <a:endParaRPr lang="en-US" altLang="zh-CN" dirty="0"/>
          </a:p>
          <a:p>
            <a:r>
              <a:rPr lang="zh-CN" altLang="en-US" dirty="0"/>
              <a:t>原因在于，物和物之间的联系所能告知人们的信息是非常有限的，而物的状态与状态之间的联系，才能使人们真正挖掘事物之间普遍存在的各种联系，从而获取新的认知，获取新的智慧。</a:t>
            </a:r>
          </a:p>
          <a:p>
            <a:pPr marL="0" indent="0">
              <a:buNone/>
            </a:pPr>
            <a:endParaRPr lang="zh-CN" altLang="en-US" dirty="0"/>
          </a:p>
        </p:txBody>
      </p:sp>
    </p:spTree>
    <p:extLst>
      <p:ext uri="{BB962C8B-B14F-4D97-AF65-F5344CB8AC3E}">
        <p14:creationId xmlns:p14="http://schemas.microsoft.com/office/powerpoint/2010/main" val="3410359098"/>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16</TotalTime>
  <Words>297</Words>
  <Application>Microsoft Office PowerPoint</Application>
  <PresentationFormat>全屏显示(4:3)</PresentationFormat>
  <Paragraphs>15</Paragraphs>
  <Slides>4</Slides>
  <Notes>0</Notes>
  <HiddenSlides>0</HiddenSlides>
  <MMClips>0</MMClips>
  <ScaleCrop>false</ScaleCrop>
  <HeadingPairs>
    <vt:vector size="4" baseType="variant">
      <vt:variant>
        <vt:lpstr>主题</vt:lpstr>
      </vt:variant>
      <vt:variant>
        <vt:i4>1</vt:i4>
      </vt:variant>
      <vt:variant>
        <vt:lpstr>幻灯片标题</vt:lpstr>
      </vt:variant>
      <vt:variant>
        <vt:i4>4</vt:i4>
      </vt:variant>
    </vt:vector>
  </HeadingPairs>
  <TitlesOfParts>
    <vt:vector size="5" baseType="lpstr">
      <vt:lpstr>Office 主题</vt:lpstr>
      <vt:lpstr>网络</vt:lpstr>
      <vt:lpstr>信息战</vt:lpstr>
      <vt:lpstr>网络安全</vt:lpstr>
      <vt:lpstr>物联网</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回乡偶书</dc:title>
  <dc:creator>Administrator</dc:creator>
  <cp:lastModifiedBy>86133</cp:lastModifiedBy>
  <cp:revision>5</cp:revision>
  <dcterms:created xsi:type="dcterms:W3CDTF">2022-05-11T01:16:06Z</dcterms:created>
  <dcterms:modified xsi:type="dcterms:W3CDTF">2022-06-13T05:52:53Z</dcterms:modified>
</cp:coreProperties>
</file>