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96" y="-7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2022/5/19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000" b="1" kern="1200">
          <a:solidFill>
            <a:schemeClr val="tx1"/>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lnSpc>
          <a:spcPct val="100000"/>
        </a:lnSpc>
        <a:spcBef>
          <a:spcPct val="20000"/>
        </a:spcBef>
        <a:buClr>
          <a:srgbClr val="FFFF00"/>
        </a:buClr>
        <a:buFont typeface="Wingdings" panose="05000000000000000000" pitchFamily="2" charset="2"/>
        <a:buChar char="z"/>
        <a:defRPr sz="2000" b="1" kern="1200">
          <a:solidFill>
            <a:schemeClr val="tx1"/>
          </a:solidFill>
          <a:latin typeface="宋体" panose="02010600030101010101" pitchFamily="2" charset="-122"/>
          <a:ea typeface="宋体" panose="02010600030101010101" pitchFamily="2" charset="-122"/>
          <a:cs typeface="+mn-cs"/>
        </a:defRPr>
      </a:lvl1pPr>
      <a:lvl2pPr marL="742950" indent="-285750" algn="l" defTabSz="914400" rtl="0" eaLnBrk="1" latinLnBrk="0" hangingPunct="1">
        <a:lnSpc>
          <a:spcPct val="100000"/>
        </a:lnSpc>
        <a:spcBef>
          <a:spcPct val="20000"/>
        </a:spcBef>
        <a:buClr>
          <a:srgbClr val="FFFF00"/>
        </a:buClr>
        <a:buFont typeface="Wingdings" panose="05000000000000000000" pitchFamily="2" charset="2"/>
        <a:buChar char="z"/>
        <a:defRPr sz="2000" b="1"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100000"/>
        </a:lnSpc>
        <a:spcBef>
          <a:spcPct val="20000"/>
        </a:spcBef>
        <a:buClr>
          <a:srgbClr val="FFFF00"/>
        </a:buClr>
        <a:buFont typeface="Wingdings" panose="05000000000000000000" pitchFamily="2" charset="2"/>
        <a:buChar char="z"/>
        <a:defRPr sz="2000" b="1"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100000"/>
        </a:lnSpc>
        <a:spcBef>
          <a:spcPct val="20000"/>
        </a:spcBef>
        <a:buClr>
          <a:srgbClr val="FFFF00"/>
        </a:buClr>
        <a:buFont typeface="Wingdings" panose="05000000000000000000" pitchFamily="2" charset="2"/>
        <a:buChar char="z"/>
        <a:defRPr sz="2000" b="1"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100000"/>
        </a:lnSpc>
        <a:spcBef>
          <a:spcPct val="20000"/>
        </a:spcBef>
        <a:buClr>
          <a:srgbClr val="FFFF00"/>
        </a:buClr>
        <a:buFont typeface="Wingdings" panose="05000000000000000000" pitchFamily="2" charset="2"/>
        <a:buChar char="z"/>
        <a:defRPr sz="2000" b="1"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a:t>
            </a:r>
            <a:endParaRPr lang="zh-CN" altLang="en-US" dirty="0"/>
          </a:p>
        </p:txBody>
      </p:sp>
      <p:sp>
        <p:nvSpPr>
          <p:cNvPr id="3" name="横卷形 2"/>
          <p:cNvSpPr/>
          <p:nvPr/>
        </p:nvSpPr>
        <p:spPr>
          <a:xfrm>
            <a:off x="2722667" y="1275646"/>
            <a:ext cx="3649532" cy="1440160"/>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000" b="1" dirty="0" smtClean="0">
                <a:solidFill>
                  <a:schemeClr val="tx1"/>
                </a:solidFill>
                <a:latin typeface="宋体" panose="02010600030101010101" pitchFamily="2" charset="-122"/>
                <a:ea typeface="宋体" panose="02010600030101010101" pitchFamily="2" charset="-122"/>
              </a:rPr>
              <a:t>信息战</a:t>
            </a:r>
            <a:endParaRPr lang="zh-CN" altLang="en-US" sz="3000" b="1" dirty="0">
              <a:solidFill>
                <a:schemeClr val="tx1"/>
              </a:solidFill>
              <a:latin typeface="宋体" panose="02010600030101010101" pitchFamily="2" charset="-122"/>
              <a:ea typeface="宋体" panose="02010600030101010101" pitchFamily="2" charset="-122"/>
            </a:endParaRPr>
          </a:p>
        </p:txBody>
      </p:sp>
      <p:sp>
        <p:nvSpPr>
          <p:cNvPr id="4" name="横卷形 3"/>
          <p:cNvSpPr/>
          <p:nvPr/>
        </p:nvSpPr>
        <p:spPr>
          <a:xfrm>
            <a:off x="2722667" y="3102114"/>
            <a:ext cx="3649533" cy="1584176"/>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000" b="1" dirty="0" smtClean="0">
                <a:solidFill>
                  <a:schemeClr val="tx1"/>
                </a:solidFill>
                <a:latin typeface="宋体" panose="02010600030101010101" pitchFamily="2" charset="-122"/>
                <a:ea typeface="宋体" panose="02010600030101010101" pitchFamily="2" charset="-122"/>
              </a:rPr>
              <a:t>网络安全</a:t>
            </a:r>
            <a:endParaRPr lang="zh-CN" altLang="en-US" sz="3000" b="1" dirty="0">
              <a:solidFill>
                <a:schemeClr val="tx1"/>
              </a:solidFill>
              <a:latin typeface="宋体" panose="02010600030101010101" pitchFamily="2" charset="-122"/>
              <a:ea typeface="宋体" panose="02010600030101010101" pitchFamily="2" charset="-122"/>
            </a:endParaRPr>
          </a:p>
        </p:txBody>
      </p:sp>
      <p:sp>
        <p:nvSpPr>
          <p:cNvPr id="5" name="横卷形 4"/>
          <p:cNvSpPr/>
          <p:nvPr/>
        </p:nvSpPr>
        <p:spPr>
          <a:xfrm>
            <a:off x="2722666" y="5056584"/>
            <a:ext cx="3649533" cy="1368152"/>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000" b="1" dirty="0" smtClean="0">
                <a:solidFill>
                  <a:schemeClr val="tx1"/>
                </a:solidFill>
                <a:latin typeface="宋体" panose="02010600030101010101" pitchFamily="2" charset="-122"/>
                <a:ea typeface="宋体" panose="02010600030101010101" pitchFamily="2" charset="-122"/>
              </a:rPr>
              <a:t>物联网</a:t>
            </a:r>
            <a:endParaRPr lang="zh-CN" altLang="en-US" sz="3000" b="1"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04925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信息战</a:t>
            </a:r>
            <a:endParaRPr lang="zh-CN" altLang="en-US" dirty="0"/>
          </a:p>
        </p:txBody>
      </p:sp>
      <p:sp>
        <p:nvSpPr>
          <p:cNvPr id="5" name="内容占位符 4"/>
          <p:cNvSpPr>
            <a:spLocks noGrp="1"/>
          </p:cNvSpPr>
          <p:nvPr>
            <p:ph idx="1"/>
          </p:nvPr>
        </p:nvSpPr>
        <p:spPr/>
        <p:txBody>
          <a:bodyPr/>
          <a:lstStyle/>
          <a:p>
            <a:r>
              <a:rPr lang="zh-CN" altLang="en-US" dirty="0"/>
              <a:t>对信息战和运作的影响</a:t>
            </a:r>
            <a:r>
              <a:rPr lang="en-US" altLang="zh-CN" dirty="0"/>
              <a:t>:</a:t>
            </a:r>
            <a:r>
              <a:rPr lang="zh-CN" altLang="en-US" dirty="0"/>
              <a:t>这是使信息战和运作具有其重要性的关键的两三个趋势之一。</a:t>
            </a:r>
            <a:endParaRPr lang="en-US" altLang="zh-CN" dirty="0"/>
          </a:p>
          <a:p>
            <a:r>
              <a:rPr lang="zh-CN" altLang="en-US" dirty="0"/>
              <a:t>破坏或许并不明目张胆，或者易于发现。</a:t>
            </a:r>
            <a:endParaRPr lang="en-US" altLang="zh-CN" dirty="0"/>
          </a:p>
          <a:p>
            <a:r>
              <a:rPr lang="zh-CN" altLang="en-US" dirty="0"/>
              <a:t>由于生产系统对客户的直接输入日益开放，这就有可能修改电脑控制的机床的程序，以生产略微不合规格的产品</a:t>
            </a:r>
            <a:r>
              <a:rPr lang="en-US" altLang="zh-CN" dirty="0"/>
              <a:t>——</a:t>
            </a:r>
            <a:r>
              <a:rPr lang="zh-CN" altLang="en-US" dirty="0"/>
              <a:t>甚至自行修改规格，这样，产品的差异就永远不会受到注意。</a:t>
            </a:r>
            <a:endParaRPr lang="zh-CN" altLang="en-US" dirty="0"/>
          </a:p>
        </p:txBody>
      </p:sp>
    </p:spTree>
    <p:extLst>
      <p:ext uri="{BB962C8B-B14F-4D97-AF65-F5344CB8AC3E}">
        <p14:creationId xmlns:p14="http://schemas.microsoft.com/office/powerpoint/2010/main" val="34224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竖排标题 1"/>
          <p:cNvSpPr>
            <a:spLocks noGrp="1"/>
          </p:cNvSpPr>
          <p:nvPr>
            <p:ph type="title" orient="vert"/>
          </p:nvPr>
        </p:nvSpPr>
        <p:spPr/>
        <p:txBody>
          <a:bodyPr/>
          <a:lstStyle/>
          <a:p>
            <a:r>
              <a:rPr lang="zh-CN" altLang="en-US" dirty="0" smtClean="0"/>
              <a:t>网络安全</a:t>
            </a:r>
            <a:endParaRPr lang="zh-CN" altLang="en-US" dirty="0"/>
          </a:p>
        </p:txBody>
      </p:sp>
      <p:sp>
        <p:nvSpPr>
          <p:cNvPr id="3" name="竖排文字占位符 2"/>
          <p:cNvSpPr>
            <a:spLocks noGrp="1"/>
          </p:cNvSpPr>
          <p:nvPr>
            <p:ph type="body" orient="vert" idx="1"/>
          </p:nvPr>
        </p:nvSpPr>
        <p:spPr/>
        <p:txBody>
          <a:bodyPr/>
          <a:lstStyle/>
          <a:p>
            <a:r>
              <a:rPr lang="zh-CN" altLang="en-US" dirty="0"/>
              <a:t>网络安全，通常指计算机网络的安全，实际上也可以指计算机通信网络的安全。</a:t>
            </a:r>
            <a:endParaRPr lang="en-US" altLang="zh-CN" dirty="0"/>
          </a:p>
          <a:p>
            <a:r>
              <a:rPr lang="zh-CN" altLang="en-US" dirty="0"/>
              <a:t>计算机通信网络是将若干台具有独立功能的计算机通过通信设备及传输媒体互连起来，在通信软件的支持下，实现计算机间的信息传输与交换的系统。</a:t>
            </a:r>
            <a:endParaRPr lang="en-US" altLang="zh-CN" dirty="0"/>
          </a:p>
          <a:p>
            <a:r>
              <a:rPr lang="zh-CN" altLang="en-US" dirty="0"/>
              <a:t>而计算机网络是指以共享资源为目的，利用通信手段把地域上相对分散的若干独立的计算机系统、终端设备和数据设备连接起来，并在协议的控制下进行数据交换的系统。</a:t>
            </a:r>
            <a:endParaRPr lang="zh-CN" altLang="en-US" dirty="0"/>
          </a:p>
        </p:txBody>
      </p:sp>
    </p:spTree>
    <p:extLst>
      <p:ext uri="{BB962C8B-B14F-4D97-AF65-F5344CB8AC3E}">
        <p14:creationId xmlns:p14="http://schemas.microsoft.com/office/powerpoint/2010/main" val="39339379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物联网</a:t>
            </a:r>
            <a:endParaRPr lang="zh-CN" altLang="en-US" dirty="0"/>
          </a:p>
        </p:txBody>
      </p:sp>
      <p:sp>
        <p:nvSpPr>
          <p:cNvPr id="3" name="内容占位符 2"/>
          <p:cNvSpPr>
            <a:spLocks noGrp="1"/>
          </p:cNvSpPr>
          <p:nvPr>
            <p:ph idx="1"/>
          </p:nvPr>
        </p:nvSpPr>
        <p:spPr/>
        <p:txBody>
          <a:bodyPr>
            <a:normAutofit/>
          </a:bodyPr>
          <a:lstStyle/>
          <a:p>
            <a:r>
              <a:rPr lang="en-US" altLang="zh-CN" dirty="0"/>
              <a:t>RFID</a:t>
            </a:r>
            <a:r>
              <a:rPr lang="zh-CN" altLang="en-US" dirty="0"/>
              <a:t>意义上的物联网，所依据的</a:t>
            </a:r>
            <a:r>
              <a:rPr lang="en-US" altLang="zh-CN" dirty="0" err="1"/>
              <a:t>EPCglobal</a:t>
            </a:r>
            <a:r>
              <a:rPr lang="zh-CN" altLang="en-US" dirty="0"/>
              <a:t>标准在推出时，即被定义为未来物联网的核心标准，但是该标准及其惟一的方法手段</a:t>
            </a:r>
            <a:r>
              <a:rPr lang="en-US" altLang="zh-CN" dirty="0"/>
              <a:t>RFID</a:t>
            </a:r>
            <a:r>
              <a:rPr lang="zh-CN" altLang="en-US" dirty="0"/>
              <a:t>电子标签所固有的局限性，使它难以真正指向物联网所提倡的智慧星球。</a:t>
            </a:r>
            <a:endParaRPr lang="en-US" altLang="zh-CN" dirty="0"/>
          </a:p>
          <a:p>
            <a:r>
              <a:rPr lang="zh-CN" altLang="en-US" dirty="0"/>
              <a:t>原因在于，物和物之间的联系所能告知人们的信息是非常有限的，而物的状态与状态之间的联系，才能使人们真正挖掘事物之间普遍存在的各种联系，从而获取新的认知，获取新的智慧。</a:t>
            </a:r>
          </a:p>
          <a:p>
            <a:pPr marL="0" indent="0">
              <a:buNone/>
            </a:pPr>
            <a:endParaRPr lang="zh-CN" altLang="en-US" dirty="0"/>
          </a:p>
        </p:txBody>
      </p:sp>
    </p:spTree>
    <p:extLst>
      <p:ext uri="{BB962C8B-B14F-4D97-AF65-F5344CB8AC3E}">
        <p14:creationId xmlns:p14="http://schemas.microsoft.com/office/powerpoint/2010/main" val="3410359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297</Words>
  <Application>Microsoft Office PowerPoint</Application>
  <PresentationFormat>全屏显示(4:3)</PresentationFormat>
  <Paragraphs>15</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Office 主题</vt:lpstr>
      <vt:lpstr>网络</vt:lpstr>
      <vt:lpstr>信息战</vt:lpstr>
      <vt:lpstr>网络安全</vt:lpstr>
      <vt:lpstr>物联网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回乡偶书</dc:title>
  <dc:creator>Administrator</dc:creator>
  <cp:lastModifiedBy>User</cp:lastModifiedBy>
  <cp:revision>4</cp:revision>
  <dcterms:created xsi:type="dcterms:W3CDTF">2022-05-11T01:16:06Z</dcterms:created>
  <dcterms:modified xsi:type="dcterms:W3CDTF">2022-05-19T10:00:30Z</dcterms:modified>
</cp:coreProperties>
</file>