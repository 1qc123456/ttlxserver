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08" d="100"/>
          <a:sy n="108" d="100"/>
        </p:scale>
        <p:origin x="-1752" y="-84"/>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单击此处编辑母版副标题样式</a:t>
            </a:r>
            <a:endParaRPr kumimoji="0" lang="en-US"/>
          </a:p>
        </p:txBody>
      </p:sp>
      <p:grpSp>
        <p:nvGrpSpPr>
          <p:cNvPr id="2" name="组合 1"/>
          <p:cNvGrpSpPr/>
          <p:nvPr/>
        </p:nvGrpSpPr>
        <p:grpSpPr>
          <a:xfrm>
            <a:off x="-3765" y="4953000"/>
            <a:ext cx="9147765" cy="1912088"/>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530820CF-B880-4189-942D-D702A7CBA730}" type="datetimeFigureOut">
              <a:rPr lang="zh-CN" altLang="en-US" smtClean="0"/>
              <a:t>2022-01-12</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7" name="标题 6"/>
          <p:cNvSpPr>
            <a:spLocks noGrp="1"/>
          </p:cNvSpPr>
          <p:nvPr>
            <p:ph type="title"/>
          </p:nvPr>
        </p:nvSpPr>
        <p:spPr/>
        <p:txBody>
          <a:bodyPr rtlCol="0"/>
          <a:lstStyle>
            <a:extLst/>
          </a:lstStyle>
          <a:p>
            <a:r>
              <a:rPr kumimoji="0" lang="zh-CN" altLang="en-US" smtClean="0"/>
              <a:t>单击此处编辑母版标题样式</a:t>
            </a:r>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6" name="页脚占位符 5"/>
          <p:cNvSpPr>
            <a:spLocks noGrp="1"/>
          </p:cNvSpPr>
          <p:nvPr>
            <p:ph type="ftr" sz="quarter" idx="11"/>
          </p:nvPr>
        </p:nvSpPr>
        <p:spPr/>
        <p:txBody>
          <a:bodyPr/>
          <a:lstStyle>
            <a:extLst/>
          </a:lstStyle>
          <a:p>
            <a:endParaRPr lang="zh-CN" altLang="en-US"/>
          </a:p>
        </p:txBody>
      </p:sp>
      <p:sp>
        <p:nvSpPr>
          <p:cNvPr id="7" name="灯片编号占位符 6"/>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8" name="标题 7"/>
          <p:cNvSpPr>
            <a:spLocks noGrp="1"/>
          </p:cNvSpPr>
          <p:nvPr>
            <p:ph type="title"/>
          </p:nvPr>
        </p:nvSpPr>
        <p:spPr/>
        <p:txBody>
          <a:bodyPr rtlCol="0"/>
          <a:lstStyle>
            <a:extLst/>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8" name="页脚占位符 7"/>
          <p:cNvSpPr>
            <a:spLocks noGrp="1"/>
          </p:cNvSpPr>
          <p:nvPr>
            <p:ph type="ftr" sz="quarter" idx="11"/>
          </p:nvPr>
        </p:nvSpPr>
        <p:spPr/>
        <p:txBody>
          <a:bodyPr/>
          <a:lstStyle>
            <a:extLst/>
          </a:lstStyle>
          <a:p>
            <a:endParaRPr lang="zh-CN" altLang="en-US"/>
          </a:p>
        </p:txBody>
      </p:sp>
      <p:sp>
        <p:nvSpPr>
          <p:cNvPr id="9" name="灯片编号占位符 8"/>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4" name="页脚占位符 3"/>
          <p:cNvSpPr>
            <a:spLocks noGrp="1"/>
          </p:cNvSpPr>
          <p:nvPr>
            <p:ph type="ftr" sz="quarter" idx="11"/>
          </p:nvPr>
        </p:nvSpPr>
        <p:spPr/>
        <p:txBody>
          <a:bodyPr/>
          <a:lstStyle>
            <a:extLst/>
          </a:lstStyle>
          <a:p>
            <a:endParaRPr lang="zh-CN" altLang="en-US"/>
          </a:p>
        </p:txBody>
      </p:sp>
      <p:sp>
        <p:nvSpPr>
          <p:cNvPr id="5" name="灯片编号占位符 4"/>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
        <p:nvSpPr>
          <p:cNvPr id="6" name="标题 5"/>
          <p:cNvSpPr>
            <a:spLocks noGrp="1"/>
          </p:cNvSpPr>
          <p:nvPr>
            <p:ph type="title"/>
          </p:nvPr>
        </p:nvSpPr>
        <p:spPr/>
        <p:txBody>
          <a:bodyPr rtlCol="0"/>
          <a:lstStyle>
            <a:extLst/>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3" name="页脚占位符 2"/>
          <p:cNvSpPr>
            <a:spLocks noGrp="1"/>
          </p:cNvSpPr>
          <p:nvPr>
            <p:ph type="ftr" sz="quarter" idx="11"/>
          </p:nvPr>
        </p:nvSpPr>
        <p:spPr/>
        <p:txBody>
          <a:bodyPr/>
          <a:lstStyle>
            <a:extLst/>
          </a:lstStyle>
          <a:p>
            <a:endParaRPr lang="zh-CN" altLang="en-US"/>
          </a:p>
        </p:txBody>
      </p:sp>
      <p:sp>
        <p:nvSpPr>
          <p:cNvPr id="4" name="灯片编号占位符 3"/>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extLst/>
          </a:lstStyle>
          <a:p>
            <a:fld id="{530820CF-B880-4189-942D-D702A7CBA730}" type="datetimeFigureOut">
              <a:rPr lang="zh-CN" altLang="en-US" smtClean="0"/>
              <a:t>2022-01-12</a:t>
            </a:fld>
            <a:endParaRPr lang="zh-CN" altLang="en-US"/>
          </a:p>
        </p:txBody>
      </p:sp>
      <p:sp>
        <p:nvSpPr>
          <p:cNvPr id="6" name="页脚占位符 5"/>
          <p:cNvSpPr>
            <a:spLocks noGrp="1"/>
          </p:cNvSpPr>
          <p:nvPr>
            <p:ph type="ftr" sz="quarter" idx="11"/>
          </p:nvPr>
        </p:nvSpPr>
        <p:spPr/>
        <p:txBody>
          <a:bodyPr/>
          <a:lstStyle>
            <a:extLst/>
          </a:lstStyle>
          <a:p>
            <a:endParaRPr lang="zh-CN" altLang="en-US"/>
          </a:p>
        </p:txBody>
      </p:sp>
      <p:sp>
        <p:nvSpPr>
          <p:cNvPr id="7" name="灯片编号占位符 6"/>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extLst/>
          </a:lstStyle>
          <a:p>
            <a:fld id="{530820CF-B880-4189-942D-D702A7CBA730}" type="datetimeFigureOut">
              <a:rPr lang="zh-CN" altLang="en-US" smtClean="0"/>
              <a:t>2022-01-12</a:t>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extLst/>
          </a:lstStyle>
          <a:p>
            <a:fld id="{0C913308-F349-4B6D-A68A-DD1791B4A57B}" type="slidenum">
              <a:rPr lang="zh-CN" altLang="en-US" smtClean="0"/>
              <a:t>‹#›</a:t>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zh-CN" altLang="en-US" smtClean="0"/>
              <a:t>单击此处编辑母版标题样式</a:t>
            </a:r>
            <a:endParaRPr kumimoji="0" lang="en-US"/>
          </a:p>
        </p:txBody>
      </p:sp>
      <p:sp>
        <p:nvSpPr>
          <p:cNvPr id="8" name="任意多边形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任意多边形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直角三角形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extLst/>
          </a:lstStyle>
          <a:p>
            <a:fld id="{530820CF-B880-4189-942D-D702A7CBA730}" type="datetimeFigureOut">
              <a:rPr lang="zh-CN" altLang="en-US" smtClean="0"/>
              <a:t>2022-01-12</a:t>
            </a:fld>
            <a:endParaRPr lang="zh-CN" altLang="en-US"/>
          </a:p>
        </p:txBody>
      </p:sp>
      <p:sp>
        <p:nvSpPr>
          <p:cNvPr id="5" name="页脚占位符 4"/>
          <p:cNvSpPr>
            <a:spLocks noGrp="1"/>
          </p:cNvSpPr>
          <p:nvPr>
            <p:ph type="ftr" sz="quarter" idx="11"/>
          </p:nvPr>
        </p:nvSpPr>
        <p:spPr/>
        <p:txBody>
          <a:bodyPr/>
          <a:lstStyle>
            <a:extLst/>
          </a:lstStyle>
          <a:p>
            <a:endParaRPr lang="zh-CN" altLang="en-US"/>
          </a:p>
        </p:txBody>
      </p:sp>
      <p:sp>
        <p:nvSpPr>
          <p:cNvPr id="6" name="灯片编号占位符 5"/>
          <p:cNvSpPr>
            <a:spLocks noGrp="1"/>
          </p:cNvSpPr>
          <p:nvPr>
            <p:ph type="sldNum" sz="quarter" idx="12"/>
          </p:nvPr>
        </p:nvSpPr>
        <p:spPr/>
        <p:txBody>
          <a:bodyPr/>
          <a:lstStyle>
            <a:extLst/>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任意多边形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直角三角形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直接连接符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530820CF-B880-4189-942D-D702A7CBA730}" type="datetimeFigureOut">
              <a:rPr lang="zh-CN" altLang="en-US" smtClean="0"/>
              <a:t>2022-01-12</a:t>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aike.baidu.com/item/%E4%BA%BA%E7%B1%BB%E6%99%BA%E8%83%BD/2287229" TargetMode="External"/><Relationship Id="rId7" Type="http://schemas.openxmlformats.org/officeDocument/2006/relationships/image" Target="../media/image2.jpeg"/><Relationship Id="rId2" Type="http://schemas.openxmlformats.org/officeDocument/2006/relationships/hyperlink" Target="https://baike.baidu.com/item/%E8%AE%A1%E7%AE%97%E6%9C%BA" TargetMode="External"/><Relationship Id="rId1" Type="http://schemas.openxmlformats.org/officeDocument/2006/relationships/slideLayout" Target="../slideLayouts/slideLayout4.xml"/><Relationship Id="rId6" Type="http://schemas.openxmlformats.org/officeDocument/2006/relationships/hyperlink" Target="https://baike.baidu.com/item/%E6%96%B0%E4%B8%80%E4%BB%A3%E4%BA%BA%E5%B7%A5%E6%99%BA%E8%83%BD%E4%BC%A6%E7%90%86%E8%A7%84%E8%8C%83/58655047" TargetMode="External"/><Relationship Id="rId5" Type="http://schemas.openxmlformats.org/officeDocument/2006/relationships/hyperlink" Target="https://baike.baidu.com/item/%E6%99%BA%E6%85%A7/129438" TargetMode="External"/><Relationship Id="rId4" Type="http://schemas.openxmlformats.org/officeDocument/2006/relationships/hyperlink" Target="https://baike.baidu.com/item/%E4%B8%93%E5%AE%B6%E7%B3%BB%E7%BB%9F/26781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5000" dirty="0"/>
              <a:t>人工智能</a:t>
            </a:r>
          </a:p>
        </p:txBody>
      </p:sp>
      <p:sp>
        <p:nvSpPr>
          <p:cNvPr id="3" name="副标题 2"/>
          <p:cNvSpPr>
            <a:spLocks noGrp="1"/>
          </p:cNvSpPr>
          <p:nvPr>
            <p:ph type="subTitle" idx="1"/>
          </p:nvPr>
        </p:nvSpPr>
        <p:spPr/>
        <p:txBody>
          <a:bodyPr/>
          <a:lstStyle/>
          <a:p>
            <a:r>
              <a:rPr lang="en-US" altLang="zh-CN" sz="3000" dirty="0" smtClean="0"/>
              <a:t>AI</a:t>
            </a:r>
            <a:endParaRPr lang="zh-CN" altLang="en-US" sz="3000" dirty="0"/>
          </a:p>
        </p:txBody>
      </p:sp>
    </p:spTree>
    <p:extLst>
      <p:ext uri="{BB962C8B-B14F-4D97-AF65-F5344CB8AC3E}">
        <p14:creationId xmlns:p14="http://schemas.microsoft.com/office/powerpoint/2010/main" val="5284479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normAutofit fontScale="47500" lnSpcReduction="20000"/>
          </a:bodyPr>
          <a:lstStyle/>
          <a:p>
            <a:pPr>
              <a:lnSpc>
                <a:spcPct val="120000"/>
              </a:lnSpc>
            </a:pPr>
            <a:r>
              <a:rPr lang="zh-CN" altLang="en-US" dirty="0"/>
              <a:t>人工智能是</a:t>
            </a:r>
            <a:r>
              <a:rPr lang="zh-CN" altLang="en-US" dirty="0">
                <a:hlinkClick r:id="rId2"/>
              </a:rPr>
              <a:t>计算机</a:t>
            </a:r>
            <a:r>
              <a:rPr lang="zh-CN" altLang="en-US" dirty="0"/>
              <a:t>科学的一个分支，它企图了解智能的实质，并生产出一种新的能以</a:t>
            </a:r>
            <a:r>
              <a:rPr lang="zh-CN" altLang="en-US" dirty="0">
                <a:hlinkClick r:id="rId3"/>
              </a:rPr>
              <a:t>人类智能</a:t>
            </a:r>
            <a:r>
              <a:rPr lang="zh-CN" altLang="en-US" dirty="0"/>
              <a:t>相似的方式做出反应的智能机器，该领域的研究包括机器人、语言识别、图像识别、自然语言处理和</a:t>
            </a:r>
            <a:r>
              <a:rPr lang="zh-CN" altLang="en-US" dirty="0">
                <a:hlinkClick r:id="rId4"/>
              </a:rPr>
              <a:t>专家系统</a:t>
            </a:r>
            <a:r>
              <a:rPr lang="zh-CN" altLang="en-US" dirty="0"/>
              <a:t>等。人工智能从诞生以来，理论和技术日益成熟，应用领域也不断扩大，可以设想，未来人工智能带来的科技产品，将会是人类</a:t>
            </a:r>
            <a:r>
              <a:rPr lang="zh-CN" altLang="en-US" dirty="0">
                <a:hlinkClick r:id="rId5"/>
              </a:rPr>
              <a:t>智慧</a:t>
            </a:r>
            <a:r>
              <a:rPr lang="zh-CN" altLang="en-US" dirty="0"/>
              <a:t>的“容器”。人工智能可以对人的意识、思维的信息过程的模拟。人工智能不是人的智能，但能像人那样思考、也可能超过人的智能。</a:t>
            </a:r>
          </a:p>
          <a:p>
            <a:pPr>
              <a:lnSpc>
                <a:spcPct val="120000"/>
              </a:lnSpc>
            </a:pPr>
            <a:r>
              <a:rPr lang="zh-CN" altLang="en-US" dirty="0"/>
              <a:t>人工智能是一门极富挑战性的科学，从事这项工作的人必须懂得计算机知识，心理学和哲学。人工智能是包括十分广泛的科学，它由不同的领域组成，如机器学习，计算机视觉等等，总的说来，人工智能研究的一个主要目标是使机器能够胜任一些通常需要人类智能才能完成的复杂工作。但不同的时代、不同的人对这种“复杂工作”的理解是不同</a:t>
            </a:r>
            <a:r>
              <a:rPr lang="zh-CN" altLang="en-US" dirty="0" smtClean="0"/>
              <a:t>的</a:t>
            </a:r>
            <a:r>
              <a:rPr lang="zh-CN" altLang="en-US" dirty="0"/>
              <a:t>。 </a:t>
            </a:r>
            <a:r>
              <a:rPr lang="en-US" altLang="zh-CN" dirty="0"/>
              <a:t>2017</a:t>
            </a:r>
            <a:r>
              <a:rPr lang="zh-CN" altLang="en-US" dirty="0"/>
              <a:t>年</a:t>
            </a:r>
            <a:r>
              <a:rPr lang="en-US" altLang="zh-CN" dirty="0"/>
              <a:t>12</a:t>
            </a:r>
            <a:r>
              <a:rPr lang="zh-CN" altLang="en-US" dirty="0"/>
              <a:t>月，人工智能入选“</a:t>
            </a:r>
            <a:r>
              <a:rPr lang="en-US" altLang="zh-CN" dirty="0"/>
              <a:t>2017</a:t>
            </a:r>
            <a:r>
              <a:rPr lang="zh-CN" altLang="en-US" dirty="0"/>
              <a:t>年度中国媒体十大流行语”</a:t>
            </a:r>
            <a:r>
              <a:rPr lang="zh-CN" altLang="en-US" dirty="0" smtClean="0"/>
              <a:t>。</a:t>
            </a:r>
            <a:r>
              <a:rPr lang="en-US" altLang="zh-CN" dirty="0" smtClean="0"/>
              <a:t>2021</a:t>
            </a:r>
            <a:r>
              <a:rPr lang="zh-CN" altLang="en-US" dirty="0"/>
              <a:t>年</a:t>
            </a:r>
            <a:r>
              <a:rPr lang="en-US" altLang="zh-CN" dirty="0"/>
              <a:t>9</a:t>
            </a:r>
            <a:r>
              <a:rPr lang="zh-CN" altLang="en-US" dirty="0"/>
              <a:t>月</a:t>
            </a:r>
            <a:r>
              <a:rPr lang="en-US" altLang="zh-CN" dirty="0"/>
              <a:t>25</a:t>
            </a:r>
            <a:r>
              <a:rPr lang="zh-CN" altLang="en-US" dirty="0"/>
              <a:t>日，为促进人工智能健康发展，</a:t>
            </a:r>
            <a:r>
              <a:rPr lang="en-US" altLang="zh-CN" dirty="0"/>
              <a:t>《</a:t>
            </a:r>
            <a:r>
              <a:rPr lang="zh-CN" altLang="en-US" dirty="0">
                <a:hlinkClick r:id="rId6"/>
              </a:rPr>
              <a:t>新一代人工智能伦理规范</a:t>
            </a:r>
            <a:r>
              <a:rPr lang="en-US" altLang="zh-CN" dirty="0"/>
              <a:t>》</a:t>
            </a:r>
            <a:r>
              <a:rPr lang="zh-CN" altLang="en-US" dirty="0"/>
              <a:t>发布。</a:t>
            </a:r>
          </a:p>
          <a:p>
            <a:endParaRPr lang="zh-CN" altLang="en-US" dirty="0"/>
          </a:p>
        </p:txBody>
      </p:sp>
      <p:pic>
        <p:nvPicPr>
          <p:cNvPr id="6" name="内容占位符 6"/>
          <p:cNvPicPr>
            <a:picLocks noGrp="1" noChangeAspect="1"/>
          </p:cNvPicPr>
          <p:nvPr>
            <p:ph sz="half" idx="2"/>
          </p:nvPr>
        </p:nvPicPr>
        <p:blipFill>
          <a:blip r:embed="rId7" cstate="print">
            <a:extLst>
              <a:ext uri="{28A0092B-C50C-407E-A947-70E740481C1C}">
                <a14:useLocalDpi xmlns:a14="http://schemas.microsoft.com/office/drawing/2010/main" val="0"/>
              </a:ext>
            </a:extLst>
          </a:blip>
          <a:stretch>
            <a:fillRect/>
          </a:stretch>
        </p:blipFill>
        <p:spPr>
          <a:xfrm>
            <a:off x="4644008" y="1628800"/>
            <a:ext cx="4038600" cy="3142535"/>
          </a:xfrm>
          <a:prstGeom prst="rect">
            <a:avLst/>
          </a:prstGeom>
        </p:spPr>
      </p:pic>
      <p:sp>
        <p:nvSpPr>
          <p:cNvPr id="2" name="标题 1"/>
          <p:cNvSpPr>
            <a:spLocks noGrp="1"/>
          </p:cNvSpPr>
          <p:nvPr>
            <p:ph type="title"/>
          </p:nvPr>
        </p:nvSpPr>
        <p:spPr/>
        <p:txBody>
          <a:bodyPr/>
          <a:lstStyle/>
          <a:p>
            <a:r>
              <a:rPr lang="zh-CN" altLang="zh-CN" dirty="0"/>
              <a:t>人工智能的介绍</a:t>
            </a:r>
            <a:endParaRPr lang="zh-CN" altLang="en-US" dirty="0"/>
          </a:p>
        </p:txBody>
      </p:sp>
    </p:spTree>
    <p:extLst>
      <p:ext uri="{BB962C8B-B14F-4D97-AF65-F5344CB8AC3E}">
        <p14:creationId xmlns:p14="http://schemas.microsoft.com/office/powerpoint/2010/main" val="33908153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outHorizont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barn(outHorizontal)">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35400" y="2967335"/>
            <a:ext cx="7473200" cy="923330"/>
          </a:xfrm>
          <a:prstGeom prst="rect">
            <a:avLst/>
          </a:prstGeom>
          <a:noFill/>
        </p:spPr>
        <p:txBody>
          <a:bodyPr wrap="none" lIns="91440" tIns="45720" rIns="91440" bIns="45720">
            <a:prstTxWarp prst="textChevron">
              <a:avLst/>
            </a:prstTxWarp>
            <a:spAutoFit/>
          </a:bodyPr>
          <a:lstStyle/>
          <a:p>
            <a:pPr algn="ctr"/>
            <a:r>
              <a:rPr lang="en-US" altLang="zh-CN"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ARTIFICIAL INTELLIGENCE</a:t>
            </a:r>
            <a:endParaRPr lang="zh-CN" alt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val="31906539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65</TotalTime>
  <Words>214</Words>
  <Application>Microsoft Office PowerPoint</Application>
  <PresentationFormat>全屏显示(4:3)</PresentationFormat>
  <Paragraphs>6</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聚合</vt:lpstr>
      <vt:lpstr>人工智能</vt:lpstr>
      <vt:lpstr>人工智能的介绍</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lipp</cp:lastModifiedBy>
  <cp:revision>54</cp:revision>
  <dcterms:created xsi:type="dcterms:W3CDTF">2021-12-06T06:35:47Z</dcterms:created>
  <dcterms:modified xsi:type="dcterms:W3CDTF">2022-01-12T03:56:08Z</dcterms:modified>
</cp:coreProperties>
</file>