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60" r:id="rId5"/>
    <p:sldId id="261" r:id="rId6"/>
    <p:sldId id="258" r:id="rId7"/>
    <p:sldId id="259" r:id="rId8"/>
    <p:sldId id="263" r:id="rId9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76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77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6FAC1-0A7D-4412-907A-E6BAAE723D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02301-21AA-48D8-A074-6B84EB097E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2464B-142D-4E3D-A6A4-89B51D4948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4A207-68CA-45E5-B269-9FB94919A76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  <p:sp>
        <p:nvSpPr>
          <p:cNvPr id="5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E01C0-99DF-4CCB-86F5-8AED0AF375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2" name="chimes.wav"/>
          </p:stSnd>
        </p:sndAc>
      </p:transition>
    </mc:Choice>
    <mc:Fallback>
      <p:transition spd="slow">
        <p:pull dir="ld"/>
        <p:sndAc>
          <p:stSnd>
            <p:snd r:embed="rId2" name="chimes.wav"/>
          </p:stSnd>
        </p:sndAc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Clr>
                <a:srgbClr val="FFC000"/>
              </a:buClr>
              <a:buFontTx/>
              <a:buNone/>
              <a:defRPr/>
            </a:lvl1pPr>
            <a:lvl2pPr marL="457200" indent="0">
              <a:buClr>
                <a:srgbClr val="FFC000"/>
              </a:buClr>
              <a:buFontTx/>
              <a:buNone/>
              <a:defRPr/>
            </a:lvl2pPr>
            <a:lvl3pPr marL="914400" indent="0">
              <a:buClr>
                <a:srgbClr val="FFC000"/>
              </a:buClr>
              <a:buFontTx/>
              <a:buNone/>
              <a:defRPr/>
            </a:lvl3pPr>
            <a:lvl4pPr marL="1371600" indent="0">
              <a:buClr>
                <a:srgbClr val="FFC000"/>
              </a:buClr>
              <a:buFontTx/>
              <a:buNone/>
              <a:defRPr/>
            </a:lvl4pPr>
            <a:lvl5pPr marL="1828800" indent="0">
              <a:buClr>
                <a:srgbClr val="FFC000"/>
              </a:buClr>
              <a:buFontTx/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D6346-40FA-4E87-BF63-2D8646DCAE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2" name="chimes.wav"/>
          </p:stSnd>
        </p:sndAc>
      </p:transition>
    </mc:Choice>
    <mc:Fallback>
      <p:transition spd="slow">
        <p:pull dir="ld"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reeform 2"/>
          <p:cNvSpPr/>
          <p:nvPr/>
        </p:nvSpPr>
        <p:spPr bwMode="hidden">
          <a:xfrm>
            <a:off x="6627813" y="6429375"/>
            <a:ext cx="285750" cy="209550"/>
          </a:xfrm>
          <a:custGeom>
            <a:avLst/>
            <a:gdLst/>
            <a:ahLst/>
            <a:cxnLst>
              <a:cxn ang="0">
                <a:pos x="0" y="132"/>
              </a:cxn>
              <a:cxn ang="0">
                <a:pos x="29" y="132"/>
              </a:cxn>
              <a:cxn ang="0">
                <a:pos x="77" y="108"/>
              </a:cxn>
              <a:cxn ang="0">
                <a:pos x="119" y="78"/>
              </a:cxn>
              <a:cxn ang="0">
                <a:pos x="155" y="48"/>
              </a:cxn>
              <a:cxn ang="0">
                <a:pos x="179" y="12"/>
              </a:cxn>
              <a:cxn ang="0">
                <a:pos x="173" y="6"/>
              </a:cxn>
              <a:cxn ang="0">
                <a:pos x="167" y="0"/>
              </a:cxn>
              <a:cxn ang="0">
                <a:pos x="137" y="42"/>
              </a:cxn>
              <a:cxn ang="0">
                <a:pos x="101" y="78"/>
              </a:cxn>
              <a:cxn ang="0">
                <a:pos x="53" y="108"/>
              </a:cxn>
              <a:cxn ang="0">
                <a:pos x="0" y="132"/>
              </a:cxn>
              <a:cxn ang="0">
                <a:pos x="0" y="132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027" name="Group 3"/>
          <p:cNvGrpSpPr/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20484" name="Freeform 4"/>
            <p:cNvSpPr/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4" name="Group 5"/>
            <p:cNvGrpSpPr/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0486" name="Oval 6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7" name="Oval 7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8" name="Oval 8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9" name="Oval 9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0" name="Oval 10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1" name="Freeform 11"/>
              <p:cNvSpPr/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2" name="Freeform 12"/>
              <p:cNvSpPr/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3" name="Freeform 13"/>
              <p:cNvSpPr/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4" name="Freeform 14"/>
              <p:cNvSpPr/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5" name="Freeform 15"/>
              <p:cNvSpPr/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6" name="Oval 16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5" name="Group 17"/>
            <p:cNvGrpSpPr/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0498" name="Oval 18"/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9" name="Oval 19"/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0" name="Oval 20"/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1" name="Oval 21"/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2" name="Oval 22"/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3" name="Oval 23"/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4" name="Oval 24"/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5" name="Oval 25"/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6" name="Freeform 26"/>
              <p:cNvSpPr/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7" name="Freeform 27"/>
              <p:cNvSpPr/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8" name="Freeform 28"/>
              <p:cNvSpPr/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9" name="Freeform 29"/>
              <p:cNvSpPr/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0" name="Freeform 30"/>
              <p:cNvSpPr/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1" name="Freeform 31"/>
              <p:cNvSpPr/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2" name="Freeform 32"/>
              <p:cNvSpPr/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3" name="Freeform 33"/>
              <p:cNvSpPr/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4" name="Freeform 34"/>
              <p:cNvSpPr/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5" name="Freeform 35"/>
              <p:cNvSpPr/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6" name="Group 36"/>
            <p:cNvGrpSpPr/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0517" name="Freeform 37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8" name="Freeform 38"/>
              <p:cNvSpPr/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9" name="Freeform 39"/>
              <p:cNvSpPr/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0" name="Freeform 40"/>
              <p:cNvSpPr/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1" name="Freeform 41"/>
              <p:cNvSpPr/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2" name="Freeform 42"/>
              <p:cNvSpPr/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3" name="Freeform 43"/>
              <p:cNvSpPr/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4" name="Freeform 44"/>
              <p:cNvSpPr/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5" name="Freeform 45"/>
              <p:cNvSpPr/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6" name="Freeform 46"/>
              <p:cNvSpPr/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7" name="Freeform 47"/>
              <p:cNvSpPr/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8" name="Oval 48"/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9" name="Oval 49"/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0" name="Oval 50"/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1" name="Oval 51"/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2" name="Oval 52"/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3" name="Oval 53"/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7" name="Group 54"/>
            <p:cNvGrpSpPr/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20535" name="Freeform 55"/>
              <p:cNvSpPr/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6" name="Freeform 56"/>
              <p:cNvSpPr/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7" name="Freeform 57"/>
              <p:cNvSpPr/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8" name="Freeform 58"/>
              <p:cNvSpPr/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9" name="Freeform 59"/>
              <p:cNvSpPr/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40" name="Freeform 60"/>
              <p:cNvSpPr/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41" name="Freeform 61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045" name="Group 62"/>
              <p:cNvGrpSpPr/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20543" name="Oval 63"/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4" name="Oval 64"/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5" name="Oval 65"/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6" name="Oval 66"/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</p:grpSp>
      </p:grpSp>
      <p:sp>
        <p:nvSpPr>
          <p:cNvPr id="20547" name="Rectangle 6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20548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9" name="Rectangle 6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0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  <p:sp>
        <p:nvSpPr>
          <p:cNvPr id="20551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E043865B-5BAD-41AD-BB4F-9506EC52FD94}" type="slidenum">
              <a:rPr lang="en-US" altLang="zh-CN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3" name="chimes.wav"/>
          </p:stSnd>
        </p:sndAc>
      </p:transition>
    </mc:Choice>
    <mc:Fallback>
      <p:transition spd="slow">
        <p:pull dir="ld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8" grpId="0" build="p">
        <p:tmplLst>
          <p:tmpl lvl="1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anose="05000000000000000000" pitchFamily="2" charset="2"/>
        <a:buChar char="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anose="05000000000000000000" pitchFamily="2" charset="2"/>
        <a:buChar char="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anose="05000000000000000000" pitchFamily="2" charset="2"/>
        <a:buChar char="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anose="05000000000000000000" pitchFamily="2" charset="2"/>
        <a:buChar char="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anose="05000000000000000000" pitchFamily="2" charset="2"/>
        <a:buChar char="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7200" dirty="0" smtClean="0">
                <a:solidFill>
                  <a:srgbClr val="92D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关于水   你知道多少</a:t>
            </a:r>
            <a:endParaRPr lang="zh-CN" altLang="en-US" sz="7200" dirty="0" smtClean="0">
              <a:solidFill>
                <a:srgbClr val="92D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1" name="chimes.wav"/>
          </p:stSnd>
        </p:sndAc>
      </p:transition>
    </mc:Choice>
    <mc:Fallback>
      <p:transition spd="slow">
        <p:pull dir="ld"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可利用的水资源</a:t>
            </a:r>
            <a:endParaRPr lang="zh-CN" altLang="en-US" smtClean="0"/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地球上的水资源，从广义来说是指水圈内水量的总体。 </a:t>
            </a:r>
            <a:endParaRPr lang="zh-CN" altLang="en-US" dirty="0" smtClean="0"/>
          </a:p>
        </p:txBody>
      </p:sp>
      <p:pic>
        <p:nvPicPr>
          <p:cNvPr id="1026" name="Picture 2" descr="C:\Users\Administrator\Desktop\20100709_9a958ab4847de6169f9cHKRh2WqoB1L8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224598"/>
            <a:ext cx="4953000" cy="359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2" name="chimes.wav"/>
          </p:stSnd>
        </p:sndAc>
      </p:transition>
    </mc:Choice>
    <mc:Fallback>
      <p:transition spd="slow">
        <p:pull dir="ld"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海水是咸水，不能直接利用，所以通常所说的水资源主要是指陆地上的淡水资源 。</a:t>
            </a:r>
            <a:endParaRPr lang="zh-CN" altLang="en-US" dirty="0" smtClean="0"/>
          </a:p>
          <a:p>
            <a:pPr eaLnBrk="1" hangingPunct="1">
              <a:buSzPct val="100000"/>
              <a:defRPr/>
            </a:pPr>
            <a:r>
              <a:rPr lang="zh-CN" altLang="en-US" dirty="0" smtClean="0"/>
              <a:t>陆地上的淡水资源只占地球上水体总量</a:t>
            </a:r>
            <a:r>
              <a:rPr lang="en-US" altLang="zh-CN" dirty="0" smtClean="0"/>
              <a:t>2.53</a:t>
            </a:r>
            <a:r>
              <a:rPr lang="zh-CN" altLang="en-US" dirty="0" smtClean="0"/>
              <a:t>％，其中大部分（近</a:t>
            </a:r>
            <a:r>
              <a:rPr lang="en-US" altLang="zh-CN" dirty="0" smtClean="0"/>
              <a:t>70</a:t>
            </a:r>
            <a:r>
              <a:rPr lang="zh-CN" altLang="en-US" dirty="0" smtClean="0"/>
              <a:t>％）是固体冰川，即分布在两极地区和中、低纬度地区的高山冰川，还很难加以利用。 </a:t>
            </a:r>
            <a:endParaRPr lang="zh-CN" altLang="en-US" dirty="0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  <p:sp>
        <p:nvSpPr>
          <p:cNvPr id="3" name="右箭头 2">
            <a:hlinkClick r:id="" tooltip="" action="ppaction://hlinkshowjump?jump=nextslide"/>
          </p:cNvPr>
          <p:cNvSpPr/>
          <p:nvPr/>
        </p:nvSpPr>
        <p:spPr>
          <a:xfrm>
            <a:off x="7772400" y="5715000"/>
            <a:ext cx="838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1" name="chimes.wav"/>
          </p:stSnd>
        </p:sndAc>
      </p:transition>
    </mc:Choice>
    <mc:Fallback>
      <p:transition spd="slow">
        <p:pull dir="ld"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2098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在全部水资源中，</a:t>
            </a:r>
            <a:r>
              <a:rPr lang="en-US" altLang="zh-CN" dirty="0" smtClean="0"/>
              <a:t>97</a:t>
            </a:r>
            <a:r>
              <a:rPr lang="zh-CN" altLang="en-US" dirty="0" smtClean="0"/>
              <a:t>．</a:t>
            </a:r>
            <a:r>
              <a:rPr lang="en-US" altLang="zh-CN" dirty="0" smtClean="0"/>
              <a:t>5</a:t>
            </a:r>
            <a:r>
              <a:rPr lang="zh-CN" altLang="en-US" dirty="0" smtClean="0"/>
              <a:t>％是咸水，无法饮用。</a:t>
            </a:r>
            <a:endParaRPr lang="zh-CN" altLang="en-US" dirty="0" smtClean="0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我们面临的问题</a:t>
            </a:r>
            <a:endParaRPr lang="zh-CN" altLang="en-US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  <p:pic>
        <p:nvPicPr>
          <p:cNvPr id="3" name="图片 2" descr="WPS演示029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0" y="2971800"/>
            <a:ext cx="4320000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2" name="chimes.wav"/>
          </p:stSnd>
        </p:sndAc>
      </p:transition>
    </mc:Choice>
    <mc:Fallback>
      <p:transition spd="slow">
        <p:pull dir="ld"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人类真正能够利用的是江河湖泊以及地下水中的一部分，仅占地球总水量的</a:t>
            </a:r>
            <a:r>
              <a:rPr lang="en-US" altLang="zh-CN" dirty="0" smtClean="0"/>
              <a:t>0</a:t>
            </a:r>
            <a:r>
              <a:rPr lang="zh-CN" altLang="en-US" dirty="0" smtClean="0"/>
              <a:t>．</a:t>
            </a:r>
            <a:r>
              <a:rPr lang="en-US" altLang="zh-CN" dirty="0" smtClean="0"/>
              <a:t>26</a:t>
            </a:r>
            <a:r>
              <a:rPr lang="zh-CN" altLang="en-US" dirty="0" smtClean="0"/>
              <a:t>％，而且分布不均。 </a:t>
            </a:r>
            <a:endParaRPr lang="zh-CN" altLang="en-US" dirty="0" smtClean="0"/>
          </a:p>
          <a:p>
            <a:pPr eaLnBrk="1" hangingPunct="1">
              <a:buSzPct val="100000"/>
              <a:defRPr/>
            </a:pPr>
            <a:r>
              <a:rPr lang="zh-CN" altLang="en-US" dirty="0" smtClean="0"/>
              <a:t>水污染也进一步蚕食着大量可供消费的水资源，并危害人类的健康。 </a:t>
            </a:r>
            <a:endParaRPr lang="zh-CN" altLang="en-US" dirty="0" smtClean="0"/>
          </a:p>
          <a:p>
            <a:pPr eaLnBrk="1" hangingPunct="1">
              <a:buSzPct val="100000"/>
              <a:defRPr/>
            </a:pPr>
            <a:r>
              <a:rPr lang="en-US" altLang="zh-CN" dirty="0" smtClean="0"/>
              <a:t>……</a:t>
            </a:r>
            <a:endParaRPr lang="en-US" altLang="zh-CN" dirty="0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1" name="chimes.wav"/>
          </p:stSnd>
        </p:sndAc>
      </p:transition>
    </mc:Choice>
    <mc:Fallback>
      <p:transition spd="slow">
        <p:pull dir="ld"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我们应该做到</a:t>
            </a:r>
            <a:endParaRPr lang="zh-CN" alt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必须懂得如何科学用水；</a:t>
            </a:r>
            <a:endParaRPr lang="zh-CN" altLang="en-US" dirty="0" smtClean="0"/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从每个家庭做起，建设节水型家庭；</a:t>
            </a:r>
            <a:endParaRPr lang="zh-CN" altLang="en-US" dirty="0" smtClean="0"/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大力加强节水型社会建设，坚持开源与节流并重、节流优先的原则，提高水资源的利用效率和效益，实现水资源可持续利用；</a:t>
            </a:r>
            <a:endParaRPr lang="zh-CN" altLang="en-US" dirty="0" smtClean="0"/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控制污水及污染物排放，建设污水处理系统，加强水环境监测，强化法律意识，依法管理水资源、水环境。</a:t>
            </a:r>
            <a:endParaRPr lang="zh-CN" altLang="en-US" dirty="0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1" name="chimes.wav"/>
          </p:stSnd>
        </p:sndAc>
      </p:transition>
    </mc:Choice>
    <mc:Fallback>
      <p:transition spd="slow">
        <p:pull dir="ld"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9718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谢谢观看</a:t>
            </a:r>
            <a:endParaRPr lang="zh-CN" altLang="en-US" dirty="0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altLang="zh-CN"/>
              <a:t>2024技能高考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  <p:sndAc>
          <p:stSnd>
            <p:snd r:embed="rId1" name="chimes.wav"/>
          </p:stSnd>
        </p:sndAc>
      </p:transition>
    </mc:Choice>
    <mc:Fallback>
      <p:transition spd="slow">
        <p:pull dir="ld"/>
        <p:sndAc>
          <p:stSnd>
            <p:snd r:embed="rId1" name="chimes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PP_MARK_KEY" val="34a5747d-d29e-4b45-9613-3be1ac83d618"/>
  <p:tag name="COMMONDATA" val="eyJoZGlkIjoiM2Q2NDY3ODBmZDEyZTZiNTFiOWYyZGE1YmNkNTA1NzMifQ=="/>
</p:tagLst>
</file>

<file path=ppt/theme/theme1.xml><?xml version="1.0" encoding="utf-8"?>
<a:theme xmlns:a="http://schemas.openxmlformats.org/drawingml/2006/main" name="Ripple">
  <a:themeElements>
    <a:clrScheme name="Ripple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Ripple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Ripple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pple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0</TotalTime>
  <Words>455</Words>
  <Application>WPS 演示</Application>
  <PresentationFormat>全屏显示(4:3)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楷体</vt:lpstr>
      <vt:lpstr>Ripple</vt:lpstr>
      <vt:lpstr>关于水   你知道多少</vt:lpstr>
      <vt:lpstr>可利用的水资源</vt:lpstr>
      <vt:lpstr>PowerPoint 演示文稿</vt:lpstr>
      <vt:lpstr>我们面临的问题</vt:lpstr>
      <vt:lpstr>PowerPoint 演示文稿</vt:lpstr>
      <vt:lpstr>我们应该做到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关于水   你知道多少</dc:title>
  <dc:creator>s.p</dc:creator>
  <cp:lastModifiedBy>zy</cp:lastModifiedBy>
  <cp:revision>31</cp:revision>
  <cp:lastPrinted>2113-01-01T00:00:00Z</cp:lastPrinted>
  <dcterms:created xsi:type="dcterms:W3CDTF">2113-01-01T00:00:00Z</dcterms:created>
  <dcterms:modified xsi:type="dcterms:W3CDTF">2023-10-24T01:21:33Z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EAD94FE4AEE945259340FD3EA952CA7C_12</vt:lpwstr>
  </property>
  <property fmtid="{D5CDD505-2E9C-101B-9397-08002B2CF9AE}" pid="4" name="KSOProductBuildVer">
    <vt:lpwstr>2052-11.1.0.14227</vt:lpwstr>
  </property>
</Properties>
</file>