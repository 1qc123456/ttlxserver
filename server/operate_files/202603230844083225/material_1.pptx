
<file path=[Content_Types].xml><?xml version="1.0" encoding="utf-8"?>
<Types xmlns="http://schemas.openxmlformats.org/package/2006/content-types">
  <Default Extension="wav" ContentType="audio/x-wav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1" r:id="rId6"/>
    <p:sldId id="262" r:id="rId7"/>
    <p:sldId id="263" r:id="rId8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84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09532894" name="qzuser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present/>
    <p:sldRg st="1" end="4"/>
  </p:showPr>
  <p:clrMru>
    <a:srgbClr val="FFFFFF"/>
    <a:srgbClr val="2DBF2D"/>
    <a:srgbClr val="75B630"/>
    <a:srgbClr val="14762B"/>
    <a:srgbClr val="32501C"/>
    <a:srgbClr val="003E1B"/>
    <a:srgbClr val="044411"/>
    <a:srgbClr val="36791E"/>
    <a:srgbClr val="DCDCDC"/>
    <a:srgbClr val="F0F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gs" Target="tags/tag75.xml"/><Relationship Id="rId12" Type="http://schemas.openxmlformats.org/officeDocument/2006/relationships/commentAuthors" Target="commentAuthors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309532894" dt="2025-05-13T09:29:17.627" idx="1">
    <p:pos x="3262" y="10"/>
    <p:text>茶香四溢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0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audio" Target="../media/audio1.wav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audio" Target="../media/audio1.wav"/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7" Type="http://schemas.openxmlformats.org/officeDocument/2006/relationships/audio" Target="../media/audio1.wav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7" name="voltage.wav"/>
          </p:stSnd>
        </p:sndAc>
      </p:transition>
    </mc:Choice>
    <mc:Fallback>
      <p:transition spd="slow" advClick="0" advTm="3000">
        <p:comb/>
        <p:sndAc>
          <p:stSnd>
            <p:snd r:embed="rId7" name="voltage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7" name="voltage.wav"/>
          </p:stSnd>
        </p:sndAc>
      </p:transition>
    </mc:Choice>
    <mc:Fallback>
      <p:transition spd="slow" advClick="0" advTm="3000">
        <p:comb/>
        <p:sndAc>
          <p:stSnd>
            <p:snd r:embed="rId7" name="voltage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7" name="voltage.wav"/>
          </p:stSnd>
        </p:sndAc>
      </p:transition>
    </mc:Choice>
    <mc:Fallback>
      <p:transition spd="slow" advClick="0" advTm="3000">
        <p:comb/>
        <p:sndAc>
          <p:stSnd>
            <p:snd r:embed="rId7" name="voltage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8" name="voltage.wav"/>
          </p:stSnd>
        </p:sndAc>
      </p:transition>
    </mc:Choice>
    <mc:Fallback>
      <p:transition spd="slow" advClick="0" advTm="3000">
        <p:comb/>
        <p:sndAc>
          <p:stSnd>
            <p:snd r:embed="rId8" name="voltage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10" name="voltage.wav"/>
          </p:stSnd>
        </p:sndAc>
      </p:transition>
    </mc:Choice>
    <mc:Fallback>
      <p:transition spd="slow" advClick="0" advTm="3000">
        <p:comb/>
        <p:sndAc>
          <p:stSnd>
            <p:snd r:embed="rId10" name="voltage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6" name="voltage.wav"/>
          </p:stSnd>
        </p:sndAc>
      </p:transition>
    </mc:Choice>
    <mc:Fallback>
      <p:transition spd="slow" advClick="0" advTm="3000">
        <p:comb/>
        <p:sndAc>
          <p:stSnd>
            <p:snd r:embed="rId6" name="voltage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5" name="voltage.wav"/>
          </p:stSnd>
        </p:sndAc>
      </p:transition>
    </mc:Choice>
    <mc:Fallback>
      <p:transition spd="slow" advClick="0" advTm="3000">
        <p:comb/>
        <p:sndAc>
          <p:stSnd>
            <p:snd r:embed="rId5" name="voltage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8" name="voltage.wav"/>
          </p:stSnd>
        </p:sndAc>
      </p:transition>
    </mc:Choice>
    <mc:Fallback>
      <p:transition spd="slow" advClick="0" advTm="3000">
        <p:comb/>
        <p:sndAc>
          <p:stSnd>
            <p:snd r:embed="rId8" name="voltage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7" name="voltage.wav"/>
          </p:stSnd>
        </p:sndAc>
      </p:transition>
    </mc:Choice>
    <mc:Fallback>
      <p:transition spd="slow" advClick="0" advTm="3000">
        <p:comb/>
        <p:sndAc>
          <p:stSnd>
            <p:snd r:embed="rId7" name="voltage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6" name="voltage.wav"/>
          </p:stSnd>
        </p:sndAc>
      </p:transition>
    </mc:Choice>
    <mc:Fallback>
      <p:transition spd="slow" advClick="0" advTm="3000">
        <p:comb/>
        <p:sndAc>
          <p:stSnd>
            <p:snd r:embed="rId6" name="voltage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7" name="voltage.wav"/>
          </p:stSnd>
        </p:sndAc>
      </p:transition>
    </mc:Choice>
    <mc:Fallback>
      <p:transition spd="slow" advClick="0" advTm="3000">
        <p:comb/>
        <p:sndAc>
          <p:stSnd>
            <p:snd r:embed="rId7" name="voltage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audio" Target="../media/audio1.wav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18" name="voltage.wav"/>
          </p:stSnd>
        </p:sndAc>
      </p:transition>
    </mc:Choice>
    <mc:Fallback>
      <p:transition spd="slow" advClick="0" advTm="3000">
        <p:comb/>
        <p:sndAc>
          <p:stSnd>
            <p:snd r:embed="rId18" name="voltage.wav"/>
          </p:stSnd>
        </p:sndAc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audio" Target="../media/audio1.wav"/><Relationship Id="rId6" Type="http://schemas.openxmlformats.org/officeDocument/2006/relationships/tags" Target="../tags/tag67.xml"/><Relationship Id="rId5" Type="http://schemas.openxmlformats.org/officeDocument/2006/relationships/image" Target="../media/image2.png"/><Relationship Id="rId4" Type="http://schemas.openxmlformats.org/officeDocument/2006/relationships/tags" Target="../tags/tag66.xml"/><Relationship Id="rId3" Type="http://schemas.openxmlformats.org/officeDocument/2006/relationships/slide" Target="slide5.xml"/><Relationship Id="rId2" Type="http://schemas.openxmlformats.org/officeDocument/2006/relationships/slide" Target="slide4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6.xml"/><Relationship Id="rId6" Type="http://schemas.openxmlformats.org/officeDocument/2006/relationships/audio" Target="../media/audio1.wav"/><Relationship Id="rId5" Type="http://schemas.openxmlformats.org/officeDocument/2006/relationships/tags" Target="../tags/tag70.xml"/><Relationship Id="rId4" Type="http://schemas.openxmlformats.org/officeDocument/2006/relationships/image" Target="../media/image4.png"/><Relationship Id="rId3" Type="http://schemas.openxmlformats.org/officeDocument/2006/relationships/tags" Target="../tags/tag69.xml"/><Relationship Id="rId2" Type="http://schemas.openxmlformats.org/officeDocument/2006/relationships/image" Target="../media/image3.png"/><Relationship Id="rId1" Type="http://schemas.openxmlformats.org/officeDocument/2006/relationships/tags" Target="../tags/tag68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6.xml"/><Relationship Id="rId5" Type="http://schemas.openxmlformats.org/officeDocument/2006/relationships/audio" Target="../media/audio1.wav"/><Relationship Id="rId4" Type="http://schemas.openxmlformats.org/officeDocument/2006/relationships/tags" Target="../tags/tag72.xml"/><Relationship Id="rId3" Type="http://schemas.openxmlformats.org/officeDocument/2006/relationships/image" Target="../media/image6.png"/><Relationship Id="rId2" Type="http://schemas.openxmlformats.org/officeDocument/2006/relationships/tags" Target="../tags/tag71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comments" Target="../comments/comment1.xml"/><Relationship Id="rId5" Type="http://schemas.openxmlformats.org/officeDocument/2006/relationships/slideLayout" Target="../slideLayouts/slideLayout6.xml"/><Relationship Id="rId4" Type="http://schemas.openxmlformats.org/officeDocument/2006/relationships/audio" Target="../media/audio1.wav"/><Relationship Id="rId3" Type="http://schemas.openxmlformats.org/officeDocument/2006/relationships/tags" Target="../tags/tag74.xml"/><Relationship Id="rId2" Type="http://schemas.openxmlformats.org/officeDocument/2006/relationships/image" Target="../media/image7.png"/><Relationship Id="rId1" Type="http://schemas.openxmlformats.org/officeDocument/2006/relationships/tags" Target="../tags/tag7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/>
        </p:nvSpPr>
        <p:spPr>
          <a:xfrm>
            <a:off x="838835" y="890905"/>
            <a:ext cx="3960000" cy="4896000"/>
          </a:xfrm>
          <a:prstGeom prst="roundRect">
            <a:avLst/>
          </a:prstGeom>
          <a:solidFill>
            <a:srgbClr val="32501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440815" y="1155065"/>
            <a:ext cx="1566545" cy="3197225"/>
          </a:xfrm>
        </p:spPr>
        <p:txBody>
          <a:bodyPr/>
          <a:p>
            <a:r>
              <a:rPr lang="zh-CN" altLang="zh-CN" sz="8000">
                <a:solidFill>
                  <a:schemeClr val="bg2"/>
                </a:solidFill>
                <a:latin typeface="仿宋" panose="02010609060101010101" charset="-122"/>
                <a:ea typeface="仿宋" panose="02010609060101010101" charset="-122"/>
              </a:rPr>
              <a:t>茶叶</a:t>
            </a:r>
            <a:endParaRPr lang="zh-CN" altLang="zh-CN" sz="8000">
              <a:solidFill>
                <a:schemeClr val="bg2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3183890" y="2247900"/>
            <a:ext cx="487680" cy="3541395"/>
          </a:xfrm>
        </p:spPr>
        <p:txBody>
          <a:bodyPr vert="eaVert">
            <a:noAutofit/>
          </a:bodyPr>
          <a:p>
            <a:r>
              <a:rPr lang="zh-CN" altLang="en-US" sz="1600">
                <a:solidFill>
                  <a:schemeClr val="bg1"/>
                </a:solidFill>
                <a:latin typeface="仿宋" panose="02010609060101010101" charset="-122"/>
                <a:ea typeface="仿宋" panose="02010609060101010101" charset="-122"/>
              </a:rPr>
              <a:t>春茶鲜爽季，竹叶青正当时</a:t>
            </a:r>
            <a:endParaRPr lang="zh-CN" altLang="en-US" sz="1600">
              <a:solidFill>
                <a:schemeClr val="bg1"/>
              </a:solidFill>
              <a:latin typeface="仿宋" panose="02010609060101010101" charset="-122"/>
              <a:ea typeface="仿宋" panose="02010609060101010101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H="1">
            <a:off x="3095625" y="1671955"/>
            <a:ext cx="0" cy="28800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5" name="voltage.wav"/>
          </p:stSnd>
        </p:sndAc>
      </p:transition>
    </mc:Choice>
    <mc:Fallback>
      <p:transition spd="slow" advClick="0" advTm="3000">
        <p:comb/>
        <p:sndAc>
          <p:stSnd>
            <p:snd r:embed="rId5" name="voltage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3096895" y="0"/>
            <a:ext cx="9095105" cy="6858000"/>
          </a:xfrm>
          <a:prstGeom prst="rect">
            <a:avLst/>
          </a:prstGeom>
          <a:solidFill>
            <a:srgbClr val="FFFF00">
              <a:alpha val="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5436000" y="612000"/>
            <a:ext cx="5760000" cy="5760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p>
            <a:pPr marL="285750" indent="-285750" fontAlgn="auto">
              <a:lnSpc>
                <a:spcPct val="200000"/>
              </a:lnSpc>
              <a:buClr>
                <a:srgbClr val="003E1B"/>
              </a:buClr>
              <a:buSzPct val="110000"/>
              <a:buFont typeface="Wingdings" panose="05000000000000000000" charset="0"/>
              <a:buChar char="u"/>
            </a:pPr>
            <a:r>
              <a:rPr lang="zh-CN" altLang="en-US" sz="3200">
                <a:solidFill>
                  <a:srgbClr val="2DBF2D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1" action="ppaction://hlinksldjump"/>
              </a:rPr>
              <a:t>茶品牌介绍</a:t>
            </a:r>
            <a:endParaRPr lang="zh-CN" altLang="en-US" sz="3200">
              <a:solidFill>
                <a:srgbClr val="2DBF2D"/>
              </a:solidFill>
              <a:latin typeface="宋体" panose="02010600030101010101" pitchFamily="2" charset="-122"/>
              <a:ea typeface="宋体" panose="02010600030101010101" pitchFamily="2" charset="-122"/>
              <a:hlinkClick r:id="rId1" action="ppaction://hlinksldjump"/>
            </a:endParaRPr>
          </a:p>
          <a:p>
            <a:pPr marL="285750" indent="-285750" fontAlgn="auto">
              <a:lnSpc>
                <a:spcPct val="200000"/>
              </a:lnSpc>
              <a:buClr>
                <a:srgbClr val="003E1B"/>
              </a:buClr>
              <a:buSzPct val="110000"/>
              <a:buFont typeface="Wingdings" panose="05000000000000000000" charset="0"/>
              <a:buChar char="u"/>
            </a:pPr>
            <a:r>
              <a:rPr lang="zh-CN" altLang="en-US" sz="3200">
                <a:solidFill>
                  <a:srgbClr val="2DBF2D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2" action="ppaction://hlinksldjump"/>
              </a:rPr>
              <a:t>茶产品特色</a:t>
            </a:r>
            <a:endParaRPr lang="zh-CN" altLang="en-US" sz="3200">
              <a:solidFill>
                <a:srgbClr val="2DBF2D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85750" indent="-285750" algn="l" fontAlgn="auto">
              <a:lnSpc>
                <a:spcPct val="200000"/>
              </a:lnSpc>
              <a:buClr>
                <a:srgbClr val="003E1B"/>
              </a:buClr>
              <a:buSzPct val="110000"/>
              <a:buFont typeface="Wingdings" panose="05000000000000000000" charset="0"/>
              <a:buChar char="u"/>
            </a:pPr>
            <a:r>
              <a:rPr lang="zh-CN" altLang="en-US" sz="3200">
                <a:solidFill>
                  <a:srgbClr val="2DBF2D"/>
                </a:solidFill>
                <a:latin typeface="宋体" panose="02010600030101010101" pitchFamily="2" charset="-122"/>
                <a:ea typeface="宋体" panose="02010600030101010101" pitchFamily="2" charset="-122"/>
                <a:hlinkClick r:id="rId3" action="ppaction://hlinksldjump"/>
              </a:rPr>
              <a:t>茶产品宣传</a:t>
            </a:r>
            <a:endParaRPr lang="zh-CN" altLang="en-US" sz="3200">
              <a:solidFill>
                <a:srgbClr val="2DBF2D"/>
              </a:solidFill>
              <a:latin typeface="宋体" panose="02010600030101010101" pitchFamily="2" charset="-122"/>
              <a:ea typeface="宋体" panose="02010600030101010101" pitchFamily="2" charset="-122"/>
              <a:hlinkClick r:id="rId3" action="ppaction://hlinksldjump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4991100" cy="685800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7" name="voltage.wav"/>
          </p:stSnd>
        </p:sndAc>
      </p:transition>
    </mc:Choice>
    <mc:Fallback>
      <p:transition spd="slow" advClick="0" advTm="3000">
        <p:comb/>
        <p:sndAc>
          <p:stSnd>
            <p:snd r:embed="rId7" name="voltage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190" y="144145"/>
            <a:ext cx="830580" cy="2331085"/>
          </a:xfrm>
          <a:solidFill>
            <a:srgbClr val="32501C"/>
          </a:solidFill>
        </p:spPr>
        <p:txBody>
          <a:bodyPr vert="eaVert">
            <a:normAutofit/>
          </a:bodyPr>
          <a:p>
            <a:pPr algn="ctr"/>
            <a:r>
              <a:rPr lang="zh-CN" altLang="en-US" sz="3000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</a:rPr>
              <a:t>茶品牌介绍</a:t>
            </a:r>
            <a:endParaRPr lang="zh-CN" altLang="en-US" sz="3000">
              <a:solidFill>
                <a:schemeClr val="bg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579880" y="170180"/>
            <a:ext cx="5819775" cy="2305050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7620000" y="0"/>
            <a:ext cx="4572000" cy="68580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04825" y="2849880"/>
            <a:ext cx="6950075" cy="3778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rgbClr val="92D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品牌历史与背景 ：产于四川省峨眉山，1998 年正式创牌成立，归属于四川省峨眉山竹叶青茶业有限公司。峨眉山产茶历史悠久，唐代就有白芽茶被列为贡品。</a:t>
            </a:r>
            <a:endParaRPr lang="zh-CN" altLang="en-US" sz="2000">
              <a:solidFill>
                <a:srgbClr val="92D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endParaRPr lang="zh-CN" altLang="en-US" sz="2000">
              <a:solidFill>
                <a:srgbClr val="92D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rgbClr val="92D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品牌影响力 ：作为中国高端绿茶的领导者，竹叶青在茶行业中占据重要地位，曾多次荣获国内外奖项，如 “中国驰名商标”“中国名牌” 等，其品牌价值不断提升，深受消费者的喜爱和认可。</a:t>
            </a:r>
            <a:endParaRPr lang="zh-CN" altLang="en-US" sz="2000">
              <a:solidFill>
                <a:srgbClr val="92D05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6" name="voltage.wav"/>
          </p:stSnd>
        </p:sndAc>
      </p:transition>
    </mc:Choice>
    <mc:Fallback>
      <p:transition spd="slow" advClick="0" advTm="3000">
        <p:comb/>
        <p:sndAc>
          <p:stSnd>
            <p:snd r:embed="rId6" name="voltage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/>
        </p:nvSpPr>
        <p:spPr>
          <a:xfrm>
            <a:off x="6155690" y="635"/>
            <a:ext cx="6036310" cy="6856730"/>
          </a:xfrm>
          <a:prstGeom prst="rect">
            <a:avLst/>
          </a:prstGeom>
          <a:solidFill>
            <a:srgbClr val="36791E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000" y="144000"/>
            <a:ext cx="844550" cy="2309495"/>
          </a:xfrm>
          <a:solidFill>
            <a:srgbClr val="32501C"/>
          </a:solidFill>
        </p:spPr>
        <p:txBody>
          <a:bodyPr vert="eaVert">
            <a:noAutofit/>
          </a:bodyPr>
          <a:p>
            <a:r>
              <a:rPr lang="zh-CN" altLang="en-US" sz="3000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</a:rPr>
              <a:t>茶产品特色</a:t>
            </a:r>
            <a:endParaRPr lang="zh-CN" altLang="en-US" sz="3000">
              <a:solidFill>
                <a:schemeClr val="bg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7860" y="3863340"/>
            <a:ext cx="5248275" cy="260985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512000" y="468000"/>
            <a:ext cx="4629785" cy="2847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rgbClr val="92D05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竹叶青茶，以峨眉山水土孕育的鲜嫩原料，经炒青锁住茶香、烘焙提亮馥郁，每片茶叶皆匀整如画。其独特工艺确保茶叶内含物质充分释放，在冲泡中香气层层递进，滋味鲜爽甘甜，回甘持久。</a:t>
            </a:r>
            <a:endParaRPr lang="zh-CN" altLang="en-US" sz="2000"/>
          </a:p>
        </p:txBody>
      </p:sp>
      <p:sp>
        <p:nvSpPr>
          <p:cNvPr id="11" name="文本框 10"/>
          <p:cNvSpPr txBox="1"/>
          <p:nvPr>
            <p:custDataLst>
              <p:tags r:id="rId2"/>
            </p:custDataLst>
          </p:nvPr>
        </p:nvSpPr>
        <p:spPr>
          <a:xfrm>
            <a:off x="6683375" y="445135"/>
            <a:ext cx="4182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090" y="3863340"/>
            <a:ext cx="5297805" cy="260985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6639560" y="443865"/>
            <a:ext cx="503999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rPr>
              <a:t>汤色黄绿明亮，叶底匀整鲜活，彰显生命力。制作中严格把控温度、时间，确保每片茶叶受热均匀，最大程度保留营养与风味，为茶客带来天然健康的品质享受，也让这杯茶成为传递峨眉山自然与人文的独特载体，开启一场茶香四溢的诗意旅程。</a:t>
            </a:r>
            <a:endParaRPr lang="zh-CN" altLang="en-US" sz="20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endParaRPr lang="zh-CN" altLang="en-US" sz="2000">
              <a:solidFill>
                <a:schemeClr val="bg1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5" name="voltage.wav"/>
          </p:stSnd>
        </p:sndAc>
      </p:transition>
    </mc:Choice>
    <mc:Fallback>
      <p:transition spd="slow" advClick="0" advTm="3000">
        <p:comb/>
        <p:sndAc>
          <p:stSnd>
            <p:snd r:embed="rId5" name="voltage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2" presetClass="exit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" dur="10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#ppt_w*1.125000"/>
                                          </p:val>
                                        </p:tav>
                                      </p:tavLst>
                                    </p:anim>
                                    <p:animEffect transition="out" filter="wipe(right)">
                                      <p:cBhvr>
                                        <p:cTn id="1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5162550" cy="3634740"/>
          </a:xfrm>
          <a:prstGeom prst="rect">
            <a:avLst/>
          </a:prstGeom>
          <a:effectLst>
            <a:reflection blurRad="6350" stA="50000" endA="300" endPos="90000" dir="5400000" sy="-100000" algn="bl" rotWithShape="0"/>
          </a:effectLst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4000" y="144000"/>
            <a:ext cx="830580" cy="2419350"/>
          </a:xfrm>
          <a:solidFill>
            <a:srgbClr val="044411"/>
          </a:solidFill>
        </p:spPr>
        <p:txBody>
          <a:bodyPr vert="eaVert">
            <a:normAutofit/>
          </a:bodyPr>
          <a:p>
            <a:pPr algn="ctr"/>
            <a:r>
              <a:rPr lang="zh-CN" altLang="en-US" sz="3000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</a:rPr>
              <a:t>茶产品宣传</a:t>
            </a:r>
            <a:endParaRPr lang="zh-CN" altLang="en-US" sz="3000">
              <a:solidFill>
                <a:schemeClr val="bg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539740" y="144145"/>
            <a:ext cx="6428740" cy="6367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rgbClr val="92D050"/>
                </a:solidFill>
                <a:latin typeface="楷体" panose="02010609060101010101" charset="-122"/>
                <a:ea typeface="楷体" panose="02010609060101010101" charset="-122"/>
              </a:rPr>
              <a:t>在千年的时光流转中，峨眉山的云雾轻抚着翠绿的茶树，竹叶青茶便在这山水灵秀间悄然生长。每一株茶树都沐浴在晨曦的微光与雾气的润泽中，汲取着大自然最纯粹的养分。当春日的暖阳初升，采茶人轻巧地采摘下最鲜嫩的芽叶，那些带着朝露的嫩叶，仿佛还带着山林的呼吸。</a:t>
            </a:r>
            <a:endParaRPr lang="zh-CN" altLang="en-US" sz="2000">
              <a:solidFill>
                <a:srgbClr val="92D050"/>
              </a:solidFill>
              <a:latin typeface="楷体" panose="02010609060101010101" charset="-122"/>
              <a:ea typeface="楷体" panose="02010609060101010101" charset="-122"/>
            </a:endParaRPr>
          </a:p>
          <a:p>
            <a:pPr indent="508000" fontAlgn="auto">
              <a:lnSpc>
                <a:spcPct val="150000"/>
              </a:lnSpc>
              <a:extLst>
                <a:ext uri="{35155182-B16C-46BC-9424-99874614C6A1}">
                  <wpsdc:indentchars xmlns:wpsdc="http://www.wps.cn/officeDocument/2017/drawingmlCustomData" val="200" checksum="282533468"/>
                </a:ext>
              </a:extLst>
            </a:pPr>
            <a:r>
              <a:rPr lang="zh-CN" altLang="en-US" sz="2000">
                <a:solidFill>
                  <a:srgbClr val="92D050"/>
                </a:solidFill>
                <a:latin typeface="楷体" panose="02010609060101010101" charset="-122"/>
                <a:ea typeface="楷体" panose="02010609060101010101" charset="-122"/>
              </a:rPr>
              <a:t>竹叶青茶的制作，是一场传统与现代的完美邂逅。经验丰富的制茶师傅们，凭借世代传承的炒青技艺，让茶叶在高温中迅速定型，锁住那抹诱人的嫩绿与清新。随后，现代烘焙技术的巧妙运用，赋予了茶叶更加馥郁、持久的香气。在文火慢焙中，茶叶的内涵物质悄然转化，香气分子紧密凝聚，使每一缕茶香都仿佛有了灵魂，能在开盖瞬间直击心灵深处。</a:t>
            </a:r>
            <a:endParaRPr lang="zh-CN" altLang="en-US" sz="2000">
              <a:solidFill>
                <a:srgbClr val="92D050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comb/>
        <p:sndAc>
          <p:stSnd>
            <p:snd r:embed="rId4" name="voltage.wav"/>
          </p:stSnd>
        </p:sndAc>
      </p:transition>
    </mc:Choice>
    <mc:Fallback>
      <p:transition spd="slow" advClick="0" advTm="3000">
        <p:comb/>
        <p:sndAc>
          <p:stSnd>
            <p:snd r:embed="rId4" name="voltage.wav"/>
          </p:stSnd>
        </p:sndAc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COMMONDATA" val="eyJoZGlkIjoiNzFlMGY3OGRmZGU1YjQ0MmVmN2U4Yjg3M2ZkYWM1ZjIifQ=="/>
</p:tagLst>
</file>

<file path=ppt/theme/theme1.xml><?xml version="1.0" encoding="utf-8"?>
<a:theme xmlns:a="http://schemas.openxmlformats.org/drawingml/2006/main" name="WPS">
  <a:themeElements>
    <a:clrScheme name="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92D050"/>
      </a:hlink>
      <a:folHlink>
        <a:srgbClr val="00B050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  <a:extLst>
      <a:ext uri="{D81B5157-A7B6-4480-A006-42BB1BC3E7BB}">
        <wpsdc:hlinkScheme xmlns:wpsdc="http://www.wps.cn/officeDocument/2017/drawingmlCustomData" underline="false"/>
      </a:ext>
    </a:extLst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676</Words>
  <Application>WPS 演示</Application>
  <PresentationFormat>宽屏</PresentationFormat>
  <Paragraphs>26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6" baseType="lpstr">
      <vt:lpstr>Arial</vt:lpstr>
      <vt:lpstr>宋体</vt:lpstr>
      <vt:lpstr>Wingdings</vt:lpstr>
      <vt:lpstr>Wingdings</vt:lpstr>
      <vt:lpstr>仿宋</vt:lpstr>
      <vt:lpstr>楷体</vt:lpstr>
      <vt:lpstr>微软雅黑</vt:lpstr>
      <vt:lpstr>Arial Unicode MS</vt:lpstr>
      <vt:lpstr>Calibri</vt:lpstr>
      <vt:lpstr>黑体</vt:lpstr>
      <vt:lpstr>WPS</vt:lpstr>
      <vt:lpstr>茶叶</vt:lpstr>
      <vt:lpstr>PowerPoint 演示文稿</vt:lpstr>
      <vt:lpstr>茶品牌介绍</vt:lpstr>
      <vt:lpstr>茶产品特色</vt:lpstr>
      <vt:lpstr>茶产品宣传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qzuser</cp:lastModifiedBy>
  <cp:revision>164</cp:revision>
  <dcterms:created xsi:type="dcterms:W3CDTF">2019-06-19T02:08:00Z</dcterms:created>
  <dcterms:modified xsi:type="dcterms:W3CDTF">2025-05-19T01:21:47Z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479AD95D33B04503BC5BF7E9E9A16D2E_11</vt:lpwstr>
  </property>
</Properties>
</file>