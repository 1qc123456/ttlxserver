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Rg st="1" end="6"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2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tags" Target="../tags/tag66.xml"/><Relationship Id="rId4" Type="http://schemas.openxmlformats.org/officeDocument/2006/relationships/slide" Target="slide6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audio" Target="../media/audio2.wav"/><Relationship Id="rId3" Type="http://schemas.openxmlformats.org/officeDocument/2006/relationships/tags" Target="../tags/tag68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image" Target="../media/image4.png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20345" y="1870710"/>
            <a:ext cx="5086350" cy="1689735"/>
          </a:xfrm>
        </p:spPr>
        <p:txBody>
          <a:bodyPr/>
          <a:p>
            <a:pPr algn="ctr"/>
            <a:r>
              <a:rPr lang="zh-CN" altLang="zh-CN" sz="7200" i="1" u="sng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竹子</a:t>
            </a:r>
            <a:endParaRPr lang="zh-CN" altLang="zh-CN" sz="7200" i="1" u="sng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189480" y="4414520"/>
            <a:ext cx="7012940" cy="1011555"/>
          </a:xfrm>
        </p:spPr>
        <p:txBody>
          <a:bodyPr/>
          <a:p>
            <a:pPr>
              <a:spcBef>
                <a:spcPts val="2400"/>
              </a:spcBef>
            </a:pPr>
            <a:r>
              <a:rPr lang="zh-CN" altLang="en-US" sz="3200">
                <a:solidFill>
                  <a:srgbClr val="00B0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以竹为景 弘扬文化</a:t>
            </a:r>
            <a:endParaRPr lang="zh-CN" altLang="en-US" sz="3200">
              <a:solidFill>
                <a:srgbClr val="00B05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29590" y="1710055"/>
            <a:ext cx="677100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571500" indent="-571500" fontAlgn="auto">
              <a:lnSpc>
                <a:spcPct val="150000"/>
              </a:lnSpc>
              <a:buClr>
                <a:srgbClr val="00B050"/>
              </a:buClr>
              <a:buSzPct val="115000"/>
              <a:buFont typeface="Calibri Light" panose="020F0302020204030204" charset="0"/>
              <a:buChar char="₪"/>
            </a:pPr>
            <a:r>
              <a:rPr lang="zh-CN" altLang="en-US" sz="4000">
                <a:solidFill>
                  <a:schemeClr val="accent4">
                    <a:lumMod val="50000"/>
                  </a:schemeClr>
                </a:solidFill>
                <a:hlinkClick r:id="rId1" action="ppaction://hlinksldjump"/>
              </a:rPr>
              <a:t>竹子定义与分类</a:t>
            </a:r>
            <a:endParaRPr lang="zh-CN" altLang="en-US" sz="4000">
              <a:solidFill>
                <a:schemeClr val="accent4">
                  <a:lumMod val="50000"/>
                </a:schemeClr>
              </a:solidFill>
            </a:endParaRPr>
          </a:p>
          <a:p>
            <a:pPr marL="571500" indent="-571500" fontAlgn="auto">
              <a:lnSpc>
                <a:spcPct val="150000"/>
              </a:lnSpc>
              <a:buClr>
                <a:srgbClr val="00B050"/>
              </a:buClr>
              <a:buSzPct val="115000"/>
              <a:buFont typeface="Calibri Light" panose="020F0302020204030204" charset="0"/>
              <a:buChar char="₪"/>
            </a:pPr>
            <a:r>
              <a:rPr lang="zh-CN" altLang="en-US" sz="4000">
                <a:solidFill>
                  <a:schemeClr val="accent4">
                    <a:lumMod val="50000"/>
                  </a:schemeClr>
                </a:solidFill>
                <a:hlinkClick r:id="rId2" action="ppaction://hlinksldjump"/>
              </a:rPr>
              <a:t>竹子的形态特征</a:t>
            </a:r>
            <a:endParaRPr lang="zh-CN" altLang="en-US" sz="4000">
              <a:solidFill>
                <a:schemeClr val="accent4">
                  <a:lumMod val="50000"/>
                </a:schemeClr>
              </a:solidFill>
            </a:endParaRPr>
          </a:p>
          <a:p>
            <a:pPr marL="571500" indent="-571500" fontAlgn="auto">
              <a:lnSpc>
                <a:spcPct val="150000"/>
              </a:lnSpc>
              <a:buClr>
                <a:srgbClr val="00B050"/>
              </a:buClr>
              <a:buSzPct val="115000"/>
              <a:buFont typeface="Calibri Light" panose="020F0302020204030204" charset="0"/>
              <a:buChar char="₪"/>
            </a:pPr>
            <a:r>
              <a:rPr lang="zh-CN" altLang="en-US" sz="4000">
                <a:solidFill>
                  <a:schemeClr val="accent4">
                    <a:lumMod val="50000"/>
                  </a:schemeClr>
                </a:solidFill>
                <a:hlinkClick r:id="rId3" action="ppaction://hlinksldjump"/>
              </a:rPr>
              <a:t>竹子的生长环境及分布</a:t>
            </a:r>
            <a:endParaRPr lang="zh-CN" altLang="en-US" sz="4000">
              <a:solidFill>
                <a:schemeClr val="accent4">
                  <a:lumMod val="50000"/>
                </a:schemeClr>
              </a:solidFill>
            </a:endParaRPr>
          </a:p>
          <a:p>
            <a:pPr marL="571500" indent="-571500" fontAlgn="auto">
              <a:lnSpc>
                <a:spcPct val="150000"/>
              </a:lnSpc>
              <a:buClr>
                <a:srgbClr val="00B050"/>
              </a:buClr>
              <a:buSzPct val="115000"/>
              <a:buFont typeface="Calibri Light" panose="020F0302020204030204" charset="0"/>
              <a:buChar char="₪"/>
            </a:pPr>
            <a:r>
              <a:rPr lang="zh-CN" altLang="en-US" sz="4000">
                <a:solidFill>
                  <a:schemeClr val="accent4">
                    <a:lumMod val="50000"/>
                  </a:schemeClr>
                </a:solidFill>
                <a:hlinkClick r:id="rId4" action="ppaction://hlinksldjump"/>
              </a:rPr>
              <a:t>竹子在文化与经济中的价值</a:t>
            </a:r>
            <a:endParaRPr lang="zh-CN" altLang="en-US" sz="400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omb/>
        <p:sndAc>
          <p:stSnd>
            <p:snd r:embed="rId6" name="voltage.wav"/>
          </p:stSnd>
        </p:sndAc>
      </p:transition>
    </mc:Choice>
    <mc:Fallback>
      <p:transition spd="slow">
        <p:comb/>
        <p:sndAc>
          <p:stSnd>
            <p:snd r:embed="rId6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7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7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7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7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7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7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7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7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4" dur="17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竹子定义与分类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34695" y="1880870"/>
            <a:ext cx="6343650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1016000" fontAlgn="auto">
              <a:spcAft>
                <a:spcPts val="1200"/>
              </a:spcAft>
              <a:extLst>
                <a:ext uri="{35155182-B16C-46BC-9424-99874614C6A1}">
                  <wpsdc:indentchars xmlns:wpsdc="http://www.wps.cn/officeDocument/2017/drawingmlCustomData" val="250" checksum="3547011792"/>
                </a:ext>
              </a:extLst>
            </a:pPr>
            <a:r>
              <a:rPr lang="zh-CN" altLang="en-US" sz="3200">
                <a:gradFill>
                  <a:gsLst>
                    <a:gs pos="41000">
                      <a:srgbClr val="00B050">
                        <a:alpha val="67000"/>
                      </a:srgb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highlight>
                  <a:srgbClr val="FFFF00"/>
                </a:highlight>
              </a:rPr>
              <a:t>竹子是一种属于禾本科的多年生常绿植物，具有木质化的地上茎和地下茎。</a:t>
            </a:r>
            <a:endParaRPr lang="zh-CN" altLang="en-US" sz="3200">
              <a:gradFill>
                <a:gsLst>
                  <a:gs pos="41000">
                    <a:srgbClr val="00B050">
                      <a:alpha val="67000"/>
                    </a:srgb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highlight>
                <a:srgbClr val="FFFF00"/>
              </a:highlight>
            </a:endParaRPr>
          </a:p>
          <a:p>
            <a:pPr indent="1016000" fontAlgn="auto">
              <a:spcAft>
                <a:spcPts val="1200"/>
              </a:spcAft>
              <a:extLst>
                <a:ext uri="{35155182-B16C-46BC-9424-99874614C6A1}">
                  <wpsdc:indentchars xmlns:wpsdc="http://www.wps.cn/officeDocument/2017/drawingmlCustomData" val="250" checksum="3547011792"/>
                </a:ext>
              </a:extLst>
            </a:pPr>
            <a:r>
              <a:rPr lang="zh-CN" altLang="en-US" sz="3200">
                <a:gradFill>
                  <a:gsLst>
                    <a:gs pos="41000">
                      <a:srgbClr val="00B050">
                        <a:alpha val="67000"/>
                      </a:srgb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highlight>
                  <a:srgbClr val="FFFF00"/>
                </a:highlight>
              </a:rPr>
              <a:t>根据竹子的地下茎的生长情况，可分为散生型、丛生型和混生型三大类。</a:t>
            </a:r>
            <a:endParaRPr lang="zh-CN" altLang="en-US" sz="3200">
              <a:gradFill>
                <a:gsLst>
                  <a:gs pos="41000">
                    <a:srgbClr val="00B050">
                      <a:alpha val="67000"/>
                    </a:srgb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highlight>
                <a:srgbClr val="FFFF00"/>
              </a:highlight>
            </a:endParaRPr>
          </a:p>
          <a:p>
            <a:pPr indent="1016000" fontAlgn="auto">
              <a:spcAft>
                <a:spcPts val="1200"/>
              </a:spcAft>
              <a:extLst>
                <a:ext uri="{35155182-B16C-46BC-9424-99874614C6A1}">
                  <wpsdc:indentchars xmlns:wpsdc="http://www.wps.cn/officeDocument/2017/drawingmlCustomData" val="250" checksum="3547011792"/>
                </a:ext>
              </a:extLst>
            </a:pPr>
            <a:r>
              <a:rPr lang="zh-CN" altLang="en-US" sz="3200">
                <a:gradFill>
                  <a:gsLst>
                    <a:gs pos="41000">
                      <a:srgbClr val="00B050">
                        <a:alpha val="67000"/>
                      </a:srgb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highlight>
                  <a:srgbClr val="FFFF00"/>
                </a:highlight>
              </a:rPr>
              <a:t>全球竹种资源丰富，约有1200多种，广泛分布于亚洲、非洲和拉丁美洲的热带及亚热带地区。</a:t>
            </a:r>
            <a:endParaRPr lang="zh-CN" altLang="en-US" sz="3200">
              <a:gradFill>
                <a:gsLst>
                  <a:gs pos="41000">
                    <a:srgbClr val="00B050">
                      <a:alpha val="67000"/>
                    </a:srgb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highlight>
                <a:srgbClr val="FFFF00"/>
              </a:highlight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90925" y="608330"/>
            <a:ext cx="3890010" cy="705485"/>
          </a:xfrm>
        </p:spPr>
        <p:txBody>
          <a:bodyPr/>
          <a:p>
            <a:r>
              <a:rPr lang="zh-CN" altLang="en-US"/>
              <a:t>竹子的形态特征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75" y="608330"/>
            <a:ext cx="2895600" cy="5687695"/>
          </a:xfrm>
          <a:prstGeom prst="rect">
            <a:avLst/>
          </a:prstGeom>
          <a:ln w="76200">
            <a:solidFill>
              <a:srgbClr val="FFFF00">
                <a:alpha val="65000"/>
              </a:srgbClr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3590925" y="1314450"/>
            <a:ext cx="3522345" cy="511746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effectLst/>
        </p:spPr>
        <p:txBody>
          <a:bodyPr wrap="square" rtlCol="0">
            <a:noAutofit/>
          </a:bodyPr>
          <a:p>
            <a:pPr indent="457200" fontAlgn="auto">
              <a:lnSpc>
                <a:spcPct val="150000"/>
              </a:lnSpc>
            </a:pPr>
            <a:r>
              <a:rPr lang="zh-CN" altLang="en-US" sz="200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仿宋" panose="02010609060101010101" charset="-122"/>
                <a:ea typeface="仿宋" panose="02010609060101010101" charset="-122"/>
              </a:rPr>
              <a:t>竹子的茎秆通常高大挺拔，呈圆柱形，有节，多中空。不同种类的竹子茎秆的颜色、粗细、高度等有所不同。</a:t>
            </a:r>
            <a:endParaRPr lang="zh-CN" altLang="en-US" sz="2000"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00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仿宋" panose="02010609060101010101" charset="-122"/>
                <a:ea typeface="仿宋" panose="02010609060101010101" charset="-122"/>
              </a:rPr>
              <a:t>竹子的叶片通常呈披针形或线状披针形，叶色翠绿，质地较薄。</a:t>
            </a:r>
            <a:endParaRPr lang="zh-CN" altLang="en-US" sz="2000"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  <a:latin typeface="仿宋" panose="02010609060101010101" charset="-122"/>
              <a:ea typeface="仿宋" panose="02010609060101010101" charset="-122"/>
            </a:endParaRPr>
          </a:p>
          <a:p>
            <a:pPr indent="457200" fontAlgn="auto">
              <a:lnSpc>
                <a:spcPct val="150000"/>
              </a:lnSpc>
            </a:pPr>
            <a:r>
              <a:rPr lang="zh-CN" altLang="en-US" sz="2000"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仿宋" panose="02010609060101010101" charset="-122"/>
                <a:ea typeface="仿宋" panose="02010609060101010101" charset="-122"/>
              </a:rPr>
              <a:t>部分竹子种类会开花结果，但大多数种类的花并不常见。竹子的果实通常为颖果，内含种子。</a:t>
            </a:r>
            <a:endParaRPr lang="zh-CN" altLang="en-US" sz="2000">
              <a:effectLst>
                <a:glow rad="139700">
                  <a:schemeClr val="accent4">
                    <a:satMod val="175000"/>
                    <a:alpha val="40000"/>
                  </a:schemeClr>
                </a:glow>
              </a:effectLst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Tm="4000">
        <p:newsflash/>
        <p:sndAc>
          <p:stSnd>
            <p:snd r:embed="rId4" name="drumroll.wav"/>
          </p:stSnd>
        </p:sndAc>
      </p:transition>
    </mc:Choice>
    <mc:Fallback>
      <p:transition spd="med" advTm="4000">
        <p:newsflash/>
        <p:sndAc>
          <p:stSnd>
            <p:snd r:embed="rId4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单圆角矩形 2"/>
          <p:cNvSpPr>
            <a:spLocks noChangeAspect="1"/>
          </p:cNvSpPr>
          <p:nvPr/>
        </p:nvSpPr>
        <p:spPr>
          <a:xfrm>
            <a:off x="4860000" y="5760000"/>
            <a:ext cx="5400000" cy="900000"/>
          </a:xfrm>
          <a:prstGeom prst="round1Rect">
            <a:avLst/>
          </a:prstGeom>
          <a:solidFill>
            <a:srgbClr val="92D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6865" y="5787390"/>
            <a:ext cx="4272915" cy="705485"/>
          </a:xfrm>
        </p:spPr>
        <p:txBody>
          <a:bodyPr>
            <a:normAutofit fontScale="90000"/>
          </a:bodyPr>
          <a:p>
            <a:r>
              <a:rPr lang="zh-CN" altLang="en-US" sz="3110"/>
              <a:t>竹子的生长环境及分布</a:t>
            </a:r>
            <a:endParaRPr lang="zh-CN" altLang="en-US" sz="311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1125" y="372745"/>
            <a:ext cx="7523480" cy="28403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13360" y="3556635"/>
            <a:ext cx="7421245" cy="2075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仿宋" panose="02010609060101010101" charset="-122"/>
                <a:ea typeface="仿宋" panose="02010609060101010101" charset="-122"/>
              </a:rPr>
              <a:t>竹子喜欢温暖湿润的气候，对土壤的要求不高，但排水良好的土壤更有利于其生长。竹子在生长过程中需要充足的阳光和水分。</a:t>
            </a:r>
            <a:endParaRPr lang="zh-CN" altLang="en-US" sz="2000">
              <a:latin typeface="仿宋" panose="02010609060101010101" charset="-122"/>
              <a:ea typeface="仿宋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仿宋" panose="02010609060101010101" charset="-122"/>
                <a:ea typeface="仿宋" panose="02010609060101010101" charset="-122"/>
              </a:rPr>
              <a:t>竹子广泛分布于亚洲、非洲、拉丁美洲等热带和亚热带地区。在中国，竹子主要分布在南方各省，如浙江、福建、广东等。</a:t>
            </a:r>
            <a:endParaRPr lang="zh-CN" altLang="en-US" sz="2000">
              <a:latin typeface="仿宋" panose="02010609060101010101" charset="-122"/>
              <a:ea typeface="仿宋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044315" y="1239520"/>
            <a:ext cx="4103370" cy="5302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/>
              <a:t>竹子在中国传统文化中具有重要地位，被誉为“君子”的象征。竹子的坚韧、挺拔、有节等特点被赋予了崇高的精神内涵，成为诗词歌赋的常见题材。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zh-CN" altLang="en-US" sz="2000"/>
              <a:t>竹子是一种重要的经济作物，具有广泛的用途。竹材可用于建筑、家具、工艺品等领域；竹笋是美味的食材；竹叶可入药或制成茶叶等。此外，竹子在生态保护、水土保持等方面也发挥着重要作用。</a:t>
            </a:r>
            <a:endParaRPr lang="zh-CN" altLang="en-US" sz="2000"/>
          </a:p>
        </p:txBody>
      </p:sp>
      <p:pic>
        <p:nvPicPr>
          <p:cNvPr id="2" name="图片 1" descr="素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385" y="1501140"/>
            <a:ext cx="2286000" cy="3086100"/>
          </a:xfrm>
          <a:prstGeom prst="rect">
            <a:avLst/>
          </a:prstGeom>
          <a:effectLst>
            <a:reflection blurRad="6350" stA="50000" endA="300" endPos="90000" dir="5400000" sy="-100000" algn="bl" rotWithShape="0"/>
            <a:softEdge rad="127000"/>
          </a:effectLst>
        </p:spPr>
      </p:pic>
      <p:sp>
        <p:nvSpPr>
          <p:cNvPr id="3" name="矩形 2"/>
          <p:cNvSpPr/>
          <p:nvPr/>
        </p:nvSpPr>
        <p:spPr>
          <a:xfrm>
            <a:off x="179705" y="302260"/>
            <a:ext cx="1115568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竹子在文化与经济中的价值</a:t>
            </a:r>
            <a:endParaRPr lang="zh-CN" altLang="en-US" sz="7200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ID" val="custom20205081_1*a*1"/>
  <p:tag name="KSO_WM_TEMPLATE_CATEGORY" val="custom"/>
  <p:tag name="KSO_WM_TEMPLATE_INDEX" val="20205081"/>
  <p:tag name="KSO_WM_UNIT_LAYERLEVEL" val="1"/>
  <p:tag name="KSO_WM_TAG_VERSION" val="1.0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COMMONDATA" val="eyJoZGlkIjoiNzFlMGY3OGRmZGU1YjQ0MmVmN2U4Yjg3M2ZkYWM1ZjIifQ=="/>
  <p:tag name="commondata" val="eyJoZGlkIjoiNjQwNzdkNTI0ZmEyODlhNmVjYjU4ZGU0YTBmMWRhM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571</Words>
  <Application>WPS 演示</Application>
  <PresentationFormat>宽屏</PresentationFormat>
  <Paragraphs>31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楷体</vt:lpstr>
      <vt:lpstr>Calibri Light</vt:lpstr>
      <vt:lpstr>仿宋</vt:lpstr>
      <vt:lpstr>微软雅黑</vt:lpstr>
      <vt:lpstr>Arial Unicode MS</vt:lpstr>
      <vt:lpstr>Calibri</vt:lpstr>
      <vt:lpstr>WPS</vt:lpstr>
      <vt:lpstr>竹子</vt:lpstr>
      <vt:lpstr>PowerPoint 演示文稿</vt:lpstr>
      <vt:lpstr>竹子定义与分类</vt:lpstr>
      <vt:lpstr>竹子的形态特征</vt:lpstr>
      <vt:lpstr>竹子的生长环境及分布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准易技术~张工</cp:lastModifiedBy>
  <cp:revision>164</cp:revision>
  <dcterms:created xsi:type="dcterms:W3CDTF">2019-06-19T02:08:00Z</dcterms:created>
  <dcterms:modified xsi:type="dcterms:W3CDTF">2025-01-13T02:24:58Z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36AD27B41CF64C07BA596F72B575FFF1_11</vt:lpwstr>
  </property>
</Properties>
</file>