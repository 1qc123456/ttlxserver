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</p:sldIdLst>
  <p:sldSz cx="6858000" cy="12192635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84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3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56" y="1625835"/>
            <a:ext cx="5512306" cy="457026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56" y="6330517"/>
            <a:ext cx="5512306" cy="2617979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41" y="1081756"/>
            <a:ext cx="6170461" cy="125458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41" y="2649984"/>
            <a:ext cx="6170461" cy="846202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77" y="6842592"/>
            <a:ext cx="4370153" cy="1363396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77" y="8205988"/>
            <a:ext cx="4370153" cy="154262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41" y="1081756"/>
            <a:ext cx="6170461" cy="125458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41" y="2669187"/>
            <a:ext cx="2912085" cy="844282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692" y="2669187"/>
            <a:ext cx="2912085" cy="8442822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41" y="1081756"/>
            <a:ext cx="6170461" cy="125458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41" y="2541168"/>
            <a:ext cx="3005239" cy="67849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41" y="3296477"/>
            <a:ext cx="3005239" cy="781553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771" y="2527884"/>
            <a:ext cx="3005239" cy="67849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771" y="3296477"/>
            <a:ext cx="3005239" cy="781553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41" y="1081756"/>
            <a:ext cx="6170461" cy="125458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41" y="2765200"/>
            <a:ext cx="2943743" cy="819318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266" y="2765200"/>
            <a:ext cx="2940437" cy="819318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342" y="1625835"/>
            <a:ext cx="587277" cy="8942095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74" y="1625835"/>
            <a:ext cx="5157914" cy="8942095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41" y="1376200"/>
            <a:ext cx="6172486" cy="974861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56" y="4416639"/>
            <a:ext cx="5512306" cy="181146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56" y="6330517"/>
            <a:ext cx="5512306" cy="83852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41" y="1081756"/>
            <a:ext cx="6170461" cy="1254582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41" y="2649984"/>
            <a:ext cx="6170461" cy="846202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66" y="11227226"/>
            <a:ext cx="1518821" cy="563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357" y="11227226"/>
            <a:ext cx="2227603" cy="563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882" y="11227226"/>
            <a:ext cx="1518821" cy="563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image" Target="../media/image4.png"/><Relationship Id="rId4" Type="http://schemas.openxmlformats.org/officeDocument/2006/relationships/tags" Target="../tags/tag69.xml"/><Relationship Id="rId3" Type="http://schemas.openxmlformats.org/officeDocument/2006/relationships/image" Target="../media/image3.png"/><Relationship Id="rId2" Type="http://schemas.openxmlformats.org/officeDocument/2006/relationships/tags" Target="../tags/tag68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72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0584" y="-41775"/>
            <a:ext cx="5317837" cy="1227844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2249598" y="0"/>
            <a:ext cx="2361943" cy="12193766"/>
          </a:xfrm>
        </p:spPr>
        <p:txBody>
          <a:bodyPr vert="mongolianVert"/>
          <a:p>
            <a:pPr algn="l"/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4816369" y="8865284"/>
            <a:ext cx="1241779" cy="2617979"/>
          </a:xfrm>
        </p:spPr>
        <p:txBody>
          <a:bodyPr vert="eaVert"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-265966" y="812917"/>
            <a:ext cx="10657544" cy="10574332"/>
          </a:xfrm>
        </p:spPr>
        <p:txBody>
          <a:bodyPr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409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范仲淹（989－1052），字希文，谥文正，北宋著名文学家、政治家、军事家、教育家。他出身贫寒却以 “划粥断齑” 苦读成才，历任多地官职，戍边时稳定西北边防，任参知政事期间主持 “庆历新政”，虽改革夭折却影响深远。他兴办学校推动教育平民化，文学上以《岳阳楼记》传世，“先天下之忧而忧，后天下之乐而乐” 的名句成为千古绝唱，其《范文正公集》集中体现其思想与成就，一生刚正不阿、勤政爱民，是后世敬仰的精神标杆。</a:t>
            </a:r>
            <a:endParaRPr lang="zh-CN" altLang="en-US" sz="409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-4637799" y="3443699"/>
            <a:ext cx="15938309" cy="5760834"/>
          </a:xfrm>
        </p:spPr>
        <p:txBody>
          <a:bodyPr/>
          <a:p>
            <a:pPr marL="0" indent="0">
              <a:buNone/>
            </a:pPr>
            <a:r>
              <a:rPr lang="zh-CN" altLang="en-US" sz="409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宋仁宗康定元年（1040）至庆历三年（1043）间，范仲淹任陕西经略副使兼延州知州。据史载，在他镇守西北边疆期间，既号令严明又爱抚士兵，并招徕诸羌推心接纳，深为西夏所惮服，称他“腹中有数万甲兵”。</a:t>
            </a:r>
            <a:endParaRPr lang="zh-CN" altLang="en-US" sz="409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-6273062" y="8973292"/>
            <a:ext cx="4520516" cy="2151874"/>
            <a:chOff x="2092" y="3641"/>
            <a:chExt cx="15014" cy="4170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2092" y="3641"/>
              <a:ext cx="15015" cy="417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092" y="3641"/>
              <a:ext cx="945" cy="945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10800000">
              <a:off x="16162" y="6866"/>
              <a:ext cx="945" cy="945"/>
            </a:xfrm>
            <a:prstGeom prst="rect">
              <a:avLst/>
            </a:prstGeom>
          </p:spPr>
        </p:pic>
      </p:grp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20073" y="1804226"/>
            <a:ext cx="17700155" cy="8584186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-2807133" y="2918822"/>
            <a:ext cx="12501010" cy="6349720"/>
          </a:xfrm>
        </p:spPr>
        <p:txBody>
          <a:bodyPr/>
          <a:p>
            <a:pPr marL="0" indent="0">
              <a:spcAft>
                <a:spcPts val="0"/>
              </a:spcAft>
              <a:buNone/>
            </a:pPr>
            <a:r>
              <a:rPr lang="zh-CN" altLang="en-US" sz="409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塞下秋来风景异，衡阳雁去无留意。</a:t>
            </a:r>
            <a:endParaRPr lang="zh-CN" altLang="en-US" sz="409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409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四面边声连角起，千嶂里，长烟落日孤城闭。 </a:t>
            </a:r>
            <a:endParaRPr lang="zh-CN" altLang="en-US" sz="409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409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浊酒一杯家万里，燕然未勒归无计。</a:t>
            </a:r>
            <a:endParaRPr lang="zh-CN" altLang="en-US" sz="409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409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羌管悠悠霜满地，人不寐，将军白发征夫泪。</a:t>
            </a:r>
            <a:endParaRPr lang="zh-CN" altLang="en-US" sz="409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WPS 演示</Application>
  <PresentationFormat>宽屏</PresentationFormat>
  <Paragraphs>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楷体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158</cp:revision>
  <dcterms:created xsi:type="dcterms:W3CDTF">2019-06-19T02:08:00Z</dcterms:created>
  <dcterms:modified xsi:type="dcterms:W3CDTF">2025-11-12T08:13:38Z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F98DF3A594AA4C4A9639C2CA9A45E420_11</vt:lpwstr>
  </property>
</Properties>
</file>