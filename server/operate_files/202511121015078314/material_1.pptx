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9" r:id="rId5"/>
    <p:sldId id="258" r:id="rId6"/>
  </p:sldIdLst>
  <p:sldSz cx="12192635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Rg st="1" end="4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4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914442"/>
            <a:ext cx="9800165" cy="257051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3560565"/>
            <a:ext cx="9800165" cy="147246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范文正公边塞绝唱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7" name="hammer.wav"/>
          </p:stSnd>
        </p:sndAc>
      </p:transition>
    </mc:Choice>
    <mc:Fallback>
      <p:transition spd="slow" advTm="0">
        <p:split/>
        <p:sndAc>
          <p:stSnd>
            <p:snd r:embed="rId7" name="hammer.wav"/>
          </p:stSnd>
        </p:sndAc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69"/>
            <a:ext cx="10970280" cy="475942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7" name="hammer.wav"/>
          </p:stSnd>
        </p:sndAc>
      </p:transition>
    </mc:Choice>
    <mc:Fallback>
      <p:transition spd="slow" advTm="0">
        <p:split/>
        <p:sndAc>
          <p:stSnd>
            <p:snd r:embed="rId7" name="hammer.wav"/>
          </p:stSnd>
        </p:sndAc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579"/>
            <a:ext cx="7769565" cy="7668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414"/>
            <a:ext cx="7769565" cy="86764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7" name="hammer.wav"/>
          </p:stSnd>
        </p:sndAc>
      </p:transition>
    </mc:Choice>
    <mc:Fallback>
      <p:transition spd="slow" advTm="0">
        <p:split/>
        <p:sndAc>
          <p:stSnd>
            <p:snd r:embed="rId7" name="hammer.wav"/>
          </p:stSnd>
        </p:sndAc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70"/>
            <a:ext cx="5177310" cy="474862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70"/>
            <a:ext cx="5177310" cy="474862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8" name="hammer.wav"/>
          </p:stSnd>
        </p:sndAc>
      </p:transition>
    </mc:Choice>
    <mc:Fallback>
      <p:transition spd="slow" advTm="0">
        <p:split/>
        <p:sndAc>
          <p:stSnd>
            <p:snd r:embed="rId8" name="hammer.wav"/>
          </p:stSnd>
        </p:sndAc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66"/>
            <a:ext cx="5342926" cy="38161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86"/>
            <a:ext cx="5342926" cy="43958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3" y="1421795"/>
            <a:ext cx="5342926" cy="38161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3" y="1854086"/>
            <a:ext cx="5342926" cy="43958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10" name="hammer.wav"/>
          </p:stSnd>
        </p:sndAc>
      </p:transition>
    </mc:Choice>
    <mc:Fallback>
      <p:transition spd="slow" advTm="0">
        <p:split/>
        <p:sndAc>
          <p:stSnd>
            <p:snd r:embed="rId10" name="hammer.wav"/>
          </p:stSnd>
        </p:sndAc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6" name="hammer.wav"/>
          </p:stSnd>
        </p:sndAc>
      </p:transition>
    </mc:Choice>
    <mc:Fallback>
      <p:transition spd="slow" advTm="0">
        <p:split/>
        <p:sndAc>
          <p:stSnd>
            <p:snd r:embed="rId6" name="hammer.wav"/>
          </p:stSnd>
        </p:sndAc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5" name="hammer.wav"/>
          </p:stSnd>
        </p:sndAc>
      </p:transition>
    </mc:Choice>
    <mc:Fallback>
      <p:transition spd="slow" advTm="0">
        <p:split/>
        <p:sndAc>
          <p:stSnd>
            <p:snd r:embed="rId5" name="hammer.wav"/>
          </p:stSnd>
        </p:sndAc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72"/>
            <a:ext cx="5233593" cy="460821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72"/>
            <a:ext cx="5227715" cy="460821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范文正公边塞绝唱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8" name="hammer.wav"/>
          </p:stSnd>
        </p:sndAc>
      </p:transition>
    </mc:Choice>
    <mc:Fallback>
      <p:transition spd="slow" advTm="0">
        <p:split/>
        <p:sndAc>
          <p:stSnd>
            <p:snd r:embed="rId8" name="hammer.wav"/>
          </p:stSnd>
        </p:sndAc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42"/>
            <a:ext cx="1044103" cy="502943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42"/>
            <a:ext cx="9170103" cy="5029433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7" name="hammer.wav"/>
          </p:stSnd>
        </p:sndAc>
      </p:transition>
    </mc:Choice>
    <mc:Fallback>
      <p:transition spd="slow" advTm="0">
        <p:split/>
        <p:sndAc>
          <p:stSnd>
            <p:snd r:embed="rId7" name="hammer.wav"/>
          </p:stSnd>
        </p:sndAc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36"/>
            <a:ext cx="10973880" cy="5483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6" name="hammer.wav"/>
          </p:stSnd>
        </p:sndAc>
      </p:transition>
    </mc:Choice>
    <mc:Fallback>
      <p:transition spd="slow" advTm="0">
        <p:split/>
        <p:sndAc>
          <p:stSnd>
            <p:snd r:embed="rId6" name="hammer.wav"/>
          </p:stSnd>
        </p:sndAc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范文正公边塞绝唱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115"/>
            <a:ext cx="9800165" cy="101884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565"/>
            <a:ext cx="9800165" cy="4716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7" name="hammer.wav"/>
          </p:stSnd>
        </p:sndAc>
      </p:transition>
    </mc:Choice>
    <mc:Fallback>
      <p:transition spd="slow" advTm="0">
        <p:split/>
        <p:sndAc>
          <p:stSnd>
            <p:snd r:embed="rId7" name="hammer.wav"/>
          </p:stSnd>
        </p:sndAc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608428"/>
            <a:ext cx="10970280" cy="70563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490469"/>
            <a:ext cx="10970280" cy="475942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6314693"/>
            <a:ext cx="2700266" cy="31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6314693"/>
            <a:ext cx="3960390" cy="31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范文正公边塞绝唱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6314693"/>
            <a:ext cx="2700266" cy="31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18" name="hammer.wav"/>
          </p:stSnd>
        </p:sndAc>
      </p:transition>
    </mc:Choice>
    <mc:Fallback>
      <p:transition spd="slow" advTm="0">
        <p:split/>
        <p:sndAc>
          <p:stSnd>
            <p:snd r:embed="rId18" name="hammer.wav"/>
          </p:stSnd>
        </p:sndAc>
      </p:transition>
    </mc:Fallback>
  </mc:AlternateConten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audio" Target="../media/audio1.wav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audio" Target="../media/audio1.wav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audio" Target="../media/audio1.wav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image" Target="../media/image6.png"/><Relationship Id="rId4" Type="http://schemas.openxmlformats.org/officeDocument/2006/relationships/tags" Target="../tags/tag69.xml"/><Relationship Id="rId3" Type="http://schemas.openxmlformats.org/officeDocument/2006/relationships/image" Target="../media/image5.png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audio" Target="../media/audio1.wav"/><Relationship Id="rId4" Type="http://schemas.openxmlformats.org/officeDocument/2006/relationships/tags" Target="../tags/tag73.xml"/><Relationship Id="rId3" Type="http://schemas.openxmlformats.org/officeDocument/2006/relationships/image" Target="../media/image7.png"/><Relationship Id="rId2" Type="http://schemas.openxmlformats.org/officeDocument/2006/relationships/tags" Target="../tags/tag7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01106" y="-23496"/>
            <a:ext cx="2990989" cy="6905946"/>
          </a:xfrm>
          <a:prstGeom prst="rect">
            <a:avLst/>
          </a:prstGeom>
          <a:solidFill>
            <a:schemeClr val="tx1">
              <a:alpha val="30000"/>
            </a:schemeClr>
          </a:solidFill>
          <a:ln w="19050">
            <a:solidFill>
              <a:schemeClr val="bg1"/>
            </a:solidFill>
          </a:ln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5432969" y="0"/>
            <a:ext cx="1328462" cy="6858318"/>
          </a:xfrm>
        </p:spPr>
        <p:txBody>
          <a:bodyPr vert="mongolianVert"/>
          <a:p>
            <a:pPr algn="ctr"/>
            <a:r>
              <a:rPr lang="zh-CN" altLang="zh-CN" sz="7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渔家傲</a:t>
            </a:r>
            <a:r>
              <a:rPr lang="en-US" altLang="zh-CN" sz="7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·</a:t>
            </a:r>
            <a:r>
              <a:rPr lang="zh-CN" altLang="en-US" sz="7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秋思</a:t>
            </a:r>
            <a:endParaRPr lang="zh-CN" altLang="en-US" sz="7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6876636" y="4986231"/>
            <a:ext cx="698432" cy="1472468"/>
          </a:xfrm>
        </p:spPr>
        <p:txBody>
          <a:bodyPr vert="eaVert"/>
          <a:p>
            <a:pPr algn="dist"/>
            <a:r>
              <a:rPr lang="zh-CN" altLang="en-US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范仲淹</a:t>
            </a:r>
            <a:endParaRPr lang="zh-CN" altLang="en-US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7" name="hammer.wav"/>
          </p:stSnd>
        </p:sndAc>
      </p:transition>
    </mc:Choice>
    <mc:Fallback>
      <p:transition spd="slow" advTm="0">
        <p:split/>
        <p:sndAc>
          <p:stSnd>
            <p:snd r:embed="rId7" name="hammer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4018104" y="457221"/>
            <a:ext cx="5994278" cy="5947476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sz="23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范仲淹（989－1052），字希文，谥文正，北宋著名文学家、政治家、军事家、教育家。他出身贫寒却以 “划粥断齑” 苦读成才，历任多地官职，戍边时稳定西北边防，任参知政事期间主持 “庆历新政”，虽改革夭折却影响深远。他兴办学校推动教育平民化，文学上以《岳阳楼记》传世，“先天下之忧而忧，后天下之乐而乐” 的名句成为千古绝唱，其《范文正公集》集中体现其思想与成就，一生刚正不阿、勤政爱民，是后世敬仰的精神标杆。</a:t>
            </a:r>
            <a:endParaRPr lang="zh-CN" altLang="en-US" sz="23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3" name="图片 2" descr="范仲淹"/>
          <p:cNvPicPr/>
          <p:nvPr/>
        </p:nvPicPr>
        <p:blipFill>
          <a:blip r:embed="rId2"/>
          <a:stretch>
            <a:fillRect/>
          </a:stretch>
        </p:blipFill>
        <p:spPr>
          <a:xfrm>
            <a:off x="915670" y="765175"/>
            <a:ext cx="2664000" cy="2664000"/>
          </a:xfrm>
          <a:prstGeom prst="rect">
            <a:avLst/>
          </a:prstGeom>
          <a:effectLst>
            <a:reflection blurRad="101600" stA="60000" endPos="70000" dist="25400" dir="5400000" sy="-100000" algn="bl" rotWithShape="0"/>
          </a:effec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范文正公边塞绝唱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4" name="hammer.wav"/>
          </p:stSnd>
        </p:sndAc>
      </p:transition>
    </mc:Choice>
    <mc:Fallback>
      <p:transition spd="slow" advTm="0">
        <p:split/>
        <p:sndAc>
          <p:stSnd>
            <p:snd r:embed="rId4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1332000" y="1944000"/>
            <a:ext cx="8964000" cy="3520798"/>
            <a:chOff x="2092" y="3641"/>
            <a:chExt cx="15014" cy="4170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2092" y="3641"/>
              <a:ext cx="15015" cy="417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092" y="3641"/>
              <a:ext cx="945" cy="94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10800000">
              <a:off x="16162" y="6866"/>
              <a:ext cx="945" cy="945"/>
            </a:xfrm>
            <a:prstGeom prst="rect">
              <a:avLst/>
            </a:prstGeom>
          </p:spPr>
        </p:pic>
      </p:grp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1332495" y="2224545"/>
            <a:ext cx="8964416" cy="3240150"/>
          </a:xfrm>
        </p:spPr>
        <p:txBody>
          <a:bodyPr/>
          <a:p>
            <a:pPr marL="76200" indent="560070">
              <a:lnSpc>
                <a:spcPct val="200000"/>
              </a:lnSpc>
              <a:spcAft>
                <a:spcPts val="600"/>
              </a:spcAft>
              <a:buNone/>
              <a:extLst>
                <a:ext uri="{35155182-B16C-46BC-9424-99874614C6A1}">
                  <wpsdc:indentchars xmlns:wpsdc="http://www.wps.cn/officeDocument/2017/drawingmlCustomData" val="180" checksum="2317168338"/>
                </a:ext>
              </a:extLst>
            </a:pPr>
            <a:r>
              <a:rPr lang="zh-CN" altLang="en-US" sz="23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宋仁宗康定元年（1040）至庆历三年（1043）间，范仲淹任陕西经略副使兼延州知州。据史载，在他镇守西北边疆期间，既号令严明又爱抚士兵，并招徕诸羌推心接纳，深为西夏所惮服，称他“腹中有数万甲兵”。</a:t>
            </a:r>
            <a:endParaRPr lang="zh-CN" altLang="en-US" sz="23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范文正公边塞绝唱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8" name="hammer.wav"/>
          </p:stSnd>
        </p:sndAc>
      </p:transition>
    </mc:Choice>
    <mc:Fallback>
      <p:transition spd="slow" advTm="0">
        <p:split/>
        <p:sndAc>
          <p:stSnd>
            <p:snd r:embed="rId8" name="hammer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9204" y="1014777"/>
            <a:ext cx="9955357" cy="4828129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2588838" y="1641676"/>
            <a:ext cx="7031126" cy="3571366"/>
          </a:xfrm>
        </p:spPr>
        <p:txBody>
          <a:bodyPr/>
          <a:p>
            <a:pPr marL="0" indent="0" algn="ctr">
              <a:lnSpc>
                <a:spcPct val="200000"/>
              </a:lnSpc>
              <a:spcAft>
                <a:spcPts val="0"/>
              </a:spcAft>
              <a:buNone/>
            </a:pPr>
            <a:r>
              <a:rPr lang="zh-CN" altLang="en-US" sz="23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塞下秋来风景异，衡阳雁去无留意。</a:t>
            </a:r>
            <a:endParaRPr lang="zh-CN" altLang="en-US" sz="23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ctr">
              <a:lnSpc>
                <a:spcPct val="200000"/>
              </a:lnSpc>
              <a:spcAft>
                <a:spcPts val="0"/>
              </a:spcAft>
              <a:buNone/>
            </a:pPr>
            <a:r>
              <a:rPr lang="zh-CN" altLang="en-US" sz="23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四面边声连角起，千嶂里，长烟落日孤城闭。 </a:t>
            </a:r>
            <a:endParaRPr lang="zh-CN" altLang="en-US" sz="23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ctr">
              <a:lnSpc>
                <a:spcPct val="200000"/>
              </a:lnSpc>
              <a:spcAft>
                <a:spcPts val="0"/>
              </a:spcAft>
              <a:buNone/>
            </a:pPr>
            <a:r>
              <a:rPr lang="zh-CN" altLang="en-US" sz="23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浊酒一杯家万里，燕然未勒归无计。</a:t>
            </a:r>
            <a:endParaRPr lang="zh-CN" altLang="en-US" sz="23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ctr">
              <a:lnSpc>
                <a:spcPct val="200000"/>
              </a:lnSpc>
              <a:spcAft>
                <a:spcPts val="0"/>
              </a:spcAft>
              <a:buNone/>
            </a:pPr>
            <a:r>
              <a:rPr lang="zh-CN" altLang="en-US" sz="23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羌管悠悠霜满地，人不寐，将军白发征夫泪。</a:t>
            </a:r>
            <a:endParaRPr lang="zh-CN" altLang="en-US" sz="23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范文正公边塞绝唱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/>
        <p:sndAc>
          <p:stSnd>
            <p:snd r:embed="rId5" name="hammer.wav"/>
          </p:stSnd>
        </p:sndAc>
      </p:transition>
    </mc:Choice>
    <mc:Fallback>
      <p:transition spd="slow" advTm="0">
        <p:split/>
        <p:sndAc>
          <p:stSnd>
            <p:snd r:embed="rId5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4" dur="17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7" dur="17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0" dur="17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WPS 演示</Application>
  <PresentationFormat>宽屏</PresentationFormat>
  <Paragraphs>19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仿宋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158</cp:revision>
  <dcterms:created xsi:type="dcterms:W3CDTF">2019-06-19T02:08:00Z</dcterms:created>
  <dcterms:modified xsi:type="dcterms:W3CDTF">2025-11-12T01:55:39Z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09FD2545FCDB41778C0E5CC1C9E77C52_13</vt:lpwstr>
  </property>
</Properties>
</file>