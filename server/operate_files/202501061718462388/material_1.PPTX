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8" r:id="rId3"/>
    <p:sldId id="256" r:id="rId4"/>
    <p:sldId id="257" r:id="rId5"/>
    <p:sldId id="259" r:id="rId6"/>
  </p:sldIdLst>
  <p:sldSz cx="9144000" cy="6858000" type="screen4x3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506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72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侠侣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image" Target="../media/image1.jpeg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65.xml"/><Relationship Id="rId8" Type="http://schemas.openxmlformats.org/officeDocument/2006/relationships/tags" Target="../tags/tag64.xml"/><Relationship Id="rId7" Type="http://schemas.openxmlformats.org/officeDocument/2006/relationships/tags" Target="../tags/tag63.x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等腰三角形 7"/>
          <p:cNvSpPr/>
          <p:nvPr>
            <p:custDataLst>
              <p:tags r:id="rId2"/>
            </p:custDataLst>
          </p:nvPr>
        </p:nvSpPr>
        <p:spPr>
          <a:xfrm>
            <a:off x="3337322" y="5073650"/>
            <a:ext cx="1015603" cy="1784350"/>
          </a:xfrm>
          <a:custGeom>
            <a:avLst/>
            <a:gdLst>
              <a:gd name="connsiteX0" fmla="*/ 0 w 2070696"/>
              <a:gd name="connsiteY0" fmla="*/ 1785082 h 1785082"/>
              <a:gd name="connsiteX1" fmla="*/ 1035348 w 2070696"/>
              <a:gd name="connsiteY1" fmla="*/ 0 h 1785082"/>
              <a:gd name="connsiteX2" fmla="*/ 2070696 w 2070696"/>
              <a:gd name="connsiteY2" fmla="*/ 1785082 h 1785082"/>
              <a:gd name="connsiteX3" fmla="*/ 0 w 2070696"/>
              <a:gd name="connsiteY3" fmla="*/ 1785082 h 1785082"/>
              <a:gd name="connsiteX0-1" fmla="*/ 0 w 1478876"/>
              <a:gd name="connsiteY0-2" fmla="*/ 1785082 h 1785082"/>
              <a:gd name="connsiteX1-3" fmla="*/ 1035348 w 1478876"/>
              <a:gd name="connsiteY1-4" fmla="*/ 0 h 1785082"/>
              <a:gd name="connsiteX2-5" fmla="*/ 1478876 w 1478876"/>
              <a:gd name="connsiteY2-6" fmla="*/ 1785082 h 1785082"/>
              <a:gd name="connsiteX3-7" fmla="*/ 0 w 1478876"/>
              <a:gd name="connsiteY3-8" fmla="*/ 1785082 h 1785082"/>
              <a:gd name="connsiteX0-9" fmla="*/ 0 w 1699856"/>
              <a:gd name="connsiteY0-10" fmla="*/ 1785082 h 1785082"/>
              <a:gd name="connsiteX1-11" fmla="*/ 1035348 w 1699856"/>
              <a:gd name="connsiteY1-12" fmla="*/ 0 h 1785082"/>
              <a:gd name="connsiteX2-13" fmla="*/ 1699856 w 1699856"/>
              <a:gd name="connsiteY2-14" fmla="*/ 1785082 h 1785082"/>
              <a:gd name="connsiteX3-15" fmla="*/ 0 w 1699856"/>
              <a:gd name="connsiteY3-16" fmla="*/ 1785082 h 1785082"/>
              <a:gd name="connsiteX0-17" fmla="*/ 0 w 1250276"/>
              <a:gd name="connsiteY0-18" fmla="*/ 1785082 h 1785082"/>
              <a:gd name="connsiteX1-19" fmla="*/ 585768 w 1250276"/>
              <a:gd name="connsiteY1-20" fmla="*/ 0 h 1785082"/>
              <a:gd name="connsiteX2-21" fmla="*/ 1250276 w 1250276"/>
              <a:gd name="connsiteY2-22" fmla="*/ 1785082 h 1785082"/>
              <a:gd name="connsiteX3-23" fmla="*/ 0 w 1250276"/>
              <a:gd name="connsiteY3-24" fmla="*/ 1785082 h 1785082"/>
              <a:gd name="connsiteX0-25" fmla="*/ 0 w 1354416"/>
              <a:gd name="connsiteY0-26" fmla="*/ 1774922 h 1785082"/>
              <a:gd name="connsiteX1-27" fmla="*/ 689908 w 1354416"/>
              <a:gd name="connsiteY1-28" fmla="*/ 0 h 1785082"/>
              <a:gd name="connsiteX2-29" fmla="*/ 1354416 w 1354416"/>
              <a:gd name="connsiteY2-30" fmla="*/ 1785082 h 1785082"/>
              <a:gd name="connsiteX3-31" fmla="*/ 0 w 1354416"/>
              <a:gd name="connsiteY3-32" fmla="*/ 1774922 h 1785082"/>
              <a:gd name="connsiteX0-33" fmla="*/ 0 w 1354416"/>
              <a:gd name="connsiteY0-34" fmla="*/ 1785082 h 1785082"/>
              <a:gd name="connsiteX1-35" fmla="*/ 689908 w 1354416"/>
              <a:gd name="connsiteY1-36" fmla="*/ 0 h 1785082"/>
              <a:gd name="connsiteX2-37" fmla="*/ 1354416 w 1354416"/>
              <a:gd name="connsiteY2-38" fmla="*/ 1785082 h 1785082"/>
              <a:gd name="connsiteX3-39" fmla="*/ 0 w 1354416"/>
              <a:gd name="connsiteY3-40" fmla="*/ 1785082 h 178508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354416" h="1785082">
                <a:moveTo>
                  <a:pt x="0" y="1785082"/>
                </a:moveTo>
                <a:lnTo>
                  <a:pt x="689908" y="0"/>
                </a:lnTo>
                <a:lnTo>
                  <a:pt x="1354416" y="1785082"/>
                </a:lnTo>
                <a:lnTo>
                  <a:pt x="0" y="1785082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7" name="平行四边形 7"/>
          <p:cNvSpPr/>
          <p:nvPr>
            <p:custDataLst>
              <p:tags r:id="rId3"/>
            </p:custDataLst>
          </p:nvPr>
        </p:nvSpPr>
        <p:spPr>
          <a:xfrm flipV="1">
            <a:off x="0" y="-9525"/>
            <a:ext cx="2355056" cy="2008188"/>
          </a:xfrm>
          <a:prstGeom prst="parallelogram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9" name="任意多边形 15"/>
          <p:cNvSpPr/>
          <p:nvPr>
            <p:custDataLst>
              <p:tags r:id="rId4"/>
            </p:custDataLst>
          </p:nvPr>
        </p:nvSpPr>
        <p:spPr>
          <a:xfrm>
            <a:off x="-13097" y="-11113"/>
            <a:ext cx="5428060" cy="6892926"/>
          </a:xfrm>
          <a:custGeom>
            <a:avLst/>
            <a:gdLst>
              <a:gd name="connsiteX0" fmla="*/ 1367257 w 7176303"/>
              <a:gd name="connsiteY0" fmla="*/ 0 h 6866674"/>
              <a:gd name="connsiteX1" fmla="*/ 7176303 w 7176303"/>
              <a:gd name="connsiteY1" fmla="*/ 11556 h 6866674"/>
              <a:gd name="connsiteX2" fmla="*/ 4454810 w 7176303"/>
              <a:gd name="connsiteY2" fmla="*/ 6858020 h 6866674"/>
              <a:gd name="connsiteX3" fmla="*/ 0 w 7176303"/>
              <a:gd name="connsiteY3" fmla="*/ 6866674 h 6866674"/>
              <a:gd name="connsiteX4" fmla="*/ 0 w 7176303"/>
              <a:gd name="connsiteY4" fmla="*/ 3283633 h 6866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76303" h="6866674">
                <a:moveTo>
                  <a:pt x="1367257" y="0"/>
                </a:moveTo>
                <a:lnTo>
                  <a:pt x="7176303" y="11556"/>
                </a:lnTo>
                <a:lnTo>
                  <a:pt x="4454810" y="6858020"/>
                </a:lnTo>
                <a:lnTo>
                  <a:pt x="0" y="6866674"/>
                </a:lnTo>
                <a:lnTo>
                  <a:pt x="0" y="3283633"/>
                </a:lnTo>
                <a:close/>
              </a:path>
            </a:pathLst>
          </a:custGeom>
          <a:blipFill rotWithShape="1">
            <a:blip r:embed="rId5" cstate="screen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 dirty="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0" name="任意多边形 17"/>
          <p:cNvSpPr/>
          <p:nvPr>
            <p:custDataLst>
              <p:tags r:id="rId6"/>
            </p:custDataLst>
          </p:nvPr>
        </p:nvSpPr>
        <p:spPr>
          <a:xfrm>
            <a:off x="-32147" y="-9525"/>
            <a:ext cx="5451872" cy="6891338"/>
          </a:xfrm>
          <a:custGeom>
            <a:avLst/>
            <a:gdLst>
              <a:gd name="connsiteX0" fmla="*/ 1377503 w 7191711"/>
              <a:gd name="connsiteY0" fmla="*/ 0 h 6866692"/>
              <a:gd name="connsiteX1" fmla="*/ 7191711 w 7191711"/>
              <a:gd name="connsiteY1" fmla="*/ 11556 h 6866692"/>
              <a:gd name="connsiteX2" fmla="*/ 4467800 w 7191711"/>
              <a:gd name="connsiteY2" fmla="*/ 6858020 h 6866692"/>
              <a:gd name="connsiteX3" fmla="*/ 0 w 7191711"/>
              <a:gd name="connsiteY3" fmla="*/ 6866692 h 6866692"/>
              <a:gd name="connsiteX4" fmla="*/ 0 w 7191711"/>
              <a:gd name="connsiteY4" fmla="*/ 3305303 h 6866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91711" h="6866692">
                <a:moveTo>
                  <a:pt x="1377503" y="0"/>
                </a:moveTo>
                <a:lnTo>
                  <a:pt x="7191711" y="11556"/>
                </a:lnTo>
                <a:lnTo>
                  <a:pt x="4467800" y="6858020"/>
                </a:lnTo>
                <a:lnTo>
                  <a:pt x="0" y="6866692"/>
                </a:lnTo>
                <a:lnTo>
                  <a:pt x="0" y="3305303"/>
                </a:lnTo>
                <a:close/>
              </a:path>
            </a:pathLst>
          </a:custGeom>
          <a:solidFill>
            <a:schemeClr val="tx1"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 dirty="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1" name="平行四边形 10"/>
          <p:cNvSpPr/>
          <p:nvPr>
            <p:custDataLst>
              <p:tags r:id="rId7"/>
            </p:custDataLst>
          </p:nvPr>
        </p:nvSpPr>
        <p:spPr>
          <a:xfrm flipV="1">
            <a:off x="6735366" y="5002213"/>
            <a:ext cx="2305050" cy="1865312"/>
          </a:xfrm>
          <a:prstGeom prst="parallelogram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cxnSp>
        <p:nvCxnSpPr>
          <p:cNvPr id="12" name="直接连接符 11"/>
          <p:cNvCxnSpPr/>
          <p:nvPr>
            <p:custDataLst>
              <p:tags r:id="rId8"/>
            </p:custDataLst>
          </p:nvPr>
        </p:nvCxnSpPr>
        <p:spPr>
          <a:xfrm flipH="1">
            <a:off x="6673084" y="4648927"/>
            <a:ext cx="2300288" cy="0"/>
          </a:xfrm>
          <a:prstGeom prst="line">
            <a:avLst/>
          </a:prstGeom>
          <a:ln w="19050" cap="rnd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9"/>
            </p:custDataLst>
          </p:nvPr>
        </p:nvSpPr>
        <p:spPr>
          <a:xfrm>
            <a:off x="4818729" y="740138"/>
            <a:ext cx="4154642" cy="2751522"/>
          </a:xfrm>
        </p:spPr>
        <p:txBody>
          <a:bodyPr lIns="90000" tIns="46800" rIns="90000" bIns="0" anchor="b">
            <a:normAutofit/>
          </a:bodyPr>
          <a:lstStyle>
            <a:lvl1pPr algn="r">
              <a:defRPr sz="4950" b="1">
                <a:solidFill>
                  <a:schemeClr val="tx2"/>
                </a:solidFill>
                <a:latin typeface="微软雅黑" panose="020B0503020204020204" charset="-122"/>
              </a:defRPr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606284" y="3924075"/>
            <a:ext cx="3367088" cy="523240"/>
          </a:xfrm>
        </p:spPr>
        <p:txBody>
          <a:bodyPr lIns="90000" rIns="90000"/>
          <a:lstStyle>
            <a:lvl1pPr marL="0" indent="0" algn="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13" name="日期占位符 3"/>
          <p:cNvSpPr>
            <a:spLocks noGrp="1"/>
          </p:cNvSpPr>
          <p:nvPr>
            <p:ph type="dt" sz="half" idx="15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14" name="页脚占位符 4"/>
          <p:cNvSpPr>
            <a:spLocks noGrp="1"/>
          </p:cNvSpPr>
          <p:nvPr>
            <p:ph type="ftr" sz="quarter" idx="16"/>
            <p:custDataLst>
              <p:tags r:id="rId12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16" name="灯片编号占位符 5"/>
          <p:cNvSpPr>
            <a:spLocks noGrp="1"/>
          </p:cNvSpPr>
          <p:nvPr>
            <p:ph type="sldNum" sz="quarter" idx="17"/>
            <p:custDataLst>
              <p:tags r:id="rId1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/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502412" y="952508"/>
            <a:ext cx="8139178" cy="5388907"/>
          </a:xfrm>
        </p:spPr>
        <p:txBody>
          <a:bodyPr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48" y="3808730"/>
            <a:ext cx="8139178" cy="624845"/>
          </a:xfrm>
        </p:spPr>
        <p:txBody>
          <a:bodyPr rIns="63500"/>
          <a:lstStyle>
            <a:lvl1pPr>
              <a:defRPr sz="2700" u="none" strike="noStrike" kern="1200" cap="none" spc="300" normalizeH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502444" y="4511675"/>
            <a:ext cx="8139178" cy="1077985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12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/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679158" y="952508"/>
            <a:ext cx="3962432" cy="5388907"/>
          </a:xfrm>
        </p:spPr>
        <p:txBody>
          <a:bodyPr>
            <a:noAutofit/>
          </a:bodyPr>
          <a:lstStyle>
            <a:lvl1pPr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2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12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2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2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/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502448" y="952508"/>
            <a:ext cx="3962432" cy="381003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b="0" u="none" strike="noStrike" kern="1200" cap="none" spc="20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02444" y="1406525"/>
            <a:ext cx="3962400" cy="4934752"/>
          </a:xfrm>
        </p:spPr>
        <p:txBody>
          <a:bodyPr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4676813" y="952508"/>
            <a:ext cx="3962432" cy="381003"/>
          </a:xfrm>
        </p:spPr>
        <p:txBody>
          <a:bodyPr tIns="38100" rIns="76200" bIns="3810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5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76813" y="1406525"/>
            <a:ext cx="3962432" cy="4934752"/>
          </a:xfrm>
        </p:spPr>
        <p:txBody>
          <a:bodyPr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48" y="443234"/>
            <a:ext cx="8139178" cy="441964"/>
          </a:xfrm>
        </p:spPr>
        <p:txBody>
          <a:bodyPr/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单击图标添加图片</a:t>
            </a:r>
            <a:endParaRPr lang="zh-CN" altLang="en-US"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4679194" y="952508"/>
            <a:ext cx="3962432" cy="5388907"/>
          </a:xfrm>
        </p:spPr>
        <p:txBody>
          <a:bodyPr/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7928351" y="952508"/>
            <a:ext cx="713238" cy="5388907"/>
          </a:xfrm>
        </p:spPr>
        <p:txBody>
          <a:bodyPr vert="eaVert" anchor="ctr"/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02444" y="952500"/>
            <a:ext cx="7371076" cy="5388907"/>
          </a:xfrm>
        </p:spPr>
        <p:txBody>
          <a:bodyPr vert="eaVert"/>
          <a:lstStyle>
            <a:lvl1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>
          <a:xfrm>
            <a:off x="502448" y="952508"/>
            <a:ext cx="8139178" cy="538890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4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5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6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B2326F-068C-4081-A9BE-717E8CE3C581}" type="slidenum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>
            <p:custDataLst>
              <p:tags r:id="rId2"/>
            </p:custDataLst>
          </p:nvPr>
        </p:nvCxnSpPr>
        <p:spPr>
          <a:xfrm flipH="1">
            <a:off x="6146006" y="3686175"/>
            <a:ext cx="2300288" cy="0"/>
          </a:xfrm>
          <a:prstGeom prst="line">
            <a:avLst/>
          </a:prstGeom>
          <a:ln w="19050" cap="rnd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平行四边形 3"/>
          <p:cNvSpPr/>
          <p:nvPr>
            <p:custDataLst>
              <p:tags r:id="rId3"/>
            </p:custDataLst>
          </p:nvPr>
        </p:nvSpPr>
        <p:spPr>
          <a:xfrm flipV="1">
            <a:off x="0" y="0"/>
            <a:ext cx="2355056" cy="2008188"/>
          </a:xfrm>
          <a:prstGeom prst="parallelogram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0" y="4849813"/>
            <a:ext cx="9144000" cy="20558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6" name="平行四边形 5"/>
          <p:cNvSpPr/>
          <p:nvPr>
            <p:custDataLst>
              <p:tags r:id="rId5"/>
            </p:custDataLst>
          </p:nvPr>
        </p:nvSpPr>
        <p:spPr>
          <a:xfrm flipV="1">
            <a:off x="6728222" y="4849813"/>
            <a:ext cx="2305050" cy="2054225"/>
          </a:xfrm>
          <a:prstGeom prst="parallelogram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4380300" y="1264356"/>
            <a:ext cx="4155300" cy="2410470"/>
          </a:xfrm>
        </p:spPr>
        <p:txBody>
          <a:bodyPr lIns="90000" tIns="46800" rIns="90000" bIns="46800" anchor="b">
            <a:normAutofit/>
          </a:bodyPr>
          <a:lstStyle>
            <a:lvl1pPr marL="0" marR="0" algn="r" defTabSz="914400" rtl="0" eaLnBrk="1" fontAlgn="auto" latinLnBrk="0" hangingPunct="1">
              <a:lnSpc>
                <a:spcPct val="100000"/>
              </a:lnSpc>
              <a:buNone/>
              <a:defRPr kumimoji="0" lang="zh-CN" altLang="en-US" sz="66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编辑标题</a:t>
            </a:r>
            <a:endParaRPr noProof="1">
              <a:sym typeface="+mn-ea"/>
            </a:endParaRPr>
          </a:p>
        </p:txBody>
      </p:sp>
      <p:sp>
        <p:nvSpPr>
          <p:cNvPr id="7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89FA83-3AA4-4AB1-AE99-861D1E52AE2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71.xml"/><Relationship Id="rId16" Type="http://schemas.openxmlformats.org/officeDocument/2006/relationships/tags" Target="../tags/tag70.xml"/><Relationship Id="rId15" Type="http://schemas.openxmlformats.org/officeDocument/2006/relationships/tags" Target="../tags/tag69.xml"/><Relationship Id="rId14" Type="http://schemas.openxmlformats.org/officeDocument/2006/relationships/tags" Target="../tags/tag68.xml"/><Relationship Id="rId13" Type="http://schemas.openxmlformats.org/officeDocument/2006/relationships/tags" Target="../tags/tag67.xml"/><Relationship Id="rId12" Type="http://schemas.openxmlformats.org/officeDocument/2006/relationships/tags" Target="../tags/tag66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  <p:custDataLst>
              <p:tags r:id="rId12"/>
            </p:custDataLst>
          </p:nvPr>
        </p:nvSpPr>
        <p:spPr bwMode="auto">
          <a:xfrm>
            <a:off x="502444" y="442913"/>
            <a:ext cx="8139113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t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  <p:custDataLst>
              <p:tags r:id="rId13"/>
            </p:custDataLst>
          </p:nvPr>
        </p:nvSpPr>
        <p:spPr bwMode="auto">
          <a:xfrm>
            <a:off x="502444" y="952500"/>
            <a:ext cx="8139113" cy="538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0" rIns="82550" bIns="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59606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eaLnBrk="1" hangingPunct="1">
              <a:buFontTx/>
              <a:buNone/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3087291" y="6350000"/>
            <a:ext cx="2969419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eaLnBrk="1" hangingPunct="1">
              <a:buFontTx/>
              <a:buNone/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6457950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eaLnBrk="1" hangingPunct="1">
              <a:buFontTx/>
              <a:buNone/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2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50" noProof="1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1800" b="1" kern="1200" spc="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9pPr>
    </p:titleStyle>
    <p:bodyStyle>
      <a:lvl1pPr marL="171450" indent="-17145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marL="5143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2pPr>
      <a:lvl3pPr marL="8572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3pPr>
      <a:lvl4pPr marL="12001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4pPr>
      <a:lvl5pPr marL="15430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 sz="6000">
                <a:solidFill>
                  <a:srgbClr val="7030A0"/>
                </a:solidFill>
                <a:latin typeface="楷体" panose="02010609060101010101" charset="-122"/>
                <a:ea typeface="楷体" panose="02010609060101010101" charset="-122"/>
              </a:rPr>
              <a:t>跆拳道</a:t>
            </a:r>
            <a:endParaRPr lang="zh-CN" altLang="en-US" sz="6000">
              <a:solidFill>
                <a:srgbClr val="7030A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ko-KR" altLang="en-US" dirty="0"/>
              <a:t>跆拳道（韩文：태권도，英文：</a:t>
            </a:r>
            <a:r>
              <a:rPr lang="en-US" altLang="ko-KR" dirty="0"/>
              <a:t>Taekwondo</a:t>
            </a:r>
            <a:r>
              <a:rPr lang="ko-KR" altLang="en-US" dirty="0"/>
              <a:t>），是现代奥运会正式比赛项目之一，是一种主要使用手及脚进行格斗或对抗的运动。</a:t>
            </a:r>
            <a:endParaRPr lang="ko-KR" altLang="en-US" dirty="0"/>
          </a:p>
          <a:p>
            <a:r>
              <a:rPr lang="ko-KR" altLang="en-US" dirty="0"/>
              <a:t>跆拳道起源于朝鲜半岛，早期是由朝鲜三国时代的跆跟、花郎道演化而来的，韩国民间流行的一项技击术。</a:t>
            </a:r>
            <a:endParaRPr lang="ko-KR" altLang="en-US" dirty="0"/>
          </a:p>
          <a:p>
            <a:r>
              <a:rPr lang="en-US" altLang="ko-KR" dirty="0"/>
              <a:t>1955</a:t>
            </a:r>
            <a:r>
              <a:rPr lang="ko-KR" altLang="en-US" dirty="0"/>
              <a:t>年以前，韩国是没有跆拳道一词的，韩国的武术也以空手道、唐手道和民间少数的跆跟等为主，日治时期，大量韩国青年学生赴日留学，在日本接受了系统的松涛馆空手道训练，回国后他们开始创立道馆教授学生。日本战败后，韩国获得民族独立，大批空手道、唐手道道馆兴起，韩国早期空手道传播者们将民族传统武术跆跟与空手道相结合，称为唐手道。并出现了最早的一批韩国道馆，这就是后来的九大道馆。</a:t>
            </a:r>
            <a:endParaRPr lang="ko-KR" altLang="en-US" dirty="0"/>
          </a:p>
          <a:p>
            <a:r>
              <a:rPr lang="ko-KR" altLang="en-US" dirty="0"/>
              <a:t>“跆拳道”一词，是</a:t>
            </a:r>
            <a:r>
              <a:rPr lang="en-US" altLang="ko-KR" dirty="0"/>
              <a:t>1955</a:t>
            </a:r>
            <a:r>
              <a:rPr lang="ko-KR" altLang="en-US" dirty="0"/>
              <a:t>年由韩国的崔泓熙将军命名。崔泓熙将军早年在留学日本时，学习了日本松涛馆流空手道，并将其与韩国传统武技跆跟、手搏等技术融入到跆拳道中去。总之，现代的跆拳道是结合当代东亚武技之长的韩国发源武术运动之一。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CN" altLang="en-US" dirty="0"/>
              <a:t>跆拳道是经过东亚文化发展的一项韩国武术，以“始于礼，终于礼”的武道精神为基础。其脚法占</a:t>
            </a:r>
            <a:r>
              <a:rPr lang="en-US" altLang="zh-CN" dirty="0"/>
              <a:t>70%</a:t>
            </a:r>
            <a:r>
              <a:rPr lang="zh-CN" altLang="en-US" dirty="0"/>
              <a:t>。跆拳道的套路共有</a:t>
            </a:r>
            <a:r>
              <a:rPr lang="en-US" altLang="zh-CN" dirty="0"/>
              <a:t>25</a:t>
            </a:r>
            <a:r>
              <a:rPr lang="zh-CN" altLang="en-US" dirty="0"/>
              <a:t>套；另外还有兵器、擒拿、摔锁、对拆自卫术及</a:t>
            </a:r>
            <a:r>
              <a:rPr lang="en-US" altLang="zh-CN" dirty="0"/>
              <a:t>10</a:t>
            </a:r>
            <a:r>
              <a:rPr lang="zh-CN" altLang="en-US" dirty="0"/>
              <a:t>余种基本功夫等。</a:t>
            </a:r>
            <a:endParaRPr lang="zh-CN" altLang="en-US" dirty="0"/>
          </a:p>
          <a:p>
            <a:r>
              <a:rPr lang="zh-CN" altLang="en-US" dirty="0"/>
              <a:t>跆拳道于</a:t>
            </a:r>
            <a:r>
              <a:rPr lang="en-US" altLang="zh-CN" dirty="0"/>
              <a:t>1988</a:t>
            </a:r>
            <a:r>
              <a:rPr lang="zh-CN" altLang="en-US" dirty="0"/>
              <a:t>年奥运会时为示范项目；于</a:t>
            </a:r>
            <a:r>
              <a:rPr lang="en-US" altLang="zh-CN" dirty="0"/>
              <a:t>1992</a:t>
            </a:r>
            <a:r>
              <a:rPr lang="zh-CN" altLang="en-US" dirty="0"/>
              <a:t>年的巴塞罗那奥运会开始为试验比赛项目；到</a:t>
            </a:r>
            <a:r>
              <a:rPr lang="en-US" altLang="zh-CN" dirty="0"/>
              <a:t>2000</a:t>
            </a:r>
            <a:r>
              <a:rPr lang="zh-CN" altLang="en-US" dirty="0"/>
              <a:t>年的悉尼奥运会成为正式比赛项目。</a:t>
            </a:r>
            <a:endParaRPr lang="zh-CN" altLang="en-US" dirty="0"/>
          </a:p>
          <a:p>
            <a:r>
              <a:rPr lang="zh-CN" altLang="en-US" dirty="0"/>
              <a:t>跆拳道在全世界的组织主要分为两个体系，分别为：国际跆拳道联盟（</a:t>
            </a:r>
            <a:r>
              <a:rPr lang="en-US" altLang="zh-CN" dirty="0" err="1"/>
              <a:t>ITF</a:t>
            </a:r>
            <a:r>
              <a:rPr lang="zh-CN" altLang="en-US" dirty="0"/>
              <a:t>）和世界跆拳道联盟（</a:t>
            </a:r>
            <a:r>
              <a:rPr lang="en-US" altLang="zh-CN" dirty="0" err="1"/>
              <a:t>WTF</a:t>
            </a:r>
            <a:r>
              <a:rPr lang="zh-CN" altLang="en-US" dirty="0"/>
              <a:t>）。奥运会采用的是</a:t>
            </a:r>
            <a:r>
              <a:rPr lang="en-US" altLang="zh-CN" dirty="0" err="1"/>
              <a:t>WTF</a:t>
            </a:r>
            <a:r>
              <a:rPr lang="zh-CN" altLang="en-US" dirty="0"/>
              <a:t>体系。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WPS演示057素材文件"/>
          <p:cNvPicPr/>
          <p:nvPr/>
        </p:nvPicPr>
        <p:blipFill>
          <a:blip r:embed="rId1"/>
          <a:stretch>
            <a:fillRect/>
          </a:stretch>
        </p:blipFill>
        <p:spPr>
          <a:xfrm>
            <a:off x="2051685" y="1704975"/>
            <a:ext cx="5400000" cy="396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ID" val="_1*i*3"/>
  <p:tag name="KSO_WM_UNIT_LAYERLEVEL" val="1"/>
  <p:tag name="KSO_WM_TAG_VERSION" val="1.0"/>
  <p:tag name="KSO_WM_BEAUTIFY_FLAG" val="#wm#"/>
  <p:tag name="KSO_WM_UNIT_TYPE" val="i"/>
  <p:tag name="KSO_WM_UNIT_INDEX" val="3"/>
  <p:tag name="KSO_WM_UNIT_DIAGRAM_ISNUMVISUAL" val="0"/>
  <p:tag name="KSO_WM_UNIT_DIAGRAM_ISREFERUNIT" val="0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ID" val="_1*i*4"/>
  <p:tag name="KSO_WM_UNIT_LAYERLEVEL" val="1"/>
  <p:tag name="KSO_WM_TAG_VERSION" val="1.0"/>
  <p:tag name="KSO_WM_BEAUTIFY_FLAG" val="#wm#"/>
  <p:tag name="KSO_WM_UNIT_TYPE" val="i"/>
  <p:tag name="KSO_WM_UNIT_INDEX" val="4"/>
  <p:tag name="KSO_WM_UNIT_DIAGRAM_ISNUMVISUAL" val="0"/>
  <p:tag name="KSO_WM_UNIT_DIAGRAM_ISREFERUNIT" val="0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ID" val="_1*i*2"/>
  <p:tag name="KSO_WM_UNIT_LAYERLEVEL" val="1"/>
  <p:tag name="KSO_WM_TAG_VERSION" val="1.0"/>
  <p:tag name="KSO_WM_BEAUTIFY_FLAG" val="#wm#"/>
  <p:tag name="KSO_WM_UNIT_TYPE" val="i"/>
  <p:tag name="KSO_WM_UNIT_INDEX" val="2"/>
  <p:tag name="KSO_WM_UNIT_DIAGRAM_ISNUMVISUAL" val="0"/>
  <p:tag name="KSO_WM_UNIT_DIAGRAM_ISREFERUNIT" val="0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6577"/>
</p:tagLst>
</file>

<file path=ppt/tags/tag67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6577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TAG_VERSION" val="1.0"/>
  <p:tag name="KSO_WM_BEAUTIFY_FLAG" val="#wm#"/>
  <p:tag name="KSO_WM_COMBINE_RELATE_SLIDE_ID" val="background20177529_1"/>
  <p:tag name="KSO_WM_TEMPLATE_CATEGORY" val="custom"/>
  <p:tag name="KSO_WM_TEMPLATE_INDEX" val="20196577"/>
  <p:tag name="KSO_WM_TEMPLATE_SUBCATEGORY" val="0"/>
  <p:tag name="KSO_WM_TEMPLATE_THUMBS_INDEX" val="1、2、5、6、12、13、16、21、28、29、30、"/>
</p:tagLst>
</file>

<file path=ppt/tags/tag72.xml><?xml version="1.0" encoding="utf-8"?>
<p:tagLst xmlns:p="http://schemas.openxmlformats.org/presentationml/2006/main">
  <p:tag name="KSO_WPP_MARK_KEY" val="a285c6cc-3e9b-42f6-9be8-c5d19bc3e634"/>
  <p:tag name="COMMONDATA" val="eyJoZGlkIjoiM2Q2NDY3ODBmZDEyZTZiNTFiOWYyZGE1YmNkNTA1NzMifQ=="/>
</p:tagLst>
</file>

<file path=ppt/theme/theme1.xml><?xml version="1.0" encoding="utf-8"?>
<a:theme xmlns:a="http://schemas.openxmlformats.org/drawingml/2006/main" name="主题三">
  <a:themeElements>
    <a:clrScheme name="3">
      <a:dk1>
        <a:srgbClr val="000000"/>
      </a:dk1>
      <a:lt1>
        <a:srgbClr val="FFFFFF"/>
      </a:lt1>
      <a:dk2>
        <a:srgbClr val="323F4F"/>
      </a:dk2>
      <a:lt2>
        <a:srgbClr val="E7E6E6"/>
      </a:lt2>
      <a:accent1>
        <a:srgbClr val="376BAB"/>
      </a:accent1>
      <a:accent2>
        <a:srgbClr val="54565C"/>
      </a:accent2>
      <a:accent3>
        <a:srgbClr val="A1A2A5"/>
      </a:accent3>
      <a:accent4>
        <a:srgbClr val="376BAB"/>
      </a:accent4>
      <a:accent5>
        <a:srgbClr val="628BDC"/>
      </a:accent5>
      <a:accent6>
        <a:srgbClr val="376BAB"/>
      </a:accent6>
      <a:hlink>
        <a:srgbClr val="85C0FB"/>
      </a:hlink>
      <a:folHlink>
        <a:srgbClr val="70A2DE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623</Words>
  <Application>WPS 演示</Application>
  <PresentationFormat>全屏显示(4:3)</PresentationFormat>
  <Paragraphs>11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7" baseType="lpstr">
      <vt:lpstr>Arial</vt:lpstr>
      <vt:lpstr>宋体</vt:lpstr>
      <vt:lpstr>Wingdings</vt:lpstr>
      <vt:lpstr>Malgun Gothic</vt:lpstr>
      <vt:lpstr>Calibri</vt:lpstr>
      <vt:lpstr>微软雅黑</vt:lpstr>
      <vt:lpstr>Arial Unicode MS</vt:lpstr>
      <vt:lpstr>BatangChe</vt:lpstr>
      <vt:lpstr>Segoe Print</vt:lpstr>
      <vt:lpstr>仿宋</vt:lpstr>
      <vt:lpstr>新宋体</vt:lpstr>
      <vt:lpstr>楷体</vt:lpstr>
      <vt:lpstr>主题三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拳击</dc:title>
  <dc:creator>Administrator</dc:creator>
  <cp:lastModifiedBy>zy</cp:lastModifiedBy>
  <cp:revision>8</cp:revision>
  <dcterms:created xsi:type="dcterms:W3CDTF">2020-04-13T02:23:00Z</dcterms:created>
  <dcterms:modified xsi:type="dcterms:W3CDTF">2023-10-26T08:28:14Z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7C7886345622464191DDE58E9002B41F_12</vt:lpwstr>
  </property>
  <property fmtid="{D5CDD505-2E9C-101B-9397-08002B2CF9AE}" pid="3" name="KSOProductBuildVer">
    <vt:lpwstr>2052-11.1.0.14227</vt:lpwstr>
  </property>
</Properties>
</file>