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9" r:id="rId3"/>
    <p:sldId id="256" r:id="rId4"/>
    <p:sldId id="257" r:id="rId5"/>
    <p:sldId id="258" r:id="rId7"/>
  </p:sldIdLst>
  <p:sldSz cx="12192000" cy="6858000"/>
  <p:notesSz cx="6858000" cy="9144000"/>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gs" Target="tags/tag64.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医疗急救服务的基础</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5" name="直接连接符 6"/>
          <p:cNvCxnSpPr/>
          <p:nvPr>
            <p:custDataLst>
              <p:tags r:id="rId2"/>
            </p:custDataLst>
          </p:nvPr>
        </p:nvCxnSpPr>
        <p:spPr>
          <a:xfrm>
            <a:off x="1912938" y="4314825"/>
            <a:ext cx="243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3"/>
            </p:custDataLst>
          </p:nvPr>
        </p:nvCxnSpPr>
        <p:spPr>
          <a:xfrm>
            <a:off x="2032000" y="4314825"/>
            <a:ext cx="2214563"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4"/>
            </p:custDataLst>
          </p:nvPr>
        </p:nvSpPr>
        <p:spPr>
          <a:xfrm>
            <a:off x="1036938" y="3438525"/>
            <a:ext cx="4190400" cy="700727"/>
          </a:xfrm>
        </p:spPr>
        <p:txBody>
          <a:bodyPr anchor="b">
            <a:normAutofit/>
          </a:bodyPr>
          <a:lstStyle>
            <a:lvl1pPr algn="ctr">
              <a:defRPr sz="3600">
                <a:solidFill>
                  <a:schemeClr val="tx2"/>
                </a:solidFill>
                <a:latin typeface="微软雅黑" panose="020B0503020204020204" charset="-122"/>
                <a:ea typeface="微软雅黑" panose="020B0503020204020204" charset="-122"/>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5"/>
            </p:custDataLst>
          </p:nvPr>
        </p:nvSpPr>
        <p:spPr>
          <a:xfrm>
            <a:off x="1036938" y="4514851"/>
            <a:ext cx="4190400" cy="317180"/>
          </a:xfrm>
        </p:spPr>
        <p:txBody>
          <a:bodyPr>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14" name="日期占位符 3"/>
          <p:cNvSpPr>
            <a:spLocks noGrp="1"/>
          </p:cNvSpPr>
          <p:nvPr>
            <p:ph type="dt" sz="half" idx="13"/>
            <p:custDataLst>
              <p:tags r:id="rId6"/>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fld id="{D997B5FA-0921-464F-AAE1-844C04324D75}" type="datetimeFigureOut">
              <a:rPr lang="zh-CN" altLang="en-US" smtClean="0"/>
            </a:fld>
            <a:endParaRPr lang="zh-CN" altLang="en-US"/>
          </a:p>
        </p:txBody>
      </p:sp>
      <p:sp>
        <p:nvSpPr>
          <p:cNvPr id="15" name="页脚占位符 4"/>
          <p:cNvSpPr>
            <a:spLocks noGrp="1"/>
          </p:cNvSpPr>
          <p:nvPr>
            <p:ph type="ftr" sz="quarter" idx="14"/>
            <p:custDataLst>
              <p:tags r:id="rId7"/>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r>
              <a:rPr lang="zh-CN" altLang="en-US"/>
              <a:t>武汉医疗</a:t>
            </a:r>
            <a:endParaRPr lang="zh-CN" altLang="en-US"/>
          </a:p>
        </p:txBody>
      </p:sp>
      <p:sp>
        <p:nvSpPr>
          <p:cNvPr id="16" name="灯片编号占位符 5"/>
          <p:cNvSpPr>
            <a:spLocks noGrp="1"/>
          </p:cNvSpPr>
          <p:nvPr>
            <p:ph type="sldNum" sz="quarter" idx="15"/>
            <p:custDataLst>
              <p:tags r:id="rId8"/>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r>
              <a:rPr lang="zh-CN" altLang="en-US"/>
              <a:t>武汉医疗</a:t>
            </a: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cxnSp>
        <p:nvCxnSpPr>
          <p:cNvPr id="4" name="直接连接符 6"/>
          <p:cNvCxnSpPr/>
          <p:nvPr>
            <p:custDataLst>
              <p:tags r:id="rId2"/>
            </p:custDataLst>
          </p:nvPr>
        </p:nvCxnSpPr>
        <p:spPr>
          <a:xfrm flipH="1">
            <a:off x="4110038" y="3198813"/>
            <a:ext cx="808196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custDataLst>
              <p:tags r:id="rId3"/>
            </p:custDataLst>
          </p:nvPr>
        </p:nvSpPr>
        <p:spPr>
          <a:xfrm>
            <a:off x="4097111" y="2382361"/>
            <a:ext cx="7904390" cy="701731"/>
          </a:xfrm>
        </p:spPr>
        <p:txBody>
          <a:bodyPr anchor="b">
            <a:normAutofit/>
          </a:bodyPr>
          <a:lstStyle>
            <a:lvl1pPr>
              <a:defRPr sz="4400" b="0">
                <a:solidFill>
                  <a:schemeClr val="tx1">
                    <a:lumMod val="65000"/>
                    <a:lumOff val="35000"/>
                  </a:schemeClr>
                </a:solidFill>
              </a:defRPr>
            </a:lvl1pPr>
          </a:lstStyle>
          <a:p>
            <a:r>
              <a:rPr lang="zh-CN" altLang="en-US" noProof="1"/>
              <a:t>单击此处编辑母版标题样式</a:t>
            </a:r>
            <a:endParaRPr lang="zh-CN" altLang="en-US" noProof="1"/>
          </a:p>
        </p:txBody>
      </p:sp>
      <p:sp>
        <p:nvSpPr>
          <p:cNvPr id="3" name="文本占位符 2"/>
          <p:cNvSpPr>
            <a:spLocks noGrp="1"/>
          </p:cNvSpPr>
          <p:nvPr>
            <p:ph type="body" idx="1"/>
            <p:custDataLst>
              <p:tags r:id="rId4"/>
            </p:custDataLst>
          </p:nvPr>
        </p:nvSpPr>
        <p:spPr>
          <a:xfrm>
            <a:off x="4097110" y="3315284"/>
            <a:ext cx="7904390" cy="286232"/>
          </a:xfrm>
        </p:spPr>
        <p:txBody>
          <a:bodyPr>
            <a:normAutofit/>
          </a:bodyPr>
          <a:lstStyle>
            <a:lvl1pPr marL="0" indent="0">
              <a:buNone/>
              <a:defRPr sz="1400">
                <a:solidFill>
                  <a:schemeClr val="tx1">
                    <a:lumMod val="50000"/>
                    <a:lumOff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D997B5FA-0921-464F-AAE1-844C04324D75}"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r>
              <a:rPr lang="zh-CN" altLang="en-US"/>
              <a:t>武汉医疗</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Autofit/>
          </a:bodyPr>
          <a:lstStyle>
            <a:lvl1pPr>
              <a:defRPr sz="1600">
                <a:latin typeface="微软雅黑" panose="020B0503020204020204" charset="-122"/>
                <a:ea typeface="微软雅黑" panose="020B0503020204020204" charset="-122"/>
              </a:defRPr>
            </a:lvl1pPr>
            <a:lvl2pPr>
              <a:defRPr sz="1600">
                <a:latin typeface="微软雅黑" panose="020B0503020204020204" charset="-122"/>
                <a:ea typeface="微软雅黑" panose="020B0503020204020204" charset="-122"/>
              </a:defRPr>
            </a:lvl2pPr>
            <a:lvl3pPr>
              <a:defRPr sz="1600">
                <a:latin typeface="微软雅黑" panose="020B0503020204020204" charset="-122"/>
                <a:ea typeface="微软雅黑" panose="020B0503020204020204" charset="-122"/>
              </a:defRPr>
            </a:lvl3pPr>
            <a:lvl4pPr>
              <a:defRPr sz="1600">
                <a:latin typeface="微软雅黑" panose="020B0503020204020204" charset="-122"/>
                <a:ea typeface="微软雅黑" panose="020B0503020204020204" charset="-122"/>
              </a:defRPr>
            </a:lvl4pPr>
            <a:lvl5pPr>
              <a:defRPr sz="1600">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D997B5FA-0921-464F-AAE1-844C04324D75}"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r>
              <a:rPr lang="zh-CN" altLang="en-US"/>
              <a:t>武汉医疗</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669930" y="952508"/>
            <a:ext cx="5283242" cy="381003"/>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custDataLst>
              <p:tags r:id="rId4"/>
            </p:custDataLst>
          </p:nvPr>
        </p:nvSpPr>
        <p:spPr>
          <a:xfrm>
            <a:off x="669925" y="1406525"/>
            <a:ext cx="5283200"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6235750" y="952508"/>
            <a:ext cx="528324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D997B5FA-0921-464F-AAE1-844C04324D75}"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r>
              <a:rPr lang="zh-CN" altLang="en-US"/>
              <a:t>武汉医疗</a:t>
            </a:r>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3"/>
            </p:custDataLst>
          </p:nvPr>
        </p:nvSpPr>
        <p:spPr/>
        <p:txBody>
          <a:bodyPr/>
          <a:lstStyle>
            <a:lvl1pPr>
              <a:defRPr/>
            </a:lvl1pPr>
          </a:lstStyle>
          <a:p>
            <a:pPr>
              <a:defRPr/>
            </a:pPr>
            <a:r>
              <a:rPr lang="zh-CN" altLang="en-US"/>
              <a:t>武汉医疗</a:t>
            </a:r>
            <a:endParaRPr lang="zh-CN" altLang="en-US"/>
          </a:p>
        </p:txBody>
      </p:sp>
      <p:sp>
        <p:nvSpPr>
          <p:cNvPr id="5" name="灯片编号占位符 5"/>
          <p:cNvSpPr>
            <a:spLocks noGrp="1"/>
          </p:cNvSpPr>
          <p:nvPr>
            <p:ph type="sldNum" sz="quarter" idx="12"/>
            <p:custDataLst>
              <p:tags r:id="rId4"/>
            </p:custDataLst>
          </p:nvPr>
        </p:nvSpPr>
        <p:spPr/>
        <p:txBody>
          <a:bodyPr/>
          <a:lstStyle>
            <a:lvl1pPr>
              <a:defRPr/>
            </a:lvl1pPr>
          </a:lstStyle>
          <a:p>
            <a:pPr>
              <a:defRPr/>
            </a:pPr>
            <a:fld id="{EFBAA113-0A0D-4826-9E23-1280D9003A42}" type="slidenum">
              <a:rPr lang="zh-CN" altLang="en-US"/>
            </a:fld>
            <a:endParaRPr lang="zh-CN" altLang="en-US" dirty="0"/>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D997B5FA-0921-464F-AAE1-844C04324D75}"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r>
              <a:rPr lang="zh-CN" altLang="en-US"/>
              <a:t>武汉医疗</a:t>
            </a:r>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D997B5FA-0921-464F-AAE1-844C04324D75}"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r>
              <a:rPr lang="zh-CN" altLang="en-US"/>
              <a:t>武汉医疗</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latin typeface="微软雅黑" panose="020B0503020204020204" charset="-122"/>
                <a:ea typeface="微软雅黑" panose="020B0503020204020204" charset="-122"/>
              </a:defRPr>
            </a:lvl1pPr>
            <a:lvl2pPr indent="0" eaLnBrk="1" fontAlgn="auto" latinLnBrk="0" hangingPunct="1">
              <a:defRPr>
                <a:latin typeface="微软雅黑" panose="020B0503020204020204" charset="-122"/>
                <a:ea typeface="微软雅黑" panose="020B0503020204020204" charset="-122"/>
              </a:defRPr>
            </a:lvl2pPr>
            <a:lvl3pPr indent="0" eaLnBrk="1" fontAlgn="auto" latinLnBrk="0" hangingPunct="1">
              <a:defRPr>
                <a:latin typeface="微软雅黑" panose="020B0503020204020204" charset="-122"/>
                <a:ea typeface="微软雅黑" panose="020B0503020204020204" charset="-122"/>
              </a:defRPr>
            </a:lvl3pPr>
            <a:lvl4pPr indent="0" eaLnBrk="1" fontAlgn="auto" latinLnBrk="0" hangingPunct="1">
              <a:defRPr>
                <a:latin typeface="微软雅黑" panose="020B0503020204020204" charset="-122"/>
                <a:ea typeface="微软雅黑" panose="020B0503020204020204" charset="-122"/>
              </a:defRPr>
            </a:lvl4pPr>
            <a:lvl5pPr indent="0" eaLnBrk="1" fontAlgn="auto" latinLnBrk="0" hangingPunct="1">
              <a:defRPr>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r>
              <a:rPr lang="zh-CN" altLang="en-US"/>
              <a:t>武汉医疗</a:t>
            </a: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669930" y="952508"/>
            <a:ext cx="10852237"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pPr>
              <a:defRPr/>
            </a:pPr>
            <a:r>
              <a:rPr lang="zh-CN" altLang="en-US"/>
              <a:t>武汉医疗</a:t>
            </a:r>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pPr>
              <a:defRPr/>
            </a:pPr>
            <a:fld id="{3604E170-34F3-456A-9539-A9B12C468DBC}" type="slidenum">
              <a:rPr lang="zh-CN" altLang="en-US"/>
            </a:fld>
            <a:endParaRPr lang="zh-CN" altLang="en-US"/>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2303175" y="2738120"/>
            <a:ext cx="5421600" cy="1090800"/>
          </a:xfrm>
        </p:spPr>
        <p:txBody>
          <a:bodyPr rIns="25400" rtlCol="0" anchor="ctr">
            <a:noAutofit/>
          </a:bodyPr>
          <a:lstStyle>
            <a:lvl1pPr marL="0" marR="0" algn="l" defTabSz="914400" rtl="0" eaLnBrk="1" fontAlgn="auto" latinLnBrk="0" hangingPunct="1">
              <a:lnSpc>
                <a:spcPct val="100000"/>
              </a:lnSpc>
              <a:buNone/>
              <a:defRPr kumimoji="0" lang="zh-CN" altLang="en-US" sz="5400" b="1" i="0" u="none" strike="noStrike" kern="1200" cap="none" spc="600" normalizeH="0" baseline="0" noProof="1" dirty="0">
                <a:solidFill>
                  <a:schemeClr val="tx2"/>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编辑标题</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pPr>
              <a:defRPr/>
            </a:pPr>
            <a:r>
              <a:rPr lang="zh-CN" altLang="en-US"/>
              <a:t>武汉医疗</a:t>
            </a:r>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pPr>
              <a:defRPr/>
            </a:pPr>
            <a:fld id="{3D74DE4A-AF88-4CC7-8A46-288F8CD57ECB}" type="slidenum">
              <a:rPr lang="zh-CN" altLang="en-US"/>
            </a:fld>
            <a:endParaRPr lang="zh-CN" altLang="en-US"/>
          </a:p>
        </p:txBody>
      </p:sp>
    </p:spTree>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武汉医疗</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E7E6E6"/>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3"/>
            </p:custDataLst>
          </p:nvPr>
        </p:nvSpPr>
        <p:spPr bwMode="auto">
          <a:xfrm>
            <a:off x="669925" y="442913"/>
            <a:ext cx="108521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4"/>
            </p:custDataLst>
          </p:nvPr>
        </p:nvSpPr>
        <p:spPr bwMode="auto">
          <a:xfrm>
            <a:off x="669925" y="952500"/>
            <a:ext cx="10852150"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5"/>
            </p:custDataLst>
          </p:nvPr>
        </p:nvSpPr>
        <p:spPr>
          <a:xfrm>
            <a:off x="879475" y="6350000"/>
            <a:ext cx="2700338" cy="315913"/>
          </a:xfrm>
          <a:prstGeom prst="rect">
            <a:avLst/>
          </a:prstGeom>
        </p:spPr>
        <p:txBody>
          <a:bodyPr vert="horz" lIns="91440" tIns="45720" rIns="91440" bIns="45720" rtlCol="0" anchor="ctr">
            <a:normAutofit/>
          </a:bodyPr>
          <a:lstStyle>
            <a:lvl1pPr algn="l">
              <a:buFontTx/>
              <a:buNone/>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388" y="6350000"/>
            <a:ext cx="3959225" cy="315913"/>
          </a:xfrm>
          <a:prstGeom prst="rect">
            <a:avLst/>
          </a:prstGeom>
        </p:spPr>
        <p:txBody>
          <a:bodyPr vert="horz" lIns="91440" tIns="45720" rIns="91440" bIns="45720" rtlCol="0" anchor="ctr">
            <a:normAutofit/>
          </a:bodyPr>
          <a:lstStyle>
            <a:lvl1pPr algn="ctr">
              <a:buFontTx/>
              <a:buNone/>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r>
              <a:rPr lang="zh-CN" altLang="en-US"/>
              <a:t>武汉医疗</a:t>
            </a:r>
            <a:endParaRPr lang="zh-CN" altLang="en-US"/>
          </a:p>
        </p:txBody>
      </p:sp>
      <p:sp>
        <p:nvSpPr>
          <p:cNvPr id="6" name="灯片编号占位符 5"/>
          <p:cNvSpPr>
            <a:spLocks noGrp="1"/>
          </p:cNvSpPr>
          <p:nvPr>
            <p:ph type="sldNum" sz="quarter" idx="4"/>
            <p:custDataLst>
              <p:tags r:id="rId17"/>
            </p:custDataLst>
          </p:nvPr>
        </p:nvSpPr>
        <p:spPr>
          <a:xfrm>
            <a:off x="8610600" y="6350000"/>
            <a:ext cx="2700338" cy="315913"/>
          </a:xfrm>
          <a:prstGeom prst="rect">
            <a:avLst/>
          </a:prstGeom>
        </p:spPr>
        <p:txBody>
          <a:bodyPr vert="horz" lIns="91440" tIns="45720" rIns="91440" bIns="45720" rtlCol="0" anchor="ctr">
            <a:normAutofit/>
          </a:bodyPr>
          <a:lstStyle>
            <a:lvl1pPr algn="r">
              <a:buFontTx/>
              <a:buNone/>
              <a:defRPr sz="1200">
                <a:solidFill>
                  <a:schemeClr val="tx1">
                    <a:tint val="75000"/>
                  </a:schemeClr>
                </a:solidFill>
                <a:latin typeface="微软雅黑" panose="020B0503020204020204" charset="-122"/>
                <a:cs typeface="微软雅黑" panose="020B0503020204020204" charset="-122"/>
              </a:defRPr>
            </a:lvl1pPr>
          </a:lstStyle>
          <a:p>
            <a:fld id="{565CE74E-AB26-4998-AD42-012C4C1AD076}" type="slidenum">
              <a:rPr lang="zh-CN" altLang="en-US" smtClean="0"/>
            </a:fld>
            <a:endParaRPr lang="zh-CN" altLang="en-US"/>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noProof="1">
              <a:latin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rtl="0" eaLnBrk="1" fontAlgn="base" hangingPunct="1">
        <a:spcBef>
          <a:spcPct val="0"/>
        </a:spcBef>
        <a:spcAft>
          <a:spcPct val="0"/>
        </a:spcAft>
        <a:defRPr sz="2400" b="1" kern="1200" spc="200">
          <a:solidFill>
            <a:schemeClr val="tx1"/>
          </a:solidFill>
          <a:latin typeface="微软雅黑" panose="020B0503020204020204" charset="-122"/>
          <a:ea typeface="微软雅黑" panose="020B0503020204020204" charset="-122"/>
          <a:cs typeface="微软雅黑" panose="020B0503020204020204" charset="-122"/>
        </a:defRPr>
      </a:lvl1pPr>
      <a:lvl2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2pPr>
      <a:lvl3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3pPr>
      <a:lvl4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4pPr>
      <a:lvl5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6pPr>
      <a:lvl7pPr marL="9144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7pPr>
      <a:lvl8pPr marL="13716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8pPr>
      <a:lvl9pPr marL="18288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9pPr>
    </p:titleStyle>
    <p:bodyStyle>
      <a:lvl1pPr marL="228600" indent="-228600" algn="l" rtl="0" eaLnBrk="1" fontAlgn="base" hangingPunct="1">
        <a:lnSpc>
          <a:spcPct val="130000"/>
        </a:lnSpc>
        <a:spcBef>
          <a:spcPct val="0"/>
        </a:spcBef>
        <a:spcAft>
          <a:spcPts val="1000"/>
        </a:spcAft>
        <a:buFont typeface="Arial" panose="020B0604020202020204" pitchFamily="34" charset="0"/>
        <a:buChar char="•"/>
        <a:defRPr sz="1600" kern="1200" spc="15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0"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0"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0"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0"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ctrTitle"/>
          </p:nvPr>
        </p:nvSpPr>
        <p:spPr>
          <a:xfrm>
            <a:off x="1036955" y="1395095"/>
            <a:ext cx="4190365" cy="2744470"/>
          </a:xfrm>
        </p:spPr>
        <p:txBody>
          <a:bodyPr>
            <a:normAutofit fontScale="90000"/>
          </a:bodyPr>
          <a:p>
            <a:r>
              <a:rPr lang="zh-CN" altLang="en-US" sz="5555">
                <a:solidFill>
                  <a:schemeClr val="accent5">
                    <a:lumMod val="40000"/>
                    <a:lumOff val="60000"/>
                  </a:schemeClr>
                </a:solidFill>
                <a:latin typeface="黑体" panose="02010609060101010101" pitchFamily="49" charset="-122"/>
                <a:ea typeface="黑体" panose="02010609060101010101" pitchFamily="49" charset="-122"/>
                <a:cs typeface="黑体" panose="02010609060101010101" pitchFamily="49" charset="-122"/>
              </a:rPr>
              <a:t>101个！武汉市急救中心急救站点破百</a:t>
            </a:r>
            <a:endParaRPr lang="zh-CN" altLang="en-US" sz="5555">
              <a:solidFill>
                <a:schemeClr val="accent5">
                  <a:lumMod val="40000"/>
                  <a:lumOff val="6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9" name="副标题 8"/>
          <p:cNvSpPr>
            <a:spLocks noGrp="1"/>
          </p:cNvSpPr>
          <p:nvPr>
            <p:ph type="subTitle" idx="1"/>
          </p:nvPr>
        </p:nvSpPr>
        <p:spPr/>
        <p:txBody>
          <a:bodyPr/>
          <a:p>
            <a:r>
              <a:rPr lang="zh-CN" altLang="en-US"/>
              <a:t>图片由武汉市急救中心提供</a:t>
            </a:r>
            <a:endParaRPr lang="zh-CN" altLang="en-US"/>
          </a:p>
        </p:txBody>
      </p:sp>
      <p:sp>
        <p:nvSpPr>
          <p:cNvPr id="10" name="页脚占位符 9"/>
          <p:cNvSpPr>
            <a:spLocks noGrp="1"/>
          </p:cNvSpPr>
          <p:nvPr>
            <p:ph type="ftr" sz="quarter" idx="14"/>
          </p:nvPr>
        </p:nvSpPr>
        <p:spPr/>
        <p:txBody>
          <a:bodyPr/>
          <a:p>
            <a:r>
              <a:rPr lang="zh-CN" altLang="en-US"/>
              <a:t>武汉医疗</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标题 9"/>
          <p:cNvSpPr>
            <a:spLocks noGrp="1"/>
          </p:cNvSpPr>
          <p:nvPr>
            <p:ph type="title"/>
          </p:nvPr>
        </p:nvSpPr>
        <p:spPr/>
        <p:txBody>
          <a:bodyPr/>
          <a:p>
            <a:endParaRPr lang="zh-CN" altLang="en-US"/>
          </a:p>
        </p:txBody>
      </p:sp>
      <p:sp>
        <p:nvSpPr>
          <p:cNvPr id="5" name="内容占位符 4"/>
          <p:cNvSpPr>
            <a:spLocks noGrp="1"/>
          </p:cNvSpPr>
          <p:nvPr>
            <p:ph sz="half" idx="1"/>
          </p:nvPr>
        </p:nvSpPr>
        <p:spPr/>
        <p:txBody>
          <a:bodyPr/>
          <a:p>
            <a:r>
              <a:rPr lang="zh-CN" altLang="en-US"/>
              <a:t>10月26日上午，武汉市急救中心位于江岸区的一元街急救站和健身街急救站正式开站，这是武汉市急救中心今年建设的第15、16个站点。至此，该中心共建设运行了101个急救站。</a:t>
            </a:r>
            <a:endParaRPr lang="zh-CN" altLang="en-US"/>
          </a:p>
        </p:txBody>
      </p:sp>
      <p:pic>
        <p:nvPicPr>
          <p:cNvPr id="12" name="内容占位符 11" descr="1"/>
          <p:cNvPicPr>
            <a:picLocks noChangeAspect="1"/>
          </p:cNvPicPr>
          <p:nvPr>
            <p:ph sz="half" idx="2"/>
          </p:nvPr>
        </p:nvPicPr>
        <p:blipFill>
          <a:blip r:embed="rId1"/>
          <a:stretch>
            <a:fillRect/>
          </a:stretch>
        </p:blipFill>
        <p:spPr>
          <a:xfrm>
            <a:off x="6238875" y="2161540"/>
            <a:ext cx="5283200" cy="2969260"/>
          </a:xfrm>
          <a:prstGeom prst="rect">
            <a:avLst/>
          </a:prstGeom>
          <a:effectLst>
            <a:reflection blurRad="6350" stA="50000" endA="300" endPos="38500" dist="50800" dir="5400000" sy="-100000" algn="bl" rotWithShape="0"/>
          </a:effectLst>
        </p:spPr>
      </p:pic>
      <p:sp>
        <p:nvSpPr>
          <p:cNvPr id="13" name="页脚占位符 12"/>
          <p:cNvSpPr>
            <a:spLocks noGrp="1"/>
          </p:cNvSpPr>
          <p:nvPr>
            <p:ph type="ftr" sz="quarter" idx="11"/>
          </p:nvPr>
        </p:nvSpPr>
        <p:spPr/>
        <p:txBody>
          <a:bodyPr/>
          <a:p>
            <a:r>
              <a:rPr lang="zh-CN" altLang="en-US"/>
              <a:t>武汉医疗</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作为院前医疗急救服务的基础，急救站建设一直是武汉市院前急救工作的重中之重。围绕湖北省委、湖北省政府，武汉市委、武汉市政府关于进一步加强院前急救体系建设系列文件的要求，以及武汉市卫健委的工作部署，近年来，武汉市急救中心持续织密急救网络，努力打造中心城区“10分钟急救圈”、新城区“12分钟急救圈”、农村“30分钟急救圈”。截至目前，武汉市急救中心超额完成2023年急救站建设目标，急救站数量较2020年底增加了40个。</a:t>
            </a:r>
            <a:endParaRPr lang="zh-CN" altLang="en-US"/>
          </a:p>
        </p:txBody>
      </p:sp>
      <p:pic>
        <p:nvPicPr>
          <p:cNvPr id="7" name="图片 6" descr="Snipaste_2023-10-27_13-43-55"/>
          <p:cNvPicPr>
            <a:picLocks noChangeAspect="1"/>
          </p:cNvPicPr>
          <p:nvPr/>
        </p:nvPicPr>
        <p:blipFill>
          <a:blip r:embed="rId1"/>
          <a:stretch>
            <a:fillRect/>
          </a:stretch>
        </p:blipFill>
        <p:spPr>
          <a:xfrm>
            <a:off x="3712845" y="2803525"/>
            <a:ext cx="5366385" cy="3537585"/>
          </a:xfrm>
          <a:prstGeom prst="rect">
            <a:avLst/>
          </a:prstGeom>
        </p:spPr>
      </p:pic>
      <p:sp>
        <p:nvSpPr>
          <p:cNvPr id="8" name="页脚占位符 7"/>
          <p:cNvSpPr>
            <a:spLocks noGrp="1"/>
          </p:cNvSpPr>
          <p:nvPr>
            <p:ph type="ftr" sz="quarter" idx="11"/>
          </p:nvPr>
        </p:nvSpPr>
        <p:spPr/>
        <p:txBody>
          <a:bodyPr/>
          <a:p>
            <a:r>
              <a:rPr lang="zh-CN" altLang="en-US"/>
              <a:t>武汉医疗</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5"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0" fill="hold"/>
                                        <p:tgtEl>
                                          <p:spTgt spid="7"/>
                                        </p:tgtEl>
                                        <p:attrNameLst>
                                          <p:attrName>ppt_w</p:attrName>
                                        </p:attrNameLst>
                                      </p:cBhvr>
                                      <p:tavLst>
                                        <p:tav tm="0" fmla="">
                                          <p:val>
                                            <p:strVal val="#ppt_w"/>
                                          </p:val>
                                        </p:tav>
                                        <p:tav tm="100000" fmla="">
                                          <p:val>
                                            <p:strVal val="#ppt_w"/>
                                          </p:val>
                                        </p:tav>
                                      </p:tavLst>
                                    </p:anim>
                                    <p:anim calcmode="lin" valueType="num">
                                      <p:cBhvr>
                                        <p:cTn id="8" dur="5000" fill="hold"/>
                                        <p:tgtEl>
                                          <p:spTgt spid="7"/>
                                        </p:tgtEl>
                                        <p:attrNameLst>
                                          <p:attrName>ppt_h</p:attrName>
                                        </p:attrNameLst>
                                      </p:cBhvr>
                                      <p:tavLst>
                                        <p:tav tm="0" fmla="#ppt_h*sin(2.5*pi*$)">
                                          <p:val>
                                            <p:fltVal val="0.000000"/>
                                          </p:val>
                                        </p:tav>
                                        <p:tav tm="100000" fmla="">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除了增开地面急救站点，武汉市急救中心还同步推进空地一体急救站和水上急救站的建设。今年2月，古田水上急救站开站，填补了汉水武汉段急救资源覆盖的空缺；欢乐大道空地急救站和腾龙空地急救站投入运行，武汉市已建设完成的“空地一体”急救站达4个，“水陆空”三位一体的立体救援网络体系已逐渐形成，满足多样化的急救需求和应急保障需求。</a:t>
            </a:r>
            <a:endParaRPr lang="zh-CN" altLang="en-US"/>
          </a:p>
          <a:p>
            <a:pPr marL="0" indent="0">
              <a:buNone/>
            </a:pPr>
            <a:endParaRPr lang="zh-CN" altLang="en-US"/>
          </a:p>
          <a:p>
            <a:pPr marL="0" indent="0">
              <a:buNone/>
            </a:pPr>
            <a:r>
              <a:rPr lang="zh-CN" altLang="en-US"/>
              <a:t>据了解，今年内，武汉市急救中心武湖天地急救站也将开站运行。</a:t>
            </a:r>
            <a:endParaRPr lang="zh-CN" altLang="en-US"/>
          </a:p>
        </p:txBody>
      </p:sp>
      <p:sp>
        <p:nvSpPr>
          <p:cNvPr id="6" name="页脚占位符 5"/>
          <p:cNvSpPr>
            <a:spLocks noGrp="1"/>
          </p:cNvSpPr>
          <p:nvPr>
            <p:ph type="ftr" sz="quarter" idx="11"/>
          </p:nvPr>
        </p:nvSpPr>
        <p:spPr/>
        <p:txBody>
          <a:bodyPr/>
          <a:p>
            <a:r>
              <a:rPr lang="zh-CN" altLang="en-US"/>
              <a:t>武汉医疗</a:t>
            </a:r>
            <a:endParaRPr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ID" val="_1*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2.xml><?xml version="1.0" encoding="utf-8"?>
<p:tagLst xmlns:p="http://schemas.openxmlformats.org/presentationml/2006/main">
  <p:tag name="KSO_WM_UNIT_HIGHLIGHT" val="0"/>
  <p:tag name="KSO_WM_UNIT_COMPATIBLE" val="0"/>
  <p:tag name="KSO_WM_UNIT_ID" val="_1*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80"/>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80"/>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COMBINE_RELATE_SLIDE_ID" val="background20185109_1"/>
  <p:tag name="KSO_WM_TEMPLATE_THUMBS_INDEX" val="1"/>
  <p:tag name="KSO_WM_TEMPLATE_SUBCATEGORY" val="0"/>
  <p:tag name="KSO_WM_TAG_VERSION" val="1.0"/>
  <p:tag name="KSO_WM_BEAUTIFY_FLAG" val="#wm#"/>
  <p:tag name="KSO_WM_TEMPLATE_CATEGORY" val="custom"/>
  <p:tag name="KSO_WM_TEMPLATE_INDEX" val="20196580"/>
</p:tagLst>
</file>

<file path=ppt/tags/tag64.xml><?xml version="1.0" encoding="utf-8"?>
<p:tagLst xmlns:p="http://schemas.openxmlformats.org/presentationml/2006/main">
  <p:tag name="COMMONDATA" val="eyJoZGlkIjoiM2Q2NDY3ODBmZDEyZTZiNTFiOWYyZGE1YmNkNTA1NzMifQ=="/>
  <p:tag name="KSO_WPP_MARK_KEY" val="54d8bc2b-ad71-4705-9737-9baf9a96bc29"/>
  <p:tag name="commondata" val="eyJoZGlkIjoiMjhjNzFjMjliYTMwZmQyYjMzM2NlZTBmYTgwNzU5YTQifQ=="/>
</p:tagLst>
</file>

<file path=ppt/theme/theme1.xml><?xml version="1.0" encoding="utf-8"?>
<a:theme xmlns:a="http://schemas.openxmlformats.org/drawingml/2006/main" name="主题六">
  <a:themeElements>
    <a:clrScheme name="6">
      <a:dk1>
        <a:srgbClr val="000000"/>
      </a:dk1>
      <a:lt1>
        <a:srgbClr val="FFFFFF"/>
      </a:lt1>
      <a:dk2>
        <a:srgbClr val="44546A"/>
      </a:dk2>
      <a:lt2>
        <a:srgbClr val="E7E6E6"/>
      </a:lt2>
      <a:accent1>
        <a:srgbClr val="595959"/>
      </a:accent1>
      <a:accent2>
        <a:srgbClr val="8496B0"/>
      </a:accent2>
      <a:accent3>
        <a:srgbClr val="5A6E8C"/>
      </a:accent3>
      <a:accent4>
        <a:srgbClr val="E4E4E4"/>
      </a:accent4>
      <a:accent5>
        <a:srgbClr val="034A90"/>
      </a:accent5>
      <a:accent6>
        <a:srgbClr val="59595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526</Words>
  <Application>WPS 演示</Application>
  <PresentationFormat>宽屏</PresentationFormat>
  <Paragraphs>20</Paragraphs>
  <Slides>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vt:i4>
      </vt:variant>
    </vt:vector>
  </HeadingPairs>
  <TitlesOfParts>
    <vt:vector size="12" baseType="lpstr">
      <vt:lpstr>Arial</vt:lpstr>
      <vt:lpstr>宋体</vt:lpstr>
      <vt:lpstr>Wingdings</vt:lpstr>
      <vt:lpstr>微软雅黑</vt:lpstr>
      <vt:lpstr>黑体</vt:lpstr>
      <vt:lpstr>Arial Unicode MS</vt:lpstr>
      <vt:lpstr>Calibri</vt:lpstr>
      <vt:lpstr>主题六</vt:lpstr>
      <vt:lpstr>101个！武汉市急救中心急救站点破百</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16</cp:revision>
  <dcterms:created xsi:type="dcterms:W3CDTF">2023-10-27T03:28:00Z</dcterms:created>
  <dcterms:modified xsi:type="dcterms:W3CDTF">2023-11-06T03:16:30Z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99AA16FAA1A84166AA15ED84983F5E64_12</vt:lpwstr>
  </property>
  <property fmtid="{D5CDD505-2E9C-101B-9397-08002B2CF9AE}" pid="3" name="KSOProductBuildVer">
    <vt:lpwstr>2052-12.1.0.15712</vt:lpwstr>
  </property>
</Properties>
</file>