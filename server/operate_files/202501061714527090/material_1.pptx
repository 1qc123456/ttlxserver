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2" r:id="rId3"/>
    <p:sldId id="257" r:id="rId4"/>
    <p:sldId id="261" r:id="rId5"/>
    <p:sldId id="259" r:id="rId7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-96" y="-6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5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财政拨款是指当年“三公”经费的预算数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43001" y="2032001"/>
            <a:ext cx="6858000" cy="1396630"/>
          </a:xfrm>
        </p:spPr>
        <p:txBody>
          <a:bodyPr rIns="25400" anchor="b">
            <a:noAutofit/>
          </a:bodyPr>
          <a:lstStyle>
            <a:lvl1pPr algn="ctr">
              <a:defRPr sz="4800" spc="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43001" y="3587404"/>
            <a:ext cx="6858000" cy="1021031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bg1"/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2766D8-3184-417C-ACD4-F839DB1C0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fld id="{AC941CA5-A4B8-4B6D-B96C-442A7CD84C66}" type="slidenum">
              <a:rPr lang="en-US" altLang="zh-CN"/>
            </a:fld>
            <a:endParaRPr lang="en-US" altLang="zh-CN"/>
          </a:p>
        </p:txBody>
      </p:sp>
      <p:sp>
        <p:nvSpPr>
          <p:cNvPr id="10" name="六边形 9"/>
          <p:cNvSpPr/>
          <p:nvPr>
            <p:custDataLst>
              <p:tags r:id="rId7"/>
            </p:custDataLst>
          </p:nvPr>
        </p:nvSpPr>
        <p:spPr>
          <a:xfrm>
            <a:off x="118462" y="443234"/>
            <a:ext cx="383949" cy="441964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imag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780" r="3660"/>
          <a:stretch>
            <a:fillRect/>
          </a:stretch>
        </p:blipFill>
        <p:spPr>
          <a:xfrm rot="5400000">
            <a:off x="-1006316" y="1336675"/>
            <a:ext cx="5153501" cy="4185285"/>
          </a:xfrm>
          <a:prstGeom prst="rect">
            <a:avLst/>
          </a:prstGeom>
        </p:spPr>
      </p:pic>
      <p:sp>
        <p:nvSpPr>
          <p:cNvPr id="5" name="六边形 4"/>
          <p:cNvSpPr/>
          <p:nvPr>
            <p:custDataLst>
              <p:tags r:id="rId4"/>
            </p:custDataLst>
          </p:nvPr>
        </p:nvSpPr>
        <p:spPr>
          <a:xfrm>
            <a:off x="2711054" y="2924175"/>
            <a:ext cx="87987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23929" y="2673627"/>
            <a:ext cx="3455876" cy="816646"/>
          </a:xfrm>
        </p:spPr>
        <p:txBody>
          <a:bodyPr rIns="63500" anchor="b">
            <a:noAutofit/>
          </a:bodyPr>
          <a:lstStyle>
            <a:lvl1pPr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923928" y="3571479"/>
            <a:ext cx="3455876" cy="682469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fld id="{49B052CD-EFEB-409F-8F8D-74FFDD5AD4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EC76B98-A76C-4629-B940-3A1118D71F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A38AC5-5059-49D7-9AD4-DB939F412D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fld id="{6166D663-BABB-4AF7-B679-49DFB49A8E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96D012-26AB-4529-8CF4-733CD669AB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2C837-5F9F-4434-92CB-432B2E696A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AC6C7CC-9170-4F2D-AD6B-9EED2276846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604E170-34F3-456A-9539-A9B12C468D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8649" y="2473126"/>
            <a:ext cx="7886701" cy="1911747"/>
          </a:xfrm>
        </p:spPr>
        <p:txBody>
          <a:bodyPr rtlCol="0" anchor="ctr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单击此处编辑标题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74DE4A-AF88-4CC7-8A46-288F8CD57EC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5771E23D-A1BF-4737-A8A6-343947C8D053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全面公开政府“三公”经费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2015年之前实现全国市、县级政府全面公开“三公”经费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3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全面公开政府“三公”经费</a:t>
            </a:r>
            <a:endParaRPr lang="zh-CN" altLang="en-US" sz="23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zh-CN" dirty="0" smtClean="0"/>
              <a:t>　国务院要求，着力推进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经费公开，政府要全面公开省本级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经费，并指导督促省级以下政府加快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经费公开步伐，争取２０１５年之前实现全国市、县级政府全面公开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经费。</a:t>
            </a:r>
            <a:endParaRPr lang="zh-CN" altLang="zh-CN" dirty="0" smtClean="0"/>
          </a:p>
          <a:p>
            <a:pPr marL="0" indent="0" eaLnBrk="1" hangingPunct="1">
              <a:buFontTx/>
              <a:buNone/>
              <a:defRPr/>
            </a:pPr>
            <a:r>
              <a:rPr lang="zh-CN" altLang="zh-CN" dirty="0" smtClean="0"/>
              <a:t>　　</a:t>
            </a:r>
            <a:endParaRPr lang="zh-CN" altLang="zh-CN" dirty="0" smtClean="0"/>
          </a:p>
        </p:txBody>
      </p:sp>
      <p:pic>
        <p:nvPicPr>
          <p:cNvPr id="6" name="内容占位符 5" descr="WPS演示037素材文件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754880" y="2026920"/>
            <a:ext cx="3810000" cy="3238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北京市政府某部门“三公”经费财政拨款情况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0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smtClean="0"/>
              <a:t>   </a:t>
            </a:r>
            <a:r>
              <a:rPr lang="zh-CN" altLang="zh-CN" sz="2400" dirty="0" smtClean="0"/>
              <a:t>　</a:t>
            </a:r>
            <a:r>
              <a:rPr lang="en-US" altLang="zh-CN" sz="2400" dirty="0" smtClean="0"/>
              <a:t>1</a:t>
            </a:r>
            <a:r>
              <a:rPr lang="zh-CN" altLang="zh-CN" sz="2400" dirty="0" smtClean="0"/>
              <a:t>、因公出国</a:t>
            </a:r>
            <a:r>
              <a:rPr lang="en-US" altLang="zh-CN" sz="2400" dirty="0" smtClean="0"/>
              <a:t>(</a:t>
            </a:r>
            <a:r>
              <a:rPr lang="zh-CN" altLang="zh-CN" sz="2400" dirty="0" smtClean="0"/>
              <a:t>境</a:t>
            </a:r>
            <a:r>
              <a:rPr lang="en-US" altLang="zh-CN" sz="2400" dirty="0" smtClean="0"/>
              <a:t>)</a:t>
            </a:r>
            <a:r>
              <a:rPr lang="zh-CN" altLang="zh-CN" sz="2400" dirty="0" smtClean="0"/>
              <a:t>费用。</a:t>
            </a:r>
            <a:r>
              <a:rPr lang="en-US" altLang="zh-CN" sz="2400" dirty="0" smtClean="0"/>
              <a:t>2012</a:t>
            </a:r>
            <a:r>
              <a:rPr lang="zh-CN" altLang="zh-CN" sz="2400" dirty="0" smtClean="0"/>
              <a:t>年预算数</a:t>
            </a:r>
            <a:r>
              <a:rPr lang="en-US" altLang="zh-CN" sz="2400" dirty="0" smtClean="0"/>
              <a:t>27</a:t>
            </a:r>
            <a:r>
              <a:rPr lang="zh-CN" altLang="zh-CN" sz="2400" dirty="0" smtClean="0"/>
              <a:t>万元，比</a:t>
            </a:r>
            <a:r>
              <a:rPr lang="en-US" altLang="zh-CN" sz="2400" dirty="0" smtClean="0"/>
              <a:t>2011</a:t>
            </a:r>
            <a:r>
              <a:rPr lang="zh-CN" altLang="zh-CN" sz="2400" dirty="0" smtClean="0"/>
              <a:t>年预算数</a:t>
            </a:r>
            <a:r>
              <a:rPr lang="en-US" altLang="zh-CN" sz="2400" dirty="0" smtClean="0"/>
              <a:t>30</a:t>
            </a:r>
            <a:r>
              <a:rPr lang="zh-CN" altLang="zh-CN" sz="2400" dirty="0" smtClean="0"/>
              <a:t>万元减少</a:t>
            </a:r>
            <a:r>
              <a:rPr lang="en-US" altLang="zh-CN" sz="2400" dirty="0" smtClean="0"/>
              <a:t>3</a:t>
            </a:r>
            <a:r>
              <a:rPr lang="zh-CN" altLang="zh-CN" sz="2400" dirty="0" smtClean="0"/>
              <a:t>万元，主要原因：年度出国任务调整；</a:t>
            </a:r>
            <a:r>
              <a:rPr lang="en-US" altLang="zh-CN" sz="2400" dirty="0" smtClean="0"/>
              <a:t>2012</a:t>
            </a:r>
            <a:r>
              <a:rPr lang="zh-CN" altLang="zh-CN" sz="2400" dirty="0" smtClean="0"/>
              <a:t>年因公出国</a:t>
            </a:r>
            <a:r>
              <a:rPr lang="en-US" altLang="zh-CN" sz="2400" dirty="0" smtClean="0"/>
              <a:t>(</a:t>
            </a:r>
            <a:r>
              <a:rPr lang="zh-CN" altLang="zh-CN" sz="2400" dirty="0" smtClean="0"/>
              <a:t>境</a:t>
            </a:r>
            <a:r>
              <a:rPr lang="en-US" altLang="zh-CN" sz="2400" dirty="0" smtClean="0"/>
              <a:t>)</a:t>
            </a:r>
            <a:r>
              <a:rPr lang="zh-CN" altLang="zh-CN" sz="2400" dirty="0" smtClean="0"/>
              <a:t>费用主要用于口岸相关业务考察、培训、学习等方面。</a:t>
            </a:r>
            <a:endParaRPr lang="zh-CN" altLang="zh-CN" sz="2400" dirty="0" smtClean="0"/>
          </a:p>
          <a:p>
            <a:pPr eaLnBrk="1" hangingPunct="1"/>
            <a:r>
              <a:rPr lang="zh-CN" altLang="zh-CN" sz="2400" dirty="0" smtClean="0"/>
              <a:t>　　</a:t>
            </a:r>
            <a:r>
              <a:rPr lang="en-US" altLang="zh-CN" sz="2400" dirty="0" smtClean="0"/>
              <a:t>2</a:t>
            </a:r>
            <a:r>
              <a:rPr lang="zh-CN" altLang="zh-CN" sz="2400" dirty="0" smtClean="0"/>
              <a:t>、公务接待费。</a:t>
            </a:r>
            <a:r>
              <a:rPr lang="en-US" altLang="zh-CN" sz="2400" dirty="0" smtClean="0"/>
              <a:t>2012</a:t>
            </a:r>
            <a:r>
              <a:rPr lang="zh-CN" altLang="zh-CN" sz="2400" dirty="0" smtClean="0"/>
              <a:t>年预算数</a:t>
            </a:r>
            <a:r>
              <a:rPr lang="en-US" altLang="zh-CN" sz="2400" dirty="0" smtClean="0"/>
              <a:t>32.42</a:t>
            </a:r>
            <a:r>
              <a:rPr lang="zh-CN" altLang="zh-CN" sz="2400" dirty="0" smtClean="0"/>
              <a:t>万元，比</a:t>
            </a:r>
            <a:r>
              <a:rPr lang="en-US" altLang="zh-CN" sz="2400" dirty="0" smtClean="0"/>
              <a:t>2011</a:t>
            </a:r>
            <a:r>
              <a:rPr lang="zh-CN" altLang="zh-CN" sz="2400" dirty="0" smtClean="0"/>
              <a:t>年预算数</a:t>
            </a:r>
            <a:r>
              <a:rPr lang="en-US" altLang="zh-CN" sz="2400" dirty="0" smtClean="0"/>
              <a:t>43.25</a:t>
            </a:r>
            <a:r>
              <a:rPr lang="zh-CN" altLang="zh-CN" sz="2400" dirty="0" smtClean="0"/>
              <a:t>万元减少</a:t>
            </a:r>
            <a:r>
              <a:rPr lang="en-US" altLang="zh-CN" sz="2400" dirty="0" smtClean="0"/>
              <a:t>10.83</a:t>
            </a:r>
            <a:r>
              <a:rPr lang="zh-CN" altLang="zh-CN" sz="2400" dirty="0" smtClean="0"/>
              <a:t>万元，主要原因：项目经费中当年公务接待任务减少。</a:t>
            </a:r>
            <a:endParaRPr lang="zh-CN" altLang="zh-CN" sz="2400" dirty="0" smtClean="0"/>
          </a:p>
          <a:p>
            <a:pPr eaLnBrk="1" hangingPunct="1"/>
            <a:r>
              <a:rPr lang="zh-CN" altLang="zh-CN" sz="2400" dirty="0" smtClean="0"/>
              <a:t>　　</a:t>
            </a:r>
            <a:r>
              <a:rPr lang="en-US" altLang="zh-CN" sz="2400" dirty="0" smtClean="0"/>
              <a:t>3</a:t>
            </a:r>
            <a:r>
              <a:rPr lang="zh-CN" altLang="zh-CN" sz="2400" dirty="0" smtClean="0"/>
              <a:t>、公务用车购置和运行维护费。</a:t>
            </a:r>
            <a:r>
              <a:rPr lang="en-US" altLang="zh-CN" sz="2400" dirty="0" smtClean="0"/>
              <a:t>2012</a:t>
            </a:r>
            <a:r>
              <a:rPr lang="zh-CN" altLang="zh-CN" sz="2400" dirty="0" smtClean="0"/>
              <a:t>年预算数</a:t>
            </a:r>
            <a:r>
              <a:rPr lang="en-US" altLang="zh-CN" sz="2400" dirty="0" smtClean="0"/>
              <a:t>51</a:t>
            </a:r>
            <a:r>
              <a:rPr lang="zh-CN" altLang="zh-CN" sz="2400" dirty="0" smtClean="0"/>
              <a:t>万元，其中，公务用车购置费</a:t>
            </a:r>
            <a:r>
              <a:rPr lang="en-US" altLang="zh-CN" sz="2400" dirty="0" smtClean="0"/>
              <a:t>2012</a:t>
            </a:r>
            <a:r>
              <a:rPr lang="zh-CN" altLang="zh-CN" sz="2400" dirty="0" smtClean="0"/>
              <a:t>年预算数与</a:t>
            </a:r>
            <a:r>
              <a:rPr lang="en-US" altLang="zh-CN" sz="2400" dirty="0" smtClean="0"/>
              <a:t>2011</a:t>
            </a:r>
            <a:r>
              <a:rPr lang="zh-CN" altLang="zh-CN" sz="2400" dirty="0" smtClean="0"/>
              <a:t>预算数均为零；公务用车运行维护费</a:t>
            </a:r>
            <a:r>
              <a:rPr lang="en-US" altLang="zh-CN" sz="2400" dirty="0" smtClean="0"/>
              <a:t>2012</a:t>
            </a:r>
            <a:r>
              <a:rPr lang="zh-CN" altLang="zh-CN" sz="2400" dirty="0" smtClean="0"/>
              <a:t>年预算数</a:t>
            </a:r>
            <a:r>
              <a:rPr lang="en-US" altLang="zh-CN" sz="2400" dirty="0" smtClean="0"/>
              <a:t>51</a:t>
            </a:r>
            <a:r>
              <a:rPr lang="zh-CN" altLang="zh-CN" sz="2400" dirty="0" smtClean="0"/>
              <a:t>万元，比</a:t>
            </a:r>
            <a:r>
              <a:rPr lang="en-US" altLang="zh-CN" sz="2400" dirty="0" smtClean="0"/>
              <a:t>2011</a:t>
            </a:r>
            <a:r>
              <a:rPr lang="zh-CN" altLang="zh-CN" sz="2400" dirty="0" smtClean="0"/>
              <a:t>预算数减少</a:t>
            </a:r>
            <a:r>
              <a:rPr lang="en-US" altLang="zh-CN" sz="2400" dirty="0" smtClean="0"/>
              <a:t>3</a:t>
            </a:r>
            <a:r>
              <a:rPr lang="zh-CN" altLang="zh-CN" sz="2400" dirty="0" smtClean="0"/>
              <a:t>万元。主要原因：加强车辆管理、整合交通资源、压缩经费开支。</a:t>
            </a:r>
            <a:endParaRPr lang="zh-CN" altLang="en-US" sz="24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ID" val="_2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0196576"/>
  <p:tag name="KSO_WM_TEMPLATE_SUBCATEGORY" val="0"/>
  <p:tag name="KSO_WM_TEMPLATE_THUMBS_INDEX" val="1"/>
</p:tagLst>
</file>

<file path=ppt/tags/tag65.xml><?xml version="1.0" encoding="utf-8"?>
<p:tagLst xmlns:p="http://schemas.openxmlformats.org/presentationml/2006/main">
  <p:tag name="KSO_WPP_MARK_KEY" val="caa11901-c370-4189-a1f3-f8c67a5c7a60"/>
  <p:tag name="COMMONDATA" val="eyJoZGlkIjoiM2Q2NDY3ODBmZDEyZTZiNTFiOWYyZGE1YmNkNTA1NzMifQ=="/>
</p:tagLst>
</file>

<file path=ppt/theme/theme1.xml><?xml version="1.0" encoding="utf-8"?>
<a:theme xmlns:a="http://schemas.openxmlformats.org/drawingml/2006/main" name="主题二">
  <a:themeElements>
    <a:clrScheme name="2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WPS 演示</Application>
  <PresentationFormat>全屏显示(4:3)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黑体</vt:lpstr>
      <vt:lpstr>仿宋</vt:lpstr>
      <vt:lpstr>主题二</vt:lpstr>
      <vt:lpstr>PowerPoint 演示文稿</vt:lpstr>
      <vt:lpstr>PowerPoint 演示文稿</vt:lpstr>
      <vt:lpstr>PowerPoint 演示文稿</vt:lpstr>
      <vt:lpstr>PowerPoint 演示文稿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4笑话：形象的比喻</dc:title>
  <dc:creator>计算中心</dc:creator>
  <cp:lastModifiedBy>zy</cp:lastModifiedBy>
  <cp:revision>13</cp:revision>
  <dcterms:created xsi:type="dcterms:W3CDTF">2001-12-20T11:55:00Z</dcterms:created>
  <dcterms:modified xsi:type="dcterms:W3CDTF">2023-10-24T09:47:27Z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2718F70A9F71447ABE314BCEE1DDAA85_12</vt:lpwstr>
  </property>
  <property fmtid="{D5CDD505-2E9C-101B-9397-08002B2CF9AE}" pid="3" name="KSOProductBuildVer">
    <vt:lpwstr>2052-11.1.0.14227</vt:lpwstr>
  </property>
</Properties>
</file>