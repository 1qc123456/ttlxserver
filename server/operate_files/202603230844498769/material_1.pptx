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>
  <p:sldMasterIdLst>
    <p:sldMasterId id="2147483648" r:id="rId1"/>
  </p:sldMasterIdLst>
  <p:notesMasterIdLst>
    <p:notesMasterId r:id="rId5"/>
  </p:notesMasterIdLst>
  <p:handoutMasterIdLst>
    <p:handoutMasterId r:id="rId8"/>
  </p:handoutMasterIdLst>
  <p:sldIdLst>
    <p:sldId id="256" r:id="rId3"/>
    <p:sldId id="257" r:id="rId4"/>
    <p:sldId id="258" r:id="rId6"/>
    <p:sldId id="259" r:id="rId7"/>
  </p:sldIdLst>
  <p:sldSz cx="12192635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Rg st="2" end="4"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0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 泥板是世界上最古老的书写材料之一。它的坚固使得数千年前的商业合同、神话史诗（如《吉尔伽美什史诗》）和法律条文（如《汉谟拉比法典》）得以原貌呈现给我们。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914400"/>
            <a:ext cx="9800165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3560400"/>
            <a:ext cx="9800165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490400"/>
            <a:ext cx="1097028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848400"/>
            <a:ext cx="776956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4615200"/>
            <a:ext cx="776956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501200"/>
            <a:ext cx="517731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501200"/>
            <a:ext cx="517731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429200"/>
            <a:ext cx="5342926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5" y="1421729"/>
            <a:ext cx="5342926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5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555200"/>
            <a:ext cx="5233593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555200"/>
            <a:ext cx="522771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914400"/>
            <a:ext cx="1044103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914400"/>
            <a:ext cx="9170103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774000"/>
            <a:ext cx="1097388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484000"/>
            <a:ext cx="9800165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3560400"/>
            <a:ext cx="9800165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608400"/>
            <a:ext cx="1097028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490400"/>
            <a:ext cx="1097028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6314400"/>
            <a:ext cx="396039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楷体" panose="020106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楷体" panose="0201060906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楷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6.xml"/><Relationship Id="rId3" Type="http://schemas.openxmlformats.org/officeDocument/2006/relationships/tags" Target="../tags/tag67.xml"/><Relationship Id="rId2" Type="http://schemas.openxmlformats.org/officeDocument/2006/relationships/image" Target="../media/image2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6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pPr algn="ctr"/>
            <a:r>
              <a:rPr lang="zh-CN" altLang="zh-CN" sz="15000" u="sng"/>
              <a:t>墨</a:t>
            </a:r>
            <a:endParaRPr lang="zh-CN" altLang="zh-CN" sz="15000" u="sng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p>
            <a:pPr algn="l"/>
            <a:r>
              <a:rPr lang="zh-CN" altLang="en-US" b="1"/>
              <a:t>墨香四溢-文人墨客的雅趣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流程图: 资料带 2"/>
          <p:cNvSpPr/>
          <p:nvPr/>
        </p:nvSpPr>
        <p:spPr>
          <a:xfrm>
            <a:off x="302895" y="380365"/>
            <a:ext cx="11592000" cy="900000"/>
          </a:xfrm>
          <a:prstGeom prst="flowChartPunchedTap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远古时期的书写材料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52050" y="1468120"/>
            <a:ext cx="6096000" cy="484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buFont typeface="Wingdings" panose="05000000000000000000" charset="0"/>
              <a:buChar char="u"/>
            </a:pPr>
            <a:r>
              <a:rPr lang="zh-CN" altLang="en-US" sz="2800" b="1">
                <a:solidFill>
                  <a:srgbClr val="808080"/>
                </a:solidFill>
                <a:uFillTx/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刻划符号</a:t>
            </a:r>
            <a:endParaRPr lang="zh-CN" altLang="en-US" sz="2800" b="1">
              <a:solidFill>
                <a:srgbClr val="808080"/>
              </a:solidFill>
              <a:uFillTx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远古时期，人们使用锐利的石器或骨器在陶器、甲骨等物体上刻划符号，以记录信息。</a:t>
            </a:r>
            <a:endParaRPr lang="zh-CN" altLang="en-US"/>
          </a:p>
          <a:p>
            <a:endParaRPr lang="zh-CN" altLang="en-US"/>
          </a:p>
          <a:p>
            <a:pPr marL="457200" indent="-457200" algn="l">
              <a:buClrTx/>
              <a:buSzTx/>
              <a:buFont typeface="Wingdings" panose="05000000000000000000" charset="0"/>
              <a:buChar char="u"/>
            </a:pPr>
            <a:r>
              <a:rPr lang="zh-CN" altLang="en-US" sz="2800" b="1">
                <a:solidFill>
                  <a:srgbClr val="808080"/>
                </a:solidFill>
                <a:uFillTx/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天然颜料</a:t>
            </a:r>
            <a:endParaRPr lang="zh-CN" altLang="en-US" sz="2800" b="1">
              <a:solidFill>
                <a:srgbClr val="808080"/>
              </a:solidFill>
              <a:uFillTx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随着文明的发展，人们开始使用天然颜料，如炭黑、赤铁矿粉等，与水或油脂混合后涂抹在物体表面进行书写或绘画。</a:t>
            </a:r>
            <a:endParaRPr lang="zh-CN" altLang="en-US"/>
          </a:p>
          <a:p>
            <a:endParaRPr lang="zh-CN" altLang="en-US"/>
          </a:p>
          <a:p>
            <a:pPr marL="457200" indent="-457200" algn="l">
              <a:buClrTx/>
              <a:buSzTx/>
              <a:buFont typeface="Wingdings" panose="05000000000000000000" charset="0"/>
              <a:buChar char="u"/>
            </a:pPr>
            <a:r>
              <a:rPr lang="zh-CN" altLang="en-US" sz="2800" b="1">
                <a:solidFill>
                  <a:srgbClr val="808080"/>
                </a:solidFill>
                <a:uFillTx/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简牍与帛书</a:t>
            </a:r>
            <a:endParaRPr lang="zh-CN" altLang="en-US" sz="2800" b="1">
              <a:solidFill>
                <a:srgbClr val="808080"/>
              </a:solidFill>
              <a:uFillTx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latin typeface="Arial" panose="020B0604020202020204" pitchFamily="34" charset="0"/>
                <a:ea typeface="楷体" panose="02010609060101010101" charset="-122"/>
                <a:cs typeface="+mn-ea"/>
                <a:sym typeface="+mn-ea"/>
              </a:rPr>
              <a:t>在商周时期，人们开始使用竹简、木牍以及丝织品帛书作为书写材料，这些材料对墨的需求逐渐增大。</a:t>
            </a:r>
            <a:endParaRPr lang="zh-CN" altLang="en-US">
              <a:latin typeface="Arial" panose="020B0604020202020204" pitchFamily="34" charset="0"/>
              <a:ea typeface="楷体" panose="02010609060101010101" charset="-122"/>
              <a:cs typeface="+mn-ea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9355" y="2023110"/>
            <a:ext cx="3371215" cy="4027170"/>
          </a:xfrm>
          <a:prstGeom prst="rect">
            <a:avLst/>
          </a:prstGeom>
          <a:effectLst>
            <a:softEdge rad="635000"/>
          </a:effectLst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墨的发明与演变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45785" y="1313815"/>
            <a:ext cx="9900000" cy="5292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711200" fontAlgn="auto">
              <a:lnSpc>
                <a:spcPct val="200000"/>
              </a:lnSpc>
              <a:spcBef>
                <a:spcPts val="600"/>
              </a:spcBef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/>
              <a:t>最早的墨可能是由炭黑和石墨等天然矿物质制成的，这些墨色黑而有光泽，但易脱落。</a:t>
            </a:r>
            <a:endParaRPr lang="zh-CN" altLang="en-US" sz="2800"/>
          </a:p>
          <a:p>
            <a:pPr indent="711200" fontAlgn="auto">
              <a:lnSpc>
                <a:spcPct val="200000"/>
              </a:lnSpc>
              <a:spcBef>
                <a:spcPts val="600"/>
              </a:spcBef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/>
              <a:t>汉代开始，人们使用松木燃烧产生的烟灰制成松烟墨，这种墨色黑且质地细腻，逐渐成为古代书写的主要用墨。</a:t>
            </a:r>
            <a:endParaRPr lang="zh-CN" altLang="en-US" sz="2800"/>
          </a:p>
          <a:p>
            <a:pPr indent="711200" fontAlgn="auto">
              <a:lnSpc>
                <a:spcPct val="200000"/>
              </a:lnSpc>
              <a:spcBef>
                <a:spcPts val="600"/>
              </a:spcBef>
              <a:extLst>
                <a:ext uri="{35155182-B16C-46BC-9424-99874614C6A1}">
                  <wpsdc:indentchars xmlns:wpsdc="http://www.wps.cn/officeDocument/2017/drawingmlCustomData" val="200" checksum="3773799597"/>
                </a:ext>
              </a:extLst>
            </a:pPr>
            <a:r>
              <a:rPr lang="zh-CN" altLang="en-US" sz="2800"/>
              <a:t>松烟等为原料的漆烟墨，这些墨质地更加优良，书写效果更佳。</a:t>
            </a:r>
            <a:endParaRPr lang="zh-CN" altLang="en-US" sz="2800"/>
          </a:p>
        </p:txBody>
      </p:sp>
      <p:sp>
        <p:nvSpPr>
          <p:cNvPr id="4" name="矩形 3"/>
          <p:cNvSpPr/>
          <p:nvPr/>
        </p:nvSpPr>
        <p:spPr>
          <a:xfrm>
            <a:off x="608330" y="1456055"/>
            <a:ext cx="10944000" cy="5068800"/>
          </a:xfrm>
          <a:prstGeom prst="rect">
            <a:avLst/>
          </a:prstGeom>
          <a:noFill/>
          <a:ln w="762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4535" y="608330"/>
            <a:ext cx="636270" cy="5855970"/>
          </a:xfrm>
        </p:spPr>
        <p:txBody>
          <a:bodyPr>
            <a:normAutofit fontScale="90000"/>
            <a:scene3d>
              <a:camera prst="perspectiveLeft"/>
              <a:lightRig rig="threePt" dir="t"/>
            </a:scene3d>
          </a:bodyPr>
          <a:p>
            <a:r>
              <a:rPr lang="zh-CN" altLang="en-US">
                <a:sym typeface="+mn-ea"/>
              </a:rPr>
              <a:t>不同朝代的墨文化特色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76875" y="828000"/>
            <a:ext cx="9018270" cy="5241925"/>
          </a:xfrm>
          <a:prstGeom prst="rect">
            <a:avLst/>
          </a:prstGeom>
          <a:noFill/>
        </p:spPr>
        <p:txBody>
          <a:bodyPr wrap="square" rtlCol="0" anchor="t">
            <a:noAutofit/>
            <a:scene3d>
              <a:camera prst="perspectiveRight"/>
              <a:lightRig rig="threePt" dir="t"/>
            </a:scene3d>
          </a:bodyPr>
          <a:p>
            <a:r>
              <a:rPr lang="zh-CN" altLang="en-US" sz="3000"/>
              <a:t>秦汉时期，墨的制造和使用开始逐渐普及，成为官方文书和民间书写的重要工具。这一时期，墨也作为礼品和贡品，体现“伸展了其珍贵地位。</a:t>
            </a:r>
            <a:endParaRPr lang="zh-CN" altLang="en-US" sz="3000"/>
          </a:p>
          <a:p>
            <a:r>
              <a:rPr lang="zh-CN" altLang="en-US" sz="3000"/>
              <a:t>到了唐宋时期，制墨技艺达到了巅峰，出现了众多名品和墨家。墨不仅是一种书写工具，更成为文人墨客赏玩、收藏的艺术品。唐宋诗词中也常提及墨，展现了墨在文化艺术领域的重要地位。</a:t>
            </a:r>
            <a:endParaRPr lang="zh-CN" altLang="en-US" sz="3000"/>
          </a:p>
          <a:p>
            <a:r>
              <a:rPr lang="zh-CN" altLang="en-US" sz="3000"/>
              <a:t>明清时期，墨的制造和使用更加广泛，不仅用于书写、绘画，还应用于印刷、雕刻等领域。同时，墨的种类和品质也更加丰富多样，满足了不同阶层和领域的需求。</a:t>
            </a:r>
            <a:endParaRPr lang="zh-CN" altLang="en-US" sz="30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0">
        <p:fade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/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ID" val="custom20205081_1*b*1"/>
  <p:tag name="KSO_WM_TEMPLATE_CATEGORY" val="custom"/>
  <p:tag name="KSO_WM_TEMPLATE_INDEX" val="20205081"/>
  <p:tag name="KSO_WM_UNIT_LAYERLEVEL" val="1"/>
  <p:tag name="KSO_WM_TAG_VERSION" val="1.0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WPS 演示</Application>
  <PresentationFormat>宽屏</PresentationFormat>
  <Paragraphs>27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楷体</vt:lpstr>
      <vt:lpstr>Wingdings</vt:lpstr>
      <vt:lpstr>微软雅黑</vt:lpstr>
      <vt:lpstr>Arial Unicode MS</vt:lpstr>
      <vt:lpstr>Calibri</vt:lpstr>
      <vt:lpstr>WPS</vt:lpstr>
      <vt:lpstr>墨</vt:lpstr>
      <vt:lpstr>远古时期的书写材料</vt:lpstr>
      <vt:lpstr>墨的发明与演变</vt:lpstr>
      <vt:lpstr>不同朝代的墨文化特色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166</cp:revision>
  <dcterms:created xsi:type="dcterms:W3CDTF">2019-06-19T02:08:00Z</dcterms:created>
  <dcterms:modified xsi:type="dcterms:W3CDTF">2025-09-18T07:57:06Z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D79E2B9143A54F53AC84B7CC46DDEF41_11</vt:lpwstr>
  </property>
</Properties>
</file>