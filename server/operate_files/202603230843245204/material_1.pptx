
<file path=[Content_Types].xml><?xml version="1.0" encoding="utf-8"?>
<Types xmlns="http://schemas.openxmlformats.org/package/2006/content-types"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56290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9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二十四节气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二十四节气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二十四节气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二十四节气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469765" y="205740"/>
            <a:ext cx="2340610" cy="4227830"/>
          </a:xfrm>
        </p:spPr>
        <p:txBody>
          <a:bodyPr/>
          <a:p>
            <a:r>
              <a:rPr lang="zh-CN" altLang="en-US" sz="12000">
                <a:latin typeface="等线" panose="02010600030101010101" charset="-122"/>
                <a:ea typeface="等线" panose="02010600030101010101" charset="-122"/>
              </a:rPr>
              <a:t>芒种</a:t>
            </a:r>
            <a:endParaRPr lang="zh-CN" altLang="en-US" sz="12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674485" y="1791335"/>
            <a:ext cx="877570" cy="3021330"/>
          </a:xfrm>
        </p:spPr>
        <p:txBody>
          <a:bodyPr vert="eaVert"/>
          <a:p>
            <a:r>
              <a:rPr lang="zh-CN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麦收秧倒插，秋囤再攀巅。税赋千年免，粮仓万户填。</a:t>
            </a:r>
            <a:endParaRPr lang="zh-CN" altLang="en-US" sz="1800">
              <a:solidFill>
                <a:schemeClr val="tx1">
                  <a:lumMod val="50000"/>
                  <a:lumOff val="5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5000">
        <p:dissolve/>
        <p:sndAc>
          <p:stSnd>
            <p:snd r:embed="rId5" name="voltage.wav"/>
          </p:stSnd>
        </p:sndAc>
      </p:transition>
    </mc:Choice>
    <mc:Fallback>
      <p:transition spd="slow" advClick="0" advTm="5000">
        <p:dissolve/>
        <p:sndAc>
          <p:stSnd>
            <p:snd r:embed="rId5" name="voltag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60" y="1090295"/>
            <a:ext cx="5148000" cy="5148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8000" y="1476000"/>
            <a:ext cx="5580000" cy="450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" indent="6096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  <wpsdc:marlchars xmlns:wpsdc="http://www.wps.cn/officeDocument/2017/drawingmlCustomData" val="10" checksum="1543506365"/>
                </a:ext>
              </a:extLst>
            </a:pPr>
            <a:r>
              <a:rPr lang="zh-CN" altLang="en-US" sz="2400">
                <a:solidFill>
                  <a:schemeClr val="accent2">
                    <a:lumMod val="75000"/>
                  </a:schemeClr>
                </a:solidFill>
                <a:effectLst>
                  <a:reflection blurRad="6350" stA="60000" endA="900" endPos="58000" dir="5400000" sy="-100000" algn="bl" rotWithShape="0"/>
                </a:effectLst>
                <a:latin typeface="楷体" panose="02010609060101010101" charset="-122"/>
                <a:ea typeface="楷体" panose="02010609060101010101" charset="-122"/>
              </a:rPr>
              <a:t>芒种时节，气温升高，降水增多，空气变得潮湿闷热。这样的气候条件，既有利于农作物的生长，也给人们的生活带来了一些不便。但芒种的忙碌与艰辛，孕育着丰收的希望。在芒种的田野里，农民们挥汗如雨，他们用辛勤的劳动诠释着对土地的热爱和对生活的执着追求。</a:t>
            </a:r>
            <a:endParaRPr lang="zh-CN" altLang="en-US" sz="2400">
              <a:solidFill>
                <a:schemeClr val="accent2">
                  <a:lumMod val="75000"/>
                </a:schemeClr>
              </a:solidFill>
              <a:effectLst>
                <a:reflection blurRad="6350" stA="60000" endA="900" endPos="58000" dir="5400000" sy="-100000" algn="bl" rotWithShape="0"/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二十四节气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图片3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00" y="1367790"/>
            <a:ext cx="4896000" cy="4896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20000" y="1368000"/>
            <a:ext cx="5796000" cy="46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4350" indent="-514350" fontAlgn="auto">
              <a:lnSpc>
                <a:spcPts val="3400"/>
              </a:lnSpc>
              <a:buFont typeface="+mj-ea"/>
              <a:buAutoNum type="ea1JpnChsDbPeriod"/>
            </a:pPr>
            <a:r>
              <a:rPr lang="zh-CN" altLang="en-US" sz="2000">
                <a:solidFill>
                  <a:srgbClr val="56290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公元前104年，《太初历》由邓平等制定，首次将二十四节气正式纳入历法体系中，明确了它们的天文位置。芒种作为二十四节气之一，由此被正式确定下来。</a:t>
            </a:r>
            <a:endParaRPr lang="zh-CN" altLang="en-US" sz="2000">
              <a:solidFill>
                <a:srgbClr val="56290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 fontAlgn="auto">
              <a:lnSpc>
                <a:spcPts val="3400"/>
              </a:lnSpc>
              <a:buFont typeface="+mj-ea"/>
              <a:buAutoNum type="ea1JpnChsDbPeriod"/>
            </a:pPr>
            <a:r>
              <a:rPr lang="zh-CN" altLang="en-US" sz="2000">
                <a:solidFill>
                  <a:srgbClr val="56290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芒种是二十四节气中的第九个节气，通常在每年的6月5日至7日之间，标志着仲夏的开始。此时，太阳黄经达75度，它位于“节气”与“中气”交替的位置。芒种的到来意味着农事活动进入了一年中最繁忙的时期</a:t>
            </a:r>
            <a:endParaRPr lang="zh-CN" altLang="en-US" sz="2000">
              <a:solidFill>
                <a:srgbClr val="56290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2025-6-5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二十四节气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WPS 演示</Application>
  <PresentationFormat>宽屏</PresentationFormat>
  <Paragraphs>17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等线</vt:lpstr>
      <vt:lpstr>仿宋</vt:lpstr>
      <vt:lpstr>楷体</vt:lpstr>
      <vt:lpstr>微软雅黑</vt:lpstr>
      <vt:lpstr>Arial Unicode MS</vt:lpstr>
      <vt:lpstr>Calibri</vt:lpstr>
      <vt:lpstr>WPS</vt:lpstr>
      <vt:lpstr>芒种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157</cp:revision>
  <dcterms:created xsi:type="dcterms:W3CDTF">2019-06-19T02:08:00Z</dcterms:created>
  <dcterms:modified xsi:type="dcterms:W3CDTF">2025-05-27T07:23:37Z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6AA14F191AC748D3B2431193AC13A60D_11</vt:lpwstr>
  </property>
</Properties>
</file>