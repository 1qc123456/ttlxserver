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7" r:id="rId3"/>
    <p:sldId id="258" r:id="rId5"/>
    <p:sldId id="259" r:id="rId6"/>
    <p:sldId id="262" r:id="rId7"/>
    <p:sldId id="263" r:id="rId8"/>
    <p:sldId id="264" r:id="rId9"/>
    <p:sldId id="265" r:id="rId10"/>
    <p:sldId id="261" r:id="rId11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28" autoAdjust="0"/>
    <p:restoredTop sz="94776" autoAdjust="0"/>
  </p:normalViewPr>
  <p:slideViewPr>
    <p:cSldViewPr showGuides="1">
      <p:cViewPr>
        <p:scale>
          <a:sx n="60" d="100"/>
          <a:sy n="60" d="100"/>
        </p:scale>
        <p:origin x="-58" y="-402"/>
      </p:cViewPr>
      <p:guideLst>
        <p:guide orient="horz" pos="2160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2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6D39B9D9-D2D7-4E95-AE21-FAFFB40140F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latinLnBrk="1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latinLnBrk="1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latinLnBrk="1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latinLnBrk="1">
              <a:defRPr kumimoji="1" sz="1200"/>
            </a:lvl1pPr>
          </a:lstStyle>
          <a:p>
            <a:fld id="{C17D4AF7-13E8-4CD8-9DF7-F89EA32A5EA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总结过去思想，学习，活动和社会实践等方面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audio" Target="../media/audio1.wav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2"/>
            </p:custDataLst>
          </p:nvPr>
        </p:nvSpPr>
        <p:spPr>
          <a:xfrm>
            <a:off x="3337322" y="5073650"/>
            <a:ext cx="1015603" cy="178435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3"/>
            </p:custDataLst>
          </p:nvPr>
        </p:nvSpPr>
        <p:spPr>
          <a:xfrm flipV="1">
            <a:off x="0" y="-9525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4"/>
            </p:custDataLst>
          </p:nvPr>
        </p:nvSpPr>
        <p:spPr>
          <a:xfrm>
            <a:off x="-13097" y="-11113"/>
            <a:ext cx="5428060" cy="6892926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6"/>
            </p:custDataLst>
          </p:nvPr>
        </p:nvSpPr>
        <p:spPr>
          <a:xfrm>
            <a:off x="-32147" y="-9525"/>
            <a:ext cx="5451872" cy="6891338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 flipV="1">
            <a:off x="6735366" y="5002213"/>
            <a:ext cx="2305050" cy="1865312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6673084" y="4648927"/>
            <a:ext cx="2300288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4818729" y="740138"/>
            <a:ext cx="4154642" cy="2751522"/>
          </a:xfrm>
        </p:spPr>
        <p:txBody>
          <a:bodyPr lIns="90000" tIns="46800" rIns="90000" bIns="0" anchor="b">
            <a:normAutofit/>
          </a:bodyPr>
          <a:lstStyle>
            <a:lvl1pPr algn="r">
              <a:defRPr sz="4950" b="1">
                <a:solidFill>
                  <a:schemeClr val="tx2"/>
                </a:solidFill>
                <a:latin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606284" y="3924075"/>
            <a:ext cx="3367088" cy="523240"/>
          </a:xfrm>
        </p:spPr>
        <p:txBody>
          <a:bodyPr lIns="90000" rIns="90000"/>
          <a:lstStyle>
            <a:lvl1pPr marL="0" indent="0" algn="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zh-CN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211BC-75D6-4CD0-9CC5-9DA167636D7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14" name="laser.wav"/>
          </p:stSnd>
        </p:sndAc>
      </p:transition>
    </mc:Choice>
    <mc:Fallback>
      <p:transition spd="slow" advTm="3000">
        <p:blinds/>
        <p:sndAc>
          <p:stSnd>
            <p:snd r:embed="rId14" name="laser.wav"/>
          </p:stSnd>
        </p:sndAc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1598FA1-A65B-46AF-B7B5-07056842FB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7" name="laser.wav"/>
          </p:stSnd>
        </p:sndAc>
      </p:transition>
    </mc:Choice>
    <mc:Fallback>
      <p:transition spd="slow" advTm="3000">
        <p:blinds/>
        <p:sndAc>
          <p:stSnd>
            <p:snd r:embed="rId7" name="laser.wav"/>
          </p:stSnd>
        </p:sndAc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3808730"/>
            <a:ext cx="8139178" cy="624845"/>
          </a:xfrm>
        </p:spPr>
        <p:txBody>
          <a:bodyPr rIns="63500"/>
          <a:lstStyle>
            <a:lvl1pPr>
              <a:defRPr sz="27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4" y="4511675"/>
            <a:ext cx="8139178" cy="10779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8F22143-46DD-4A1D-B405-0297EE32C0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7" name="laser.wav"/>
          </p:stSnd>
        </p:sndAc>
      </p:transition>
    </mc:Choice>
    <mc:Fallback>
      <p:transition spd="slow" advTm="3000">
        <p:blinds/>
        <p:sndAc>
          <p:stSnd>
            <p:snd r:embed="rId7" name="laser.wav"/>
          </p:stSnd>
        </p:sndAc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1A980E-13EA-4A63-A375-F5D31467ACB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8" name="laser.wav"/>
          </p:stSnd>
        </p:sndAc>
      </p:transition>
    </mc:Choice>
    <mc:Fallback>
      <p:transition spd="slow" advTm="3000">
        <p:blinds/>
        <p:sndAc>
          <p:stSnd>
            <p:snd r:embed="rId8" name="laser.wav"/>
          </p:stSnd>
        </p:sndAc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1B3CF0B-88C5-47CF-B39A-FEFE578E5C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10" name="laser.wav"/>
          </p:stSnd>
        </p:sndAc>
      </p:transition>
    </mc:Choice>
    <mc:Fallback>
      <p:transition spd="slow" advTm="3000">
        <p:blinds/>
        <p:sndAc>
          <p:stSnd>
            <p:snd r:embed="rId10" name="laser.wav"/>
          </p:stSnd>
        </p:sndAc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5505B22-548F-4A56-A6A3-3649A889631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6" name="laser.wav"/>
          </p:stSnd>
        </p:sndAc>
      </p:transition>
    </mc:Choice>
    <mc:Fallback>
      <p:transition spd="slow" advTm="3000">
        <p:blinds/>
        <p:sndAc>
          <p:stSnd>
            <p:snd r:embed="rId6" name="laser.wav"/>
          </p:stSnd>
        </p:sndAc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51FF0C4-DEBE-49CE-8BAC-FE8E31DC14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5" name="laser.wav"/>
          </p:stSnd>
        </p:sndAc>
      </p:transition>
    </mc:Choice>
    <mc:Fallback>
      <p:transition spd="slow" advTm="3000">
        <p:blinds/>
        <p:sndAc>
          <p:stSnd>
            <p:snd r:embed="rId5" name="laser.wav"/>
          </p:stSnd>
        </p:sndAc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/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E87A7AE-361C-44DD-AEC0-EB0115F644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8" name="laser.wav"/>
          </p:stSnd>
        </p:sndAc>
      </p:transition>
    </mc:Choice>
    <mc:Fallback>
      <p:transition spd="slow" advTm="3000">
        <p:blinds/>
        <p:sndAc>
          <p:stSnd>
            <p:snd r:embed="rId8" name="laser.wav"/>
          </p:stSnd>
        </p:sndAc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EF94F90-56DE-4FC5-8730-96DAA3EA887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7" name="laser.wav"/>
          </p:stSnd>
        </p:sndAc>
      </p:transition>
    </mc:Choice>
    <mc:Fallback>
      <p:transition spd="slow" advTm="3000">
        <p:blinds/>
        <p:sndAc>
          <p:stSnd>
            <p:snd r:embed="rId7" name="laser.wav"/>
          </p:stSnd>
        </p:sndAc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2326F-068C-4081-A9BE-717E8CE3C58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6" name="laser.wav"/>
          </p:stSnd>
        </p:sndAc>
      </p:transition>
    </mc:Choice>
    <mc:Fallback>
      <p:transition spd="slow" advTm="3000">
        <p:blinds/>
        <p:sndAc>
          <p:stSnd>
            <p:snd r:embed="rId6" name="laser.wav"/>
          </p:stSnd>
        </p:sndAc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H="1">
            <a:off x="6146006" y="3686175"/>
            <a:ext cx="2300288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4849813"/>
            <a:ext cx="9144000" cy="2055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5"/>
            </p:custDataLst>
          </p:nvPr>
        </p:nvSpPr>
        <p:spPr>
          <a:xfrm flipV="1">
            <a:off x="6728222" y="4849813"/>
            <a:ext cx="2305050" cy="205422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80300" y="1264356"/>
            <a:ext cx="4155300" cy="2410470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10" name="laser.wav"/>
          </p:stSnd>
        </p:sndAc>
      </p:transition>
    </mc:Choice>
    <mc:Fallback>
      <p:transition spd="slow" advTm="3000">
        <p:blinds/>
        <p:sndAc>
          <p:stSnd>
            <p:snd r:embed="rId10" name="laser.wav"/>
          </p:stSnd>
        </p:sndAc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878E-2472-4BF8-BCE2-2FC5A8911A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2" name="laser.wav"/>
          </p:stSnd>
        </p:sndAc>
      </p:transition>
    </mc:Choice>
    <mc:Fallback>
      <p:transition spd="slow" advTm="3000">
        <p:blinds/>
        <p:sndAc>
          <p:stSnd>
            <p:snd r:embed="rId2" name="laser.wav"/>
          </p:stSnd>
        </p:sndAc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audio" Target="../media/audio1.wav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4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B764878E-2472-4BF8-BCE2-2FC5A8911AC5}" type="slidenum">
              <a:rPr lang="en-US" altLang="zh-CN"/>
            </a:fld>
            <a:endParaRPr lang="en-US" altLang="zh-CN"/>
          </a:p>
        </p:txBody>
      </p:sp>
      <p:sp>
        <p:nvSpPr>
          <p:cNvPr id="2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0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19" name="laser.wav"/>
          </p:stSnd>
        </p:sndAc>
      </p:transition>
    </mc:Choice>
    <mc:Fallback>
      <p:transition spd="slow" advTm="3000">
        <p:blinds/>
        <p:sndAc>
          <p:stSnd>
            <p:snd r:embed="rId19" name="laser.wav"/>
          </p:stSnd>
        </p:sndAc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000" b="1" dirty="0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r>
              <a:rPr lang="zh-CN" altLang="en-US" sz="4000" b="1" dirty="0">
                <a:solidFill>
                  <a:schemeClr val="tx2"/>
                </a:solidFill>
                <a:effectLst/>
                <a:latin typeface="华文行楷" panose="02010800040101010101" pitchFamily="2" charset="-122"/>
                <a:ea typeface="宋体" panose="02010600030101010101" pitchFamily="2" charset="-122"/>
              </a:rPr>
              <a:t>过去展望未来</a:t>
            </a:r>
            <a:endParaRPr lang="zh-CN" altLang="en-US" sz="4000" b="1" dirty="0">
              <a:solidFill>
                <a:schemeClr val="tx2"/>
              </a:solidFill>
              <a:effectLst/>
              <a:latin typeface="华文行楷" panose="0201080004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1" name="laser.wav"/>
          </p:stSnd>
        </p:sndAc>
      </p:transition>
    </mc:Choice>
    <mc:Fallback>
      <p:transition spd="slow" advTm="3000">
        <p:blinds/>
        <p:sndAc>
          <p:stSnd>
            <p:snd r:embed="rId1" name="las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19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宋体" panose="02010600030101010101" pitchFamily="2" charset="-122"/>
              </a:rPr>
              <a:t>初入大学时，感觉真的是来到一片新天地，太多的时间都由自己掌控，时间好像多到用不完，不知道如何安排，现在大二也过去了，大学生活也就过了一半，我觉得本学年的生活是一个很大的转折。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1598FA1-A65B-46AF-B7B5-07056842FB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1" name="laser.wav"/>
          </p:stSnd>
        </p:sndAc>
      </p:transition>
    </mc:Choice>
    <mc:Fallback>
      <p:transition spd="slow" advTm="3000">
        <p:blinds/>
        <p:sndAc>
          <p:stSnd>
            <p:snd r:embed="rId1" name="las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思想方面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anose="02010600030101010101" pitchFamily="2" charset="-122"/>
              </a:rPr>
              <a:t>积极参加政治学习，关心国家大事，树立正确的世界观、人生观、价值观，积极参加主题团日活动和积极分子的党课培训，并于本学年获得“优秀团干”称号。 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1598FA1-A65B-46AF-B7B5-07056842FB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1" name="laser.wav"/>
          </p:stSnd>
        </p:sndAc>
      </p:transition>
    </mc:Choice>
    <mc:Fallback>
      <p:transition spd="slow" advTm="3000">
        <p:blinds/>
        <p:sndAc>
          <p:stSnd>
            <p:snd r:embed="rId1" name="las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学习方面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anose="02010600030101010101" pitchFamily="2" charset="-122"/>
              </a:rPr>
              <a:t>树立“坚持学习，学习是首位”的学习思想和“追求卓越、争创一流”的学习理念，在刻苦学习中体会知识的奥妙。因成绩还不是十分理想，还需要不满足于现状，不断挑战自己。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1598FA1-A65B-46AF-B7B5-07056842FBA6}" type="slidenum">
              <a:rPr lang="en-US" altLang="zh-CN"/>
            </a:fld>
            <a:endParaRPr lang="en-US" altLang="zh-CN"/>
          </a:p>
        </p:txBody>
      </p:sp>
      <p:sp>
        <p:nvSpPr>
          <p:cNvPr id="4" name="下弧形箭头 3">
            <a:hlinkClick r:id="" action="ppaction://hlinkshowjump?jump=firstslide"/>
          </p:cNvPr>
          <p:cNvSpPr/>
          <p:nvPr/>
        </p:nvSpPr>
        <p:spPr>
          <a:xfrm>
            <a:off x="6372860" y="5516880"/>
            <a:ext cx="900000" cy="720000"/>
          </a:xfrm>
          <a:prstGeom prst="curvedUp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右箭头 4">
            <a:hlinkClick r:id="" action="ppaction://hlinkshowjump?jump=nextslide"/>
          </p:cNvPr>
          <p:cNvSpPr/>
          <p:nvPr/>
        </p:nvSpPr>
        <p:spPr>
          <a:xfrm>
            <a:off x="7525385" y="5516880"/>
            <a:ext cx="900000" cy="720000"/>
          </a:xfrm>
          <a:prstGeom prst="right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8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1" name="laser.wav"/>
          </p:stSnd>
        </p:sndAc>
      </p:transition>
    </mc:Choice>
    <mc:Fallback>
      <p:transition spd="slow" advTm="3000">
        <p:blinds/>
        <p:sndAc>
          <p:stSnd>
            <p:snd r:embed="rId1" name="las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活动方面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anose="02010600030101010101" pitchFamily="2" charset="-122"/>
              </a:rPr>
              <a:t>担任学院团总支书记助理的部长，策划组织了今学年的暑期“三下乡”活动，其间完成了联络教学地点，招义教老师，帮助义教老师解决各种问题等。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1598FA1-A65B-46AF-B7B5-07056842FB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1" name="laser.wav"/>
          </p:stSnd>
        </p:sndAc>
      </p:transition>
    </mc:Choice>
    <mc:Fallback>
      <p:transition spd="slow" advTm="3000">
        <p:blinds/>
        <p:sndAc>
          <p:stSnd>
            <p:snd r:embed="rId1" name="las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社会实践方面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anose="02010600030101010101" pitchFamily="2" charset="-122"/>
              </a:rPr>
              <a:t>在</a:t>
            </a:r>
            <a:r>
              <a:rPr lang="en-US" altLang="zh-CN" sz="3200" dirty="0" smtClean="0">
                <a:latin typeface="宋体" panose="02010600030101010101" pitchFamily="2" charset="-122"/>
              </a:rPr>
              <a:t>2019</a:t>
            </a:r>
            <a:r>
              <a:rPr lang="zh-CN" altLang="en-US" sz="3200" dirty="0" smtClean="0">
                <a:latin typeface="宋体" panose="02010600030101010101" pitchFamily="2" charset="-122"/>
              </a:rPr>
              <a:t>年</a:t>
            </a:r>
            <a:r>
              <a:rPr lang="zh-CN" altLang="en-US" sz="3200" dirty="0">
                <a:latin typeface="宋体" panose="02010600030101010101" pitchFamily="2" charset="-122"/>
              </a:rPr>
              <a:t>暑假，我在中国移动外包公司担当</a:t>
            </a:r>
            <a:r>
              <a:rPr lang="en-US" altLang="zh-CN" sz="3200" dirty="0">
                <a:latin typeface="宋体" panose="02010600030101010101" pitchFamily="2" charset="-122"/>
              </a:rPr>
              <a:t>10086</a:t>
            </a:r>
            <a:r>
              <a:rPr lang="zh-CN" altLang="en-US" sz="3200" dirty="0">
                <a:latin typeface="宋体" panose="02010600030101010101" pitchFamily="2" charset="-122"/>
              </a:rPr>
              <a:t>的客服，通过做客服接电话的工作使我更加深刻认识到，一定要投入到社会这所大学校自己才会真正地长大：对世事的人情冷暖不再一味愤愤</a:t>
            </a:r>
            <a:r>
              <a:rPr lang="en-US" altLang="zh-CN" sz="3200" dirty="0">
                <a:latin typeface="宋体" panose="02010600030101010101" pitchFamily="2" charset="-122"/>
              </a:rPr>
              <a:t>,</a:t>
            </a:r>
            <a:r>
              <a:rPr lang="zh-CN" altLang="en-US" sz="3200" dirty="0">
                <a:latin typeface="宋体" panose="02010600030101010101" pitchFamily="2" charset="-122"/>
              </a:rPr>
              <a:t>而是多了一份接受与面对，用感恩的心来面对周围的世界，其实生活很美好</a:t>
            </a:r>
            <a:r>
              <a:rPr lang="zh-CN" altLang="en-US" sz="3200" dirty="0" smtClean="0">
                <a:latin typeface="宋体" panose="02010600030101010101" pitchFamily="2" charset="-122"/>
              </a:rPr>
              <a:t>！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1598FA1-A65B-46AF-B7B5-07056842FB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1" name="laser.wav"/>
          </p:stSnd>
        </p:sndAc>
      </p:transition>
    </mc:Choice>
    <mc:Fallback>
      <p:transition spd="slow" advTm="3000">
        <p:blinds/>
        <p:sndAc>
          <p:stSnd>
            <p:snd r:embed="rId1" name="las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anose="02010600030101010101" pitchFamily="2" charset="-122"/>
              </a:rPr>
              <a:t>回顾过去，自己仍然有不少缺点，如创新能力还不够强，有时候不懂得坚持，但我会尽可能地在以后的学习和生活中着重提高这些方面的能力，争取做到各方面都具有新素质的人才。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1598FA1-A65B-46AF-B7B5-07056842FBA6}" type="slidenum">
              <a:rPr lang="en-US" altLang="zh-CN"/>
            </a:fld>
            <a:endParaRPr lang="en-US" altLang="zh-CN"/>
          </a:p>
        </p:txBody>
      </p:sp>
      <p:pic>
        <p:nvPicPr>
          <p:cNvPr id="5" name="图片 4" descr="WPS演示035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3996055" y="4025265"/>
            <a:ext cx="2160000" cy="2160000"/>
          </a:xfrm>
          <a:prstGeom prst="rect">
            <a:avLst/>
          </a:prstGeom>
          <a:effectLst>
            <a:softEdge rad="317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2" name="laser.wav"/>
          </p:stSnd>
        </p:sndAc>
      </p:transition>
    </mc:Choice>
    <mc:Fallback>
      <p:transition spd="slow" advTm="3000">
        <p:blinds/>
        <p:sndAc>
          <p:stSnd>
            <p:snd r:embed="rId2" name="las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/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395288" y="1200150"/>
            <a:ext cx="781208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/>
              <a:t>在大三的学年中，因为已退任了团总支书记助理部长这个职位，应该相对地减少参加学校里的各种活动，将更多的心思和时间放在学习上，今学年我的课程基本上都是专业课程，对我未来的工作好重要，也在今学年积极参加各种考证考试，争取拿到各种有用的证件，例如英语四级，计算机二级，会计证等都是我今学年的奋斗目标。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764878E-2472-4BF8-BCE2-2FC5A8911A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blinds/>
        <p:sndAc>
          <p:stSnd>
            <p:snd r:embed="rId1" name="laser.wav"/>
          </p:stSnd>
        </p:sndAc>
      </p:transition>
    </mc:Choice>
    <mc:Fallback>
      <p:transition spd="slow" advTm="3000">
        <p:blinds/>
        <p:sndAc>
          <p:stSnd>
            <p:snd r:embed="rId1" name="laser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、2、5、6、12、13、16、21、28、29、30、"/>
</p:tagLst>
</file>

<file path=ppt/tags/tag72.xml><?xml version="1.0" encoding="utf-8"?>
<p:tagLst xmlns:p="http://schemas.openxmlformats.org/presentationml/2006/main">
  <p:tag name="KSO_WPP_MARK_KEY" val="ad0d9605-f930-4294-acce-feb94de4ac59"/>
  <p:tag name="COMMONDATA" val="eyJoZGlkIjoiNjQwNzdkNTI0ZmEyODlhNmVjYjU4ZGU0YTBmMWRhMTcifQ=="/>
</p:tagLst>
</file>

<file path=ppt/theme/theme1.xml><?xml version="1.0" encoding="utf-8"?>
<a:theme xmlns:a="http://schemas.openxmlformats.org/drawingml/2006/main" name="主题三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CDESIGNL</Template>
  <TotalTime>0</TotalTime>
  <Words>685</Words>
  <Application>WPS 演示</Application>
  <PresentationFormat>全屏显示(4:3)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Times New Roman</vt:lpstr>
      <vt:lpstr>华文行楷</vt:lpstr>
      <vt:lpstr>Arial Unicode MS</vt:lpstr>
      <vt:lpstr>主题三</vt:lpstr>
      <vt:lpstr>总结过去展望未来</vt:lpstr>
      <vt:lpstr>PowerPoint 演示文稿</vt:lpstr>
      <vt:lpstr>思想方面</vt:lpstr>
      <vt:lpstr>学习方面</vt:lpstr>
      <vt:lpstr>活动方面</vt:lpstr>
      <vt:lpstr>社会实践方面</vt:lpstr>
      <vt:lpstr>PowerPoint 演示文稿</vt:lpstr>
      <vt:lpstr>PowerPoint 演示文稿</vt:lpstr>
    </vt:vector>
  </TitlesOfParts>
  <Company>tkwangxia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总结过去展望未来</dc:title>
  <dc:creator>王霞</dc:creator>
  <cp:lastModifiedBy>准易技术~张工</cp:lastModifiedBy>
  <cp:revision>43</cp:revision>
  <cp:lastPrinted>2113-01-01T00:00:00Z</cp:lastPrinted>
  <dcterms:created xsi:type="dcterms:W3CDTF">2004-04-14T02:54:00Z</dcterms:created>
  <dcterms:modified xsi:type="dcterms:W3CDTF">2025-01-15T01:09:12Z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LCID">
    <vt:i4>2052</vt:i4>
  </property>
  <property fmtid="{D5CDD505-2E9C-101B-9397-08002B2CF9AE}" pid="4" name="ICV">
    <vt:lpwstr>7EC944D8932E423F8A98582261CCBED0_12</vt:lpwstr>
  </property>
  <property fmtid="{D5CDD505-2E9C-101B-9397-08002B2CF9AE}" pid="5" name="KSOProductBuildVer">
    <vt:lpwstr>2052-12.1.0.15712</vt:lpwstr>
  </property>
</Properties>
</file>