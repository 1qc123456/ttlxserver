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60" r:id="rId4"/>
    <p:sldId id="258" r:id="rId5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6" d="100"/>
          <a:sy n="66" d="100"/>
        </p:scale>
        <p:origin x="-14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8" name="Group 2"/>
          <p:cNvGrpSpPr/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111619" name="Group 3"/>
            <p:cNvGrpSpPr/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11620" name="Freeform 4"/>
              <p:cNvSpPr/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184 w 5184"/>
                  <a:gd name="T3" fmla="*/ 3159 h 3159"/>
                  <a:gd name="T4" fmla="*/ 5184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1" name="Freeform 5"/>
              <p:cNvSpPr/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56 w 556"/>
                  <a:gd name="T5" fmla="*/ 3159 h 3159"/>
                  <a:gd name="T6" fmla="*/ 55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1622" name="Freeform 6"/>
            <p:cNvSpPr/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3" name="Freeform 7"/>
            <p:cNvSpPr/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51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51 w 251"/>
                <a:gd name="T7" fmla="*/ 12 h 12"/>
                <a:gd name="T8" fmla="*/ 251 w 251"/>
                <a:gd name="T9" fmla="*/ 0 h 12"/>
                <a:gd name="T10" fmla="*/ 251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4" name="Freeform 8"/>
            <p:cNvSpPr/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251 w 251"/>
                <a:gd name="T5" fmla="*/ 12 h 12"/>
                <a:gd name="T6" fmla="*/ 251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1625" name="Group 9"/>
            <p:cNvGrpSpPr/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11626" name="Freeform 10"/>
              <p:cNvSpPr/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7" name="Freeform 11"/>
              <p:cNvSpPr/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8" name="Freeform 12"/>
              <p:cNvSpPr/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9" name="Freeform 13"/>
              <p:cNvSpPr/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0" name="Freeform 14"/>
              <p:cNvSpPr/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1" name="Freeform 15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16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116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11634" name="Rectangle 18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5" name="Rectangle 19"/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6" name="Rectangle 2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AB7CB590-DA49-4C72-9B11-74A773FDE01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1334D4-949D-4895-A9C1-6AECB8B924C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C5BC8E-EE04-4729-B485-8E3DA739D5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5A2447-1E6B-49CD-9B18-9927FB7865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8533CB-891D-4CEB-81D6-6662FCB552A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530EB7-1661-47C4-BA1C-F20AD8A22F9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8D48B0-0AE7-4706-80ED-BD302C6701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85638E-2E69-4BD9-BD36-A1728715584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674AF3-3AF0-4299-B599-A41B499DF78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E239C3-277E-451F-84A5-B497F632222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A729D3-D97A-498A-ACA5-A705B1D14A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4" name="Group 2"/>
          <p:cNvGrpSpPr/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10595" name="Freeform 3"/>
            <p:cNvSpPr/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184 w 5184"/>
                <a:gd name="T3" fmla="*/ 3159 h 3159"/>
                <a:gd name="T4" fmla="*/ 5184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596" name="Freeform 4"/>
            <p:cNvSpPr/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56 w 556"/>
                <a:gd name="T5" fmla="*/ 3159 h 3159"/>
                <a:gd name="T6" fmla="*/ 55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597" name="Group 5"/>
            <p:cNvGrpSpPr/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10598" name="Freeform 6"/>
              <p:cNvSpPr/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599" name="Freeform 7"/>
              <p:cNvSpPr/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0" name="Freeform 8"/>
              <p:cNvSpPr/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1" name="Freeform 9"/>
              <p:cNvSpPr/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2" name="Freeform 10"/>
              <p:cNvSpPr/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3" name="Freeform 11"/>
              <p:cNvSpPr/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4" name="Freeform 12"/>
              <p:cNvSpPr/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251 w 251"/>
                  <a:gd name="T5" fmla="*/ 12 h 12"/>
                  <a:gd name="T6" fmla="*/ 251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5" name="Freeform 13"/>
              <p:cNvSpPr/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51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51 w 251"/>
                  <a:gd name="T7" fmla="*/ 12 h 12"/>
                  <a:gd name="T8" fmla="*/ 251 w 251"/>
                  <a:gd name="T9" fmla="*/ 0 h 12"/>
                  <a:gd name="T10" fmla="*/ 251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6" name="Freeform 14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06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106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106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79AD268D-715D-4D11-85C6-D18F3CE8A838}" type="slidenum">
              <a:rPr lang="en-US" altLang="zh-CN"/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/>
              <a:t>长阳车站造型犹如一张卷起的纸，两端微微向外抽出。</a:t>
            </a:r>
            <a:endParaRPr lang="zh-CN" altLang="en-US"/>
          </a:p>
          <a:p>
            <a:pPr>
              <a:lnSpc>
                <a:spcPct val="90000"/>
              </a:lnSpc>
            </a:pPr>
            <a:r>
              <a:rPr lang="zh-CN" altLang="en-US"/>
              <a:t>　　</a:t>
            </a:r>
            <a:r>
              <a:rPr lang="zh-CN" altLang="en-US">
                <a:latin typeface="Arial" panose="020B0604020202020204"/>
              </a:rPr>
              <a:t>“</a:t>
            </a:r>
            <a:r>
              <a:rPr lang="zh-CN" altLang="en-US"/>
              <a:t>纸</a:t>
            </a:r>
            <a:r>
              <a:rPr lang="zh-CN" altLang="en-US">
                <a:latin typeface="Arial" panose="020B0604020202020204"/>
              </a:rPr>
              <a:t>”</a:t>
            </a:r>
            <a:r>
              <a:rPr lang="zh-CN" altLang="en-US"/>
              <a:t>的外延两端为斜三角玻璃幕墙的形式，从外向内看为淡淡的墨绿色，从内向外看则是透明的。除此之外，其余部分则为白色铝板，整体显得轻盈大方。</a:t>
            </a:r>
            <a:endParaRPr lang="zh-CN" altLang="en-US"/>
          </a:p>
          <a:p>
            <a:pPr>
              <a:lnSpc>
                <a:spcPct val="90000"/>
              </a:lnSpc>
            </a:pPr>
            <a:r>
              <a:rPr lang="zh-CN" altLang="en-US"/>
              <a:t>长阳站作为全线唯一一座进行一体化设计的车站，外部人行天桥的两端搭建起了两个小平台，未来可与周边建筑无缝衔接，市民换乘极为方便。 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lnSpc>
                <a:spcPct val="80000"/>
              </a:lnSpc>
            </a:pPr>
            <a:r>
              <a:rPr lang="zh-CN" altLang="en-US"/>
              <a:t>大葆台站为一座半地下车站</a:t>
            </a:r>
            <a:endParaRPr lang="zh-CN" altLang="en-US"/>
          </a:p>
          <a:p>
            <a:pPr>
              <a:lnSpc>
                <a:spcPct val="80000"/>
              </a:lnSpc>
            </a:pPr>
            <a:r>
              <a:rPr lang="zh-CN" altLang="en-US"/>
              <a:t>　　据轨道建设管理公司介绍，除了</a:t>
            </a:r>
            <a:r>
              <a:rPr lang="en-US" altLang="zh-CN"/>
              <a:t>9</a:t>
            </a:r>
            <a:r>
              <a:rPr lang="zh-CN" altLang="en-US"/>
              <a:t>座高架车站外，线路最东北端的大葆台站为一座半地下车站，即站台层在地下，站厅层则在地上。</a:t>
            </a:r>
            <a:endParaRPr lang="zh-CN" altLang="en-US"/>
          </a:p>
          <a:p>
            <a:pPr>
              <a:lnSpc>
                <a:spcPct val="80000"/>
              </a:lnSpc>
            </a:pPr>
            <a:r>
              <a:rPr lang="zh-CN" altLang="en-US"/>
              <a:t>　　地面上的站厅结构从中间一分为二，成为东、西两个独立的</a:t>
            </a:r>
            <a:r>
              <a:rPr lang="zh-CN" altLang="en-US">
                <a:latin typeface="Arial" panose="020B0604020202020204"/>
              </a:rPr>
              <a:t>“</a:t>
            </a:r>
            <a:r>
              <a:rPr lang="zh-CN" altLang="en-US"/>
              <a:t>单体</a:t>
            </a:r>
            <a:r>
              <a:rPr lang="zh-CN" altLang="en-US">
                <a:latin typeface="Arial" panose="020B0604020202020204"/>
              </a:rPr>
              <a:t>”</a:t>
            </a:r>
            <a:r>
              <a:rPr lang="zh-CN" altLang="en-US"/>
              <a:t>，两个单体之间</a:t>
            </a:r>
            <a:r>
              <a:rPr lang="zh-CN" altLang="en-US">
                <a:latin typeface="Arial" panose="020B0604020202020204"/>
              </a:rPr>
              <a:t>“</a:t>
            </a:r>
            <a:r>
              <a:rPr lang="zh-CN" altLang="en-US"/>
              <a:t>空档</a:t>
            </a:r>
            <a:r>
              <a:rPr lang="zh-CN" altLang="en-US">
                <a:latin typeface="Arial" panose="020B0604020202020204"/>
              </a:rPr>
              <a:t>”</a:t>
            </a:r>
            <a:r>
              <a:rPr lang="zh-CN" altLang="en-US"/>
              <a:t>正对着世界公园南门。乘客进出世界公园很方便，无需绕行。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轨道交通房山线西起苏庄站，东至大葆台站。全线</a:t>
            </a:r>
            <a:r>
              <a:rPr lang="en-US" altLang="zh-CN"/>
              <a:t>10</a:t>
            </a:r>
            <a:r>
              <a:rPr lang="zh-CN" altLang="en-US"/>
              <a:t>座车站中，有</a:t>
            </a:r>
            <a:r>
              <a:rPr lang="en-US" altLang="zh-CN"/>
              <a:t>1</a:t>
            </a:r>
            <a:r>
              <a:rPr lang="zh-CN" altLang="en-US"/>
              <a:t>座半地下站和</a:t>
            </a:r>
            <a:r>
              <a:rPr lang="en-US" altLang="zh-CN"/>
              <a:t>9</a:t>
            </a:r>
            <a:r>
              <a:rPr lang="zh-CN" altLang="en-US"/>
              <a:t>座高架车站，高架车站的外观犹如一张卷起的纸，展现</a:t>
            </a:r>
            <a:r>
              <a:rPr lang="zh-CN" altLang="en-US">
                <a:latin typeface="Arial" panose="020B0604020202020204"/>
              </a:rPr>
              <a:t>“</a:t>
            </a:r>
            <a:r>
              <a:rPr lang="zh-CN" altLang="en-US"/>
              <a:t>城市画卷</a:t>
            </a:r>
            <a:r>
              <a:rPr lang="zh-CN" altLang="en-US">
                <a:latin typeface="Arial" panose="020B0604020202020204"/>
              </a:rPr>
              <a:t>”</a:t>
            </a:r>
            <a:r>
              <a:rPr lang="zh-CN" altLang="en-US"/>
              <a:t>的寓意。</a:t>
            </a:r>
            <a:endParaRPr lang="zh-CN" altLang="en-US"/>
          </a:p>
          <a:p>
            <a:r>
              <a:rPr lang="zh-CN" altLang="en-US"/>
              <a:t>　　房山线由于在施工过程中需跨越许多铁路、道路等，为了避免线路上下起伏过大，所有高架车站均</a:t>
            </a:r>
            <a:r>
              <a:rPr lang="zh-CN" altLang="en-US">
                <a:latin typeface="Arial" panose="020B0604020202020204"/>
              </a:rPr>
              <a:t>“</a:t>
            </a:r>
            <a:r>
              <a:rPr lang="zh-CN" altLang="en-US"/>
              <a:t>抬高身高</a:t>
            </a:r>
            <a:r>
              <a:rPr lang="zh-CN" altLang="en-US">
                <a:latin typeface="Arial" panose="020B0604020202020204"/>
              </a:rPr>
              <a:t>”</a:t>
            </a:r>
            <a:r>
              <a:rPr lang="zh-CN" altLang="en-US"/>
              <a:t>，设计成三层结构：一层为设备层，二层为售票的站厅层，三层为乘车的站台层。</a:t>
            </a:r>
            <a:endParaRPr lang="zh-CN" altLang="en-US"/>
          </a:p>
        </p:txBody>
      </p:sp>
      <p:pic>
        <p:nvPicPr>
          <p:cNvPr id="2" name="图片 1" descr="WPS演示038素材文件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8400" y="2996565"/>
            <a:ext cx="5219700" cy="29432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edc09282-ee0b-44a7-8129-47cc5b98247f"/>
  <p:tag name="COMMONDATA" val="eyJoZGlkIjoiM2Q2NDY3ODBmZDEyZTZiNTFiOWYyZGE1YmNkNTA1NzMifQ=="/>
</p:tagLst>
</file>

<file path=ppt/theme/theme1.xml><?xml version="1.0" encoding="utf-8"?>
<a:theme xmlns:a="http://schemas.openxmlformats.org/drawingml/2006/main" name="default">
  <a:themeElements>
    <a:clrScheme name="default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defaul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0</TotalTime>
  <Words>461</Words>
  <Application>WPS 演示</Application>
  <PresentationFormat>全屏显示(4:3)</PresentationFormat>
  <Paragraphs>11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Tahoma</vt:lpstr>
      <vt:lpstr>Arial</vt:lpstr>
      <vt:lpstr>微软雅黑</vt:lpstr>
      <vt:lpstr>Arial Unicode MS</vt:lpstr>
      <vt:lpstr>Calibri</vt:lpstr>
      <vt:lpstr>default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zy</cp:lastModifiedBy>
  <cp:revision>11</cp:revision>
  <cp:lastPrinted>2113-01-01T00:00:00Z</cp:lastPrinted>
  <dcterms:created xsi:type="dcterms:W3CDTF">2010-07-25T09:36:00Z</dcterms:created>
  <dcterms:modified xsi:type="dcterms:W3CDTF">2023-10-25T00:44:26Z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  <property fmtid="{D5CDD505-2E9C-101B-9397-08002B2CF9AE}" pid="3" name="KSOProductBuildVer">
    <vt:lpwstr>2052-11.1.0.14227</vt:lpwstr>
  </property>
  <property fmtid="{D5CDD505-2E9C-101B-9397-08002B2CF9AE}" pid="4" name="ICV">
    <vt:lpwstr>DDDFEE926D9242C684E83C4DC8734CAB_12</vt:lpwstr>
  </property>
</Properties>
</file>