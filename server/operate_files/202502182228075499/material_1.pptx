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av" ContentType="audio/x-wav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1" r:id="rId7"/>
    <p:sldId id="260" r:id="rId8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kiosk/>
    <p:sldRg st="1" end="6"/>
  </p:showPr>
  <p:clrMru>
    <a:srgbClr val="000000"/>
    <a:srgbClr val="000100"/>
    <a:srgbClr val="030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6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dissolve/>
        <p:sndAc>
          <p:stSnd>
            <p:snd r:embed="rId2" name="chimes.wav"/>
          </p:stSnd>
        </p:sndAc>
      </p:transition>
    </mc:Choice>
    <mc:Fallback>
      <p:transition spd="slow">
        <p:dissolve/>
        <p:sndAc>
          <p:stSnd>
            <p:snd r:embed="rId2" name="chimes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dissolve/>
        <p:sndAc>
          <p:stSnd>
            <p:snd r:embed="rId2" name="chimes.wav"/>
          </p:stSnd>
        </p:sndAc>
      </p:transition>
    </mc:Choice>
    <mc:Fallback>
      <p:transition spd="slow">
        <p:dissolve/>
        <p:sndAc>
          <p:stSnd>
            <p:snd r:embed="rId2" name="chimes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dissolve/>
        <p:sndAc>
          <p:stSnd>
            <p:snd r:embed="rId2" name="chimes.wav"/>
          </p:stSnd>
        </p:sndAc>
      </p:transition>
    </mc:Choice>
    <mc:Fallback>
      <p:transition spd="slow">
        <p:dissolve/>
        <p:sndAc>
          <p:stSnd>
            <p:snd r:embed="rId2" name="chimes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dissolve/>
        <p:sndAc>
          <p:stSnd>
            <p:snd r:embed="rId2" name="chimes.wav"/>
          </p:stSnd>
        </p:sndAc>
      </p:transition>
    </mc:Choice>
    <mc:Fallback>
      <p:transition spd="slow">
        <p:dissolve/>
        <p:sndAc>
          <p:stSnd>
            <p:snd r:embed="rId2" name="chimes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dissolve/>
        <p:sndAc>
          <p:stSnd>
            <p:snd r:embed="rId2" name="chimes.wav"/>
          </p:stSnd>
        </p:sndAc>
      </p:transition>
    </mc:Choice>
    <mc:Fallback>
      <p:transition spd="slow">
        <p:dissolve/>
        <p:sndAc>
          <p:stSnd>
            <p:snd r:embed="rId2" name="chimes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dissolve/>
        <p:sndAc>
          <p:stSnd>
            <p:snd r:embed="rId2" name="chimes.wav"/>
          </p:stSnd>
        </p:sndAc>
      </p:transition>
    </mc:Choice>
    <mc:Fallback>
      <p:transition spd="slow">
        <p:dissolve/>
        <p:sndAc>
          <p:stSnd>
            <p:snd r:embed="rId2" name="chimes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dissolve/>
        <p:sndAc>
          <p:stSnd>
            <p:snd r:embed="rId2" name="chimes.wav"/>
          </p:stSnd>
        </p:sndAc>
      </p:transition>
    </mc:Choice>
    <mc:Fallback>
      <p:transition spd="slow">
        <p:dissolve/>
        <p:sndAc>
          <p:stSnd>
            <p:snd r:embed="rId2" name="chimes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dissolve/>
        <p:sndAc>
          <p:stSnd>
            <p:snd r:embed="rId2" name="chimes.wav"/>
          </p:stSnd>
        </p:sndAc>
      </p:transition>
    </mc:Choice>
    <mc:Fallback>
      <p:transition spd="slow">
        <p:dissolve/>
        <p:sndAc>
          <p:stSnd>
            <p:snd r:embed="rId2" name="chimes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dissolve/>
        <p:sndAc>
          <p:stSnd>
            <p:snd r:embed="rId2" name="chimes.wav"/>
          </p:stSnd>
        </p:sndAc>
      </p:transition>
    </mc:Choice>
    <mc:Fallback>
      <p:transition spd="slow">
        <p:dissolve/>
        <p:sndAc>
          <p:stSnd>
            <p:snd r:embed="rId2" name="chimes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dissolve/>
        <p:sndAc>
          <p:stSnd>
            <p:snd r:embed="rId2" name="chimes.wav"/>
          </p:stSnd>
        </p:sndAc>
      </p:transition>
    </mc:Choice>
    <mc:Fallback>
      <p:transition spd="slow">
        <p:dissolve/>
        <p:sndAc>
          <p:stSnd>
            <p:snd r:embed="rId2" name="chimes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dissolve/>
        <p:sndAc>
          <p:stSnd>
            <p:snd r:embed="rId2" name="chimes.wav"/>
          </p:stSnd>
        </p:sndAc>
      </p:transition>
    </mc:Choice>
    <mc:Fallback>
      <p:transition spd="slow">
        <p:dissolve/>
        <p:sndAc>
          <p:stSnd>
            <p:snd r:embed="rId2" name="chimes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audio" Target="../media/audio1.wav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500">
        <p:dissolve/>
        <p:sndAc>
          <p:stSnd>
            <p:snd r:embed="rId12" name="chimes.wav"/>
          </p:stSnd>
        </p:sndAc>
      </p:transition>
    </mc:Choice>
    <mc:Fallback>
      <p:transition spd="slow">
        <p:dissolve/>
        <p:sndAc>
          <p:stSnd>
            <p:snd r:embed="rId12" name="chimes.wav"/>
          </p:stSnd>
        </p:sndAc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1.wav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1.wav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1.wav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audio" Target="../media/audio1.wav"/><Relationship Id="rId8" Type="http://schemas.openxmlformats.org/officeDocument/2006/relationships/image" Target="../media/image6.png"/><Relationship Id="rId7" Type="http://schemas.openxmlformats.org/officeDocument/2006/relationships/tags" Target="../tags/tag5.xml"/><Relationship Id="rId6" Type="http://schemas.openxmlformats.org/officeDocument/2006/relationships/image" Target="../media/image5.png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image" Target="../media/image4.png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effectLst/>
        </p:spPr>
        <p:txBody>
          <a:bodyPr/>
          <a:p>
            <a:pPr algn="ctr"/>
            <a:r>
              <a:rPr lang="zh-CN" altLang="en-US" sz="8000" u="sng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元宵节</a:t>
            </a:r>
            <a:endParaRPr lang="zh-CN" altLang="en-US" sz="8000" u="sng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pPr algn="r"/>
            <a:r>
              <a:rPr lang="zh-CN" altLang="en-US" sz="4400">
                <a:solidFill>
                  <a:srgbClr val="FFC000"/>
                </a:solidFill>
                <a:latin typeface="仿宋" panose="02010609060101010101" charset="-122"/>
                <a:ea typeface="仿宋" panose="02010609060101010101" charset="-122"/>
              </a:rPr>
              <a:t>团团圆圆</a:t>
            </a:r>
            <a:endParaRPr lang="zh-CN" altLang="en-US" sz="4400">
              <a:solidFill>
                <a:srgbClr val="FFC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dissolve/>
        <p:sndAc>
          <p:stSnd>
            <p:snd r:embed="rId1" name="chimes.wav"/>
          </p:stSnd>
        </p:sndAc>
      </p:transition>
    </mc:Choice>
    <mc:Fallback>
      <p:transition spd="slow" advTm="3000">
        <p:dissolve/>
        <p:sndAc>
          <p:stSnd>
            <p:snd r:embed="rId1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5" build="p"/>
      <p:bldP spid="3" grpI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1800000" y="1080000"/>
            <a:ext cx="5760000" cy="5040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36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元宵节起源</a:t>
            </a:r>
            <a:endParaRPr lang="zh-CN" altLang="en-US" sz="36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36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历史发展脉络</a:t>
            </a:r>
            <a:endParaRPr lang="zh-CN" altLang="en-US" sz="36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36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节日名称由来</a:t>
            </a:r>
            <a:endParaRPr lang="zh-CN" altLang="en-US" sz="36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36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在传统文化中的地位</a:t>
            </a:r>
            <a:endParaRPr lang="zh-CN" altLang="en-US" sz="36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>
              <a:buFont typeface="Wingdings" panose="05000000000000000000" charset="0"/>
              <a:buChar char="l"/>
            </a:pPr>
            <a:endParaRPr lang="zh-CN" altLang="en-US" sz="36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dissolve/>
        <p:sndAc>
          <p:stSnd>
            <p:snd r:embed="rId1" name="chimes.wav"/>
          </p:stSnd>
        </p:sndAc>
      </p:transition>
    </mc:Choice>
    <mc:Fallback>
      <p:transition spd="slow" advTm="3000">
        <p:dissolve/>
        <p:sndAc>
          <p:stSnd>
            <p:snd r:embed="rId1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75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5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75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75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75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75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5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元宵的起源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38200" y="2179955"/>
            <a:ext cx="5257165" cy="40157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上古祭祀仪式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元宵节最初起源于上古时期的祭祀仪式，人们通过点亮灯火来祭祀神灵，祈求新的一年平安吉祥。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道教文化影响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道教文化中，元宵节与“三元”说有关，即正月十五日为上元节，是天官赐福的日子，人们通过庆祝活动来祈求福祉。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3" name="图片 2" descr="素材"/>
          <p:cNvPicPr/>
          <p:nvPr/>
        </p:nvPicPr>
        <p:blipFill>
          <a:blip r:embed="rId1"/>
          <a:stretch>
            <a:fillRect/>
          </a:stretch>
        </p:blipFill>
        <p:spPr>
          <a:xfrm>
            <a:off x="7560000" y="360000"/>
            <a:ext cx="3600000" cy="4680000"/>
          </a:xfrm>
          <a:prstGeom prst="rect">
            <a:avLst/>
          </a:prstGeom>
          <a:effectLst>
            <a:reflection blurRad="6350" stA="50000" endA="275" endPos="40000" dist="1016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dissolve/>
        <p:sndAc>
          <p:stSnd>
            <p:snd r:embed="rId2" name="chimes.wav"/>
          </p:stSnd>
        </p:sndAc>
      </p:transition>
    </mc:Choice>
    <mc:Fallback>
      <p:transition spd="slow" advTm="3000">
        <p:dissolve/>
        <p:sndAc>
          <p:stSnd>
            <p:snd r:embed="rId2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5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历史发展脉络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32180" y="1558925"/>
            <a:ext cx="4064000" cy="45053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汉代起源说</a:t>
            </a:r>
            <a:endParaRPr lang="zh-CN" altLang="en-US"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  <a:p>
            <a:endParaRPr lang="zh-CN" altLang="en-US"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  <a:p>
            <a:r>
              <a:rPr lang="zh-CN" altLang="en-US"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</a:rPr>
              <a:t>有观点认为，元宵节在汉代已经受到重视，但尚未成为全国性节日。</a:t>
            </a:r>
            <a:endParaRPr lang="zh-CN" altLang="en-US"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  <a:p>
            <a:endParaRPr lang="zh-CN" altLang="en-US"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  <a:p>
            <a:endParaRPr lang="zh-CN" altLang="en-US"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  <a:p>
            <a:r>
              <a:rPr lang="zh-CN" altLang="en-US"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  <a:sym typeface="+mn-ea"/>
              </a:rPr>
              <a:t>唐代正式形成</a:t>
            </a:r>
            <a:endParaRPr lang="zh-CN" altLang="en-US"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  <a:p>
            <a:endParaRPr lang="zh-CN" altLang="en-US"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  <a:p>
            <a:r>
              <a:rPr lang="zh-CN" altLang="en-US"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  <a:sym typeface="+mn-ea"/>
              </a:rPr>
              <a:t>到了唐代，元宵节逐渐发展成为一个重要的民间节日，人们开始普遍庆祝。</a:t>
            </a:r>
            <a:endParaRPr lang="zh-CN" altLang="en-US"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  <a:sym typeface="+mn-ea"/>
            </a:endParaRPr>
          </a:p>
          <a:p>
            <a:endParaRPr lang="zh-CN" altLang="en-US"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  <a:sym typeface="+mn-ea"/>
            </a:endParaRPr>
          </a:p>
          <a:p>
            <a:endParaRPr lang="zh-CN" altLang="en-US"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  <a:sym typeface="+mn-ea"/>
            </a:endParaRPr>
          </a:p>
          <a:p>
            <a:r>
              <a:rPr lang="zh-CN" altLang="en-US"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  <a:sym typeface="+mn-ea"/>
              </a:rPr>
              <a:t>宋明时期盛行</a:t>
            </a:r>
            <a:endParaRPr lang="zh-CN" altLang="en-US"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  <a:p>
            <a:endParaRPr lang="zh-CN" altLang="en-US"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  <a:p>
            <a:r>
              <a:rPr lang="zh-CN" altLang="en-US"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  <a:sym typeface="+mn-ea"/>
              </a:rPr>
              <a:t>宋明时期，元宵节庆祝活动更加丰富多彩，成为民间最热闹的节日之一。</a:t>
            </a:r>
            <a:endParaRPr lang="zh-CN" altLang="en-US"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4195" y="1691005"/>
            <a:ext cx="5328285" cy="41376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dissolve/>
        <p:sndAc>
          <p:stSnd>
            <p:snd r:embed="rId2" name="chimes.wav"/>
          </p:stSnd>
        </p:sndAc>
      </p:transition>
    </mc:Choice>
    <mc:Fallback>
      <p:transition spd="slow" advTm="3000">
        <p:dissolve/>
        <p:sndAc>
          <p:stSnd>
            <p:snd r:embed="rId2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节日名称由来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929120" y="1401445"/>
            <a:ext cx="4424680" cy="5262245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>
            <a:spAutoFit/>
          </a:bodyPr>
          <a:p>
            <a:r>
              <a:rPr lang="zh-CN" altLang="en-US" sz="2000">
                <a:solidFill>
                  <a:srgbClr val="FFFF00"/>
                </a:solidFill>
              </a:rPr>
              <a:t>“元”字含义</a:t>
            </a:r>
            <a:endParaRPr lang="zh-CN" altLang="en-US" sz="2000">
              <a:solidFill>
                <a:srgbClr val="FFFF00"/>
              </a:solidFill>
            </a:endParaRPr>
          </a:p>
          <a:p>
            <a:endParaRPr lang="zh-CN" altLang="en-US" sz="2000">
              <a:solidFill>
                <a:srgbClr val="FFFF00"/>
              </a:solidFill>
            </a:endParaRPr>
          </a:p>
          <a:p>
            <a:r>
              <a:rPr lang="zh-CN" altLang="en-US" sz="2000">
                <a:solidFill>
                  <a:srgbClr val="FFFF00"/>
                </a:solidFill>
              </a:rPr>
              <a:t>元宵节中的“元”字，意指开始、第一，象征着新的一年的开始。</a:t>
            </a:r>
            <a:endParaRPr lang="zh-CN" altLang="en-US" sz="2000">
              <a:solidFill>
                <a:srgbClr val="FFFF00"/>
              </a:solidFill>
            </a:endParaRPr>
          </a:p>
          <a:p>
            <a:endParaRPr lang="zh-CN" altLang="en-US" sz="2000">
              <a:solidFill>
                <a:srgbClr val="FFFF00"/>
              </a:solidFill>
            </a:endParaRPr>
          </a:p>
          <a:p>
            <a:r>
              <a:rPr lang="zh-CN" altLang="en-US" sz="2000">
                <a:solidFill>
                  <a:srgbClr val="FFFF00"/>
                </a:solidFill>
                <a:sym typeface="+mn-ea"/>
              </a:rPr>
              <a:t>“宵”字含义</a:t>
            </a:r>
            <a:endParaRPr lang="zh-CN" altLang="en-US" sz="2000">
              <a:solidFill>
                <a:srgbClr val="FFFF00"/>
              </a:solidFill>
            </a:endParaRPr>
          </a:p>
          <a:p>
            <a:endParaRPr lang="zh-CN" altLang="en-US" sz="2000">
              <a:solidFill>
                <a:srgbClr val="FFFF00"/>
              </a:solidFill>
            </a:endParaRPr>
          </a:p>
          <a:p>
            <a:r>
              <a:rPr lang="zh-CN" altLang="en-US" sz="2000">
                <a:solidFill>
                  <a:srgbClr val="FFFF00"/>
                </a:solidFill>
                <a:sym typeface="+mn-ea"/>
              </a:rPr>
              <a:t>而“宵”字则指夜晚，元宵节正值农历正月十五日夜晚，因此得名。</a:t>
            </a:r>
            <a:endParaRPr lang="zh-CN" altLang="en-US" sz="2000">
              <a:solidFill>
                <a:srgbClr val="FFFF00"/>
              </a:solidFill>
              <a:sym typeface="+mn-ea"/>
            </a:endParaRPr>
          </a:p>
          <a:p>
            <a:endParaRPr lang="zh-CN" altLang="en-US" sz="2000">
              <a:solidFill>
                <a:srgbClr val="FFFF00"/>
              </a:solidFill>
              <a:sym typeface="+mn-ea"/>
            </a:endParaRPr>
          </a:p>
          <a:p>
            <a:r>
              <a:rPr lang="zh-CN" altLang="en-US" sz="2000">
                <a:solidFill>
                  <a:srgbClr val="FFFF00"/>
                </a:solidFill>
                <a:sym typeface="+mn-ea"/>
              </a:rPr>
              <a:t>另一种说法</a:t>
            </a:r>
            <a:endParaRPr lang="zh-CN" altLang="en-US" sz="2000">
              <a:solidFill>
                <a:srgbClr val="FFFF00"/>
              </a:solidFill>
            </a:endParaRPr>
          </a:p>
          <a:p>
            <a:endParaRPr lang="zh-CN" altLang="en-US" sz="2000">
              <a:solidFill>
                <a:srgbClr val="FFFF00"/>
              </a:solidFill>
            </a:endParaRPr>
          </a:p>
          <a:p>
            <a:r>
              <a:rPr lang="zh-CN" altLang="en-US" sz="2000">
                <a:solidFill>
                  <a:srgbClr val="FFFF00"/>
                </a:solidFill>
                <a:sym typeface="+mn-ea"/>
              </a:rPr>
              <a:t>也有观点认为，“元宵”一词可能来源于古代灯会的“元夜”或“元夕”，后来逐渐演变为“元宵”。</a:t>
            </a:r>
            <a:endParaRPr lang="zh-CN" altLang="en-US" sz="2000">
              <a:solidFill>
                <a:srgbClr val="FFFF00"/>
              </a:solidFill>
            </a:endParaRPr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dissolve/>
        <p:sndAc>
          <p:stSnd>
            <p:snd r:embed="rId2" name="chimes.wav"/>
          </p:stSnd>
        </p:sndAc>
      </p:transition>
    </mc:Choice>
    <mc:Fallback>
      <p:transition spd="slow" advTm="3000">
        <p:dissolve/>
        <p:sndAc>
          <p:stSnd>
            <p:snd r:embed="rId2" name="chimes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在传统文化中的地位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160145" y="3429000"/>
            <a:ext cx="2555240" cy="19126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/>
              <a:t>重要民俗节日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元宵节是中国传统文化中的重要民俗节日之一，具有深厚的文化底蕴和丰富的庆祝活动。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60145" y="1821180"/>
            <a:ext cx="2555240" cy="1222375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4703445" y="3429000"/>
            <a:ext cx="2555240" cy="19126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/>
              <a:t>重要民俗节日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元宵节是中国传统文化中的重要民俗节日之一，具有深厚的文化底蕴和丰富的庆祝活动。</a:t>
            </a:r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8023860" y="3429000"/>
            <a:ext cx="2555240" cy="19126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/>
              <a:t>重要民俗节日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元宵节是中国传统文化中的重要民俗节日之一，具有深厚的文化底蕴和丰富的庆祝活动。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703445" y="1821815"/>
            <a:ext cx="2555240" cy="122174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8023860" y="1821815"/>
            <a:ext cx="2554605" cy="12217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dissolve/>
        <p:sndAc>
          <p:stSnd>
            <p:snd r:embed="rId9" name="chimes.wav"/>
          </p:stSnd>
        </p:sndAc>
      </p:transition>
    </mc:Choice>
    <mc:Fallback>
      <p:transition spd="slow" advTm="3000">
        <p:dissolve/>
        <p:sndAc>
          <p:stSnd>
            <p:snd r:embed="rId9" name="chimes.wav"/>
          </p:stSnd>
        </p:sndAc>
      </p:transition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commondata" val="eyJoZGlkIjoiMDc1NGYxZTE5YjIxODQ2YjU3NGJkMjYwN2YzNDUwN2EifQ=="/>
  <p:tag name="COMMONDATA" val="eyJoZGlkIjoiNzFlMGY3OGRmZGU1YjQ0MmVmN2U4Yjg3M2ZkYWM1ZjIifQ=="/>
</p:tagLst>
</file>

<file path=ppt/theme/theme1.xml><?xml version="1.0" encoding="utf-8"?>
<a:theme xmlns:a="http://schemas.openxmlformats.org/drawingml/2006/main" name="WPS">
  <a:themeElements>
    <a:clrScheme name="WPS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6724B"/>
      </a:accent2>
      <a:accent3>
        <a:srgbClr val="EFBB1F"/>
      </a:accent3>
      <a:accent4>
        <a:srgbClr val="75BD42"/>
      </a:accent4>
      <a:accent5>
        <a:srgbClr val="30C0B4"/>
      </a:accent5>
      <a:accent6>
        <a:srgbClr val="E05269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534</Words>
  <Application>WPS 演示</Application>
  <PresentationFormat>宽屏</PresentationFormat>
  <Paragraphs>71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宋体</vt:lpstr>
      <vt:lpstr>Wingdings</vt:lpstr>
      <vt:lpstr>黑体</vt:lpstr>
      <vt:lpstr>仿宋</vt:lpstr>
      <vt:lpstr>Wingdings</vt:lpstr>
      <vt:lpstr>微软雅黑</vt:lpstr>
      <vt:lpstr>Arial Unicode MS</vt:lpstr>
      <vt:lpstr>Calibri</vt:lpstr>
      <vt:lpstr>WPS</vt:lpstr>
      <vt:lpstr>元宵节</vt:lpstr>
      <vt:lpstr>PowerPoint 演示文稿</vt:lpstr>
      <vt:lpstr>元宵的起源</vt:lpstr>
      <vt:lpstr>历史发展脉络</vt:lpstr>
      <vt:lpstr>节日名称由来</vt:lpstr>
      <vt:lpstr>在传统文化中的地位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HF</dc:creator>
  <cp:lastModifiedBy>HF</cp:lastModifiedBy>
  <cp:revision>11</cp:revision>
  <dcterms:created xsi:type="dcterms:W3CDTF">2024-11-05T01:24:00Z</dcterms:created>
  <dcterms:modified xsi:type="dcterms:W3CDTF">2024-11-13T09:27:25Z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5AD555A375ED4FB4B5E049595EEEF74B_13</vt:lpwstr>
  </property>
  <property fmtid="{D5CDD505-2E9C-101B-9397-08002B2CF9AE}" pid="3" name="KSOProductBuildVer">
    <vt:lpwstr>2052-12.1.0.15712</vt:lpwstr>
  </property>
</Properties>
</file>