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-90" y="-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1030511B-2A8B-48AE-A125-7D1BEBC2E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最小的国家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6CE1188D-9CDC-4AA3-97F4-68E81EE899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3" name="coin.wav"/>
          </p:stSnd>
        </p:sndAc>
      </p:transition>
    </mc:Choice>
    <mc:Fallback>
      <p:transition spd="slow">
        <p:push dir="u"/>
        <p:sndAc>
          <p:stSnd>
            <p:snd r:embed="rId3" name="coin.wav"/>
          </p:stSnd>
        </p:sndAc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511B-2A8B-48AE-A125-7D1BEBC2E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最小的国家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1188D-9CDC-4AA3-97F4-68E81EE899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2" name="coin.wav"/>
          </p:stSnd>
        </p:sndAc>
      </p:transition>
    </mc:Choice>
    <mc:Fallback>
      <p:transition spd="slow">
        <p:push dir="u"/>
        <p:sndAc>
          <p:stSnd>
            <p:snd r:embed="rId2" name="coin.wav"/>
          </p:stSnd>
        </p:sndAc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audio" Target="../media/audio1.wav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1030511B-2A8B-48AE-A125-7D1BEBC2E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最小的国家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6CE1188D-9CDC-4AA3-97F4-68E81EE899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4" name="coin.wav"/>
          </p:stSnd>
        </p:sndAc>
      </p:transition>
    </mc:Choice>
    <mc:Fallback>
      <p:transition spd="slow">
        <p:push dir="u"/>
        <p:sndAc>
          <p:stSnd>
            <p:snd r:embed="rId4" name="coin.wav"/>
          </p:stSnd>
        </p:sndAc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31840" y="764704"/>
            <a:ext cx="5525612" cy="2868168"/>
          </a:xfrm>
          <a:noFill/>
          <a:ln>
            <a:noFill/>
          </a:ln>
        </p:spPr>
        <p:txBody>
          <a:bodyPr>
            <a:prstTxWarp prst="textChevron">
              <a:avLst/>
            </a:prstTxWarp>
          </a:bodyPr>
          <a:lstStyle/>
          <a:p>
            <a:r>
              <a:rPr lang="zh-CN" altLang="en-US" sz="4000" b="0" dirty="0" smtClean="0">
                <a:ln w="500">
                  <a:noFill/>
                </a:ln>
                <a:solidFill>
                  <a:srgbClr val="FFFF00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五个世界上最小的国家</a:t>
            </a:r>
            <a:endParaRPr lang="zh-CN" altLang="en-US" sz="4000" b="0" dirty="0" smtClean="0">
              <a:ln w="500">
                <a:noFill/>
              </a:ln>
              <a:solidFill>
                <a:srgbClr val="FFFF00"/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1" name="coin.wav"/>
          </p:stSnd>
        </p:sndAc>
      </p:transition>
    </mc:Choice>
    <mc:Fallback>
      <p:transition spd="slow">
        <p:push dir="u"/>
        <p:sndAc>
          <p:stSnd>
            <p:snd r:embed="rId1" name="coi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第一名：梵蒂冈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0.44</a:t>
            </a:r>
            <a:r>
              <a:rPr lang="zh-CN" altLang="en-US" dirty="0" smtClean="0"/>
              <a:t>平方公里。不足颐和园面积的</a:t>
            </a:r>
            <a:r>
              <a:rPr lang="en-US" altLang="zh-CN" dirty="0" smtClean="0"/>
              <a:t>1/6 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783</a:t>
            </a:r>
            <a:r>
              <a:rPr lang="zh-CN" altLang="en-US" dirty="0" smtClean="0"/>
              <a:t>人。约为北京人口</a:t>
            </a:r>
            <a:r>
              <a:rPr lang="en-US" altLang="zh-CN" dirty="0" smtClean="0"/>
              <a:t>1/19000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位置：意大利罗马西北高地。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简介：以梵蒂冈城墙为界，包括圣彼得广场、圣彼得大教堂、教皇宫等。主要人口为意大利人，信奉天主教。首都梵蒂冈城。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1" name="coin.wav"/>
          </p:stSnd>
        </p:sndAc>
      </p:transition>
    </mc:Choice>
    <mc:Fallback>
      <p:transition spd="slow">
        <p:push dir="u"/>
        <p:sndAc>
          <p:stSnd>
            <p:snd r:embed="rId1" name="coi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第二名：摩纳哥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1.96</a:t>
            </a:r>
            <a:r>
              <a:rPr lang="zh-CN" altLang="en-US" dirty="0" smtClean="0"/>
              <a:t>平方公里，北京市区面积的</a:t>
            </a:r>
            <a:r>
              <a:rPr lang="en-US" altLang="zh-CN" dirty="0" smtClean="0"/>
              <a:t>1/375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35657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1/420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zh-CN" altLang="en-US" dirty="0" smtClean="0"/>
              <a:t>位置：地中海地区</a:t>
            </a:r>
            <a:endParaRPr lang="zh-CN" altLang="en-US" dirty="0" smtClean="0"/>
          </a:p>
          <a:p>
            <a:r>
              <a:rPr lang="zh-CN" altLang="en-US" dirty="0" smtClean="0"/>
              <a:t>简介：位于欧洲西南部，三面被法国包围，南面濒临地中海。边境线长</a:t>
            </a:r>
            <a:r>
              <a:rPr lang="en-US" altLang="zh-CN" dirty="0" smtClean="0"/>
              <a:t>4.5</a:t>
            </a:r>
            <a:r>
              <a:rPr lang="zh-CN" altLang="en-US" dirty="0" smtClean="0"/>
              <a:t>公里，海岸线长</a:t>
            </a:r>
            <a:r>
              <a:rPr lang="en-US" altLang="zh-CN" dirty="0" smtClean="0"/>
              <a:t>5.16</a:t>
            </a:r>
            <a:r>
              <a:rPr lang="zh-CN" altLang="en-US" dirty="0" smtClean="0"/>
              <a:t>公里。地形狭长，东西长约</a:t>
            </a:r>
            <a:r>
              <a:rPr lang="en-US" altLang="zh-CN" dirty="0" smtClean="0"/>
              <a:t>3</a:t>
            </a:r>
            <a:r>
              <a:rPr lang="zh-CN" altLang="en-US" dirty="0" smtClean="0"/>
              <a:t>公里，南北最窄处仅</a:t>
            </a:r>
            <a:r>
              <a:rPr lang="en-US" altLang="zh-CN" dirty="0" smtClean="0"/>
              <a:t>200</a:t>
            </a:r>
            <a:r>
              <a:rPr lang="zh-CN" altLang="en-US" dirty="0" smtClean="0"/>
              <a:t>米。境内多丘陵，平均海拔不足</a:t>
            </a:r>
            <a:r>
              <a:rPr lang="en-US" altLang="zh-CN" dirty="0" smtClean="0"/>
              <a:t>500</a:t>
            </a:r>
            <a:r>
              <a:rPr lang="zh-CN" altLang="en-US" dirty="0" smtClean="0"/>
              <a:t>米。属亚热带地中海式气候，夏季干燥凉爽，冬季潮湿温暖。年均气温为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，年均降水量为</a:t>
            </a:r>
            <a:r>
              <a:rPr lang="en-US" altLang="zh-CN" dirty="0" smtClean="0"/>
              <a:t>500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600</a:t>
            </a:r>
            <a:r>
              <a:rPr lang="zh-CN" altLang="en-US" dirty="0" smtClean="0"/>
              <a:t>毫米。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1" name="coin.wav"/>
          </p:stSnd>
        </p:sndAc>
      </p:transition>
    </mc:Choice>
    <mc:Fallback>
      <p:transition spd="slow">
        <p:push dir="u"/>
        <p:sndAc>
          <p:stSnd>
            <p:snd r:embed="rId1" name="coin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第三名：瑙鲁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21</a:t>
            </a:r>
            <a:r>
              <a:rPr lang="zh-CN" altLang="en-US" dirty="0" smtClean="0"/>
              <a:t>平方公里，北京面积</a:t>
            </a:r>
            <a:r>
              <a:rPr lang="en-US" altLang="zh-CN" dirty="0" smtClean="0"/>
              <a:t>1/35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13005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1/1148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位置：太平洋西部。</a:t>
            </a:r>
            <a:endParaRPr lang="zh-CN" altLang="en-US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简介：全境为一椭圆形珊瑚岛。海岸线</a:t>
            </a:r>
            <a:r>
              <a:rPr lang="en-US" altLang="zh-CN" dirty="0" smtClean="0"/>
              <a:t>30</a:t>
            </a:r>
            <a:r>
              <a:rPr lang="zh-CN" altLang="en-US" dirty="0" smtClean="0"/>
              <a:t>公里。环岛有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米高，</a:t>
            </a:r>
            <a:r>
              <a:rPr lang="en-US" altLang="zh-CN" dirty="0" smtClean="0"/>
              <a:t>150-300</a:t>
            </a:r>
            <a:r>
              <a:rPr lang="zh-CN" altLang="en-US" dirty="0" smtClean="0"/>
              <a:t>米宽的沃土带。有一布阿达咸湖。</a:t>
            </a:r>
            <a:r>
              <a:rPr lang="en-US" altLang="zh-CN" dirty="0" smtClean="0"/>
              <a:t>70%</a:t>
            </a:r>
            <a:r>
              <a:rPr lang="zh-CN" altLang="en-US" dirty="0" smtClean="0"/>
              <a:t>的土地均为磷酸盐矿覆盖。热带雨林气候，气温</a:t>
            </a:r>
            <a:r>
              <a:rPr lang="en-US" altLang="zh-CN" dirty="0" smtClean="0"/>
              <a:t>24-33</a:t>
            </a:r>
            <a:r>
              <a:rPr lang="zh-CN" altLang="en-US" dirty="0" smtClean="0"/>
              <a:t>摄氏度。年平均降水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毫米。 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  <p:sp>
        <p:nvSpPr>
          <p:cNvPr id="6" name="下弧形箭头 5">
            <a:hlinkClick r:id="" action="ppaction://hlinkshowjump?jump=firstslide"/>
          </p:cNvPr>
          <p:cNvSpPr/>
          <p:nvPr>
            <p:custDataLst>
              <p:tags r:id="rId1"/>
            </p:custDataLst>
          </p:nvPr>
        </p:nvSpPr>
        <p:spPr>
          <a:xfrm>
            <a:off x="5508625" y="5589270"/>
            <a:ext cx="720090" cy="720000"/>
          </a:xfrm>
          <a:prstGeom prst="curvedUpArrow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上弧形箭头 6">
            <a:hlinkClick r:id="" action="ppaction://hlinkshowjump?jump=lastslide"/>
          </p:cNvPr>
          <p:cNvSpPr/>
          <p:nvPr/>
        </p:nvSpPr>
        <p:spPr>
          <a:xfrm>
            <a:off x="6660515" y="5589270"/>
            <a:ext cx="720000" cy="720000"/>
          </a:xfrm>
          <a:prstGeom prst="curvedDownArrow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2" name="coin.wav"/>
          </p:stSnd>
        </p:sndAc>
      </p:transition>
    </mc:Choice>
    <mc:Fallback>
      <p:transition spd="slow">
        <p:push dir="u"/>
        <p:sndAc>
          <p:stSnd>
            <p:snd r:embed="rId2" name="coin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第四名：图瓦卢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26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1/28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10441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1/1500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r>
              <a:rPr lang="zh-CN" altLang="en-US" dirty="0" smtClean="0"/>
              <a:t>位置：位处南太平洋，国际日期变更线西侧，由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个环形小珊瑚岛群组成。</a:t>
            </a:r>
            <a:endParaRPr lang="zh-CN" altLang="en-US" dirty="0" smtClean="0"/>
          </a:p>
          <a:p>
            <a:r>
              <a:rPr lang="zh-CN" altLang="en-US" dirty="0" smtClean="0"/>
              <a:t>简介：资源匮乏，土地贫瘠，农业落后，几乎无工业。家族是生产、生活的基本单位。集体劳动所得在家族内平分。买卖主要是以物易物。农产品有椰子、香蕉、芋头、木瓜、家禽、家畜、水产等。渔业资源丰富，但开发极差。 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1" name="coin.wav"/>
          </p:stSnd>
        </p:sndAc>
      </p:transition>
    </mc:Choice>
    <mc:Fallback>
      <p:transition spd="slow">
        <p:push dir="u"/>
        <p:sndAc>
          <p:stSnd>
            <p:snd r:embed="rId1" name="coin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第五名：圣马力诺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61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1/10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>
              <a:lnSpc>
                <a:spcPct val="8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28117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1/500 </a:t>
            </a:r>
            <a:endParaRPr lang="en-US" altLang="zh-CN" dirty="0" smtClean="0"/>
          </a:p>
          <a:p>
            <a:pPr>
              <a:lnSpc>
                <a:spcPct val="80000"/>
              </a:lnSpc>
            </a:pPr>
            <a:r>
              <a:rPr lang="zh-CN" altLang="en-US" dirty="0" smtClean="0"/>
              <a:t>位置：意大利中部以北的亚得利亚海岸。</a:t>
            </a:r>
            <a:endParaRPr lang="zh-CN" altLang="en-US" dirty="0" smtClean="0"/>
          </a:p>
          <a:p>
            <a:pPr>
              <a:lnSpc>
                <a:spcPct val="80000"/>
              </a:lnSpc>
            </a:pPr>
            <a:r>
              <a:rPr lang="zh-CN" altLang="en-US" dirty="0" smtClean="0"/>
              <a:t>简介：四周与意大利接壤。境内起伏多山，位于中部最高的蒂塔诺山，海拔</a:t>
            </a:r>
            <a:r>
              <a:rPr lang="en-US" altLang="zh-CN" dirty="0" smtClean="0"/>
              <a:t>755.24</a:t>
            </a:r>
            <a:r>
              <a:rPr lang="zh-CN" altLang="en-US" dirty="0" smtClean="0"/>
              <a:t>米。属亚热带地中海式气候。年平均气温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，冬季最低气温</a:t>
            </a:r>
            <a:r>
              <a:rPr lang="en-US" altLang="zh-CN" dirty="0" smtClean="0"/>
              <a:t>-2℃</a:t>
            </a:r>
            <a:r>
              <a:rPr lang="zh-CN" altLang="en-US" dirty="0" smtClean="0"/>
              <a:t>，夏季最高气温</a:t>
            </a:r>
            <a:r>
              <a:rPr lang="en-US" altLang="zh-CN" dirty="0" smtClean="0"/>
              <a:t>30℃</a:t>
            </a:r>
            <a:r>
              <a:rPr lang="zh-CN" altLang="en-US" dirty="0" smtClean="0"/>
              <a:t>。年均降水量</a:t>
            </a:r>
            <a:r>
              <a:rPr lang="en-US" altLang="zh-CN" dirty="0" smtClean="0"/>
              <a:t>880</a:t>
            </a:r>
            <a:r>
              <a:rPr lang="zh-CN" altLang="en-US" dirty="0" smtClean="0"/>
              <a:t>毫米。</a:t>
            </a:r>
            <a:r>
              <a:rPr lang="en-US" altLang="zh-CN" dirty="0" smtClean="0"/>
              <a:t>1243</a:t>
            </a:r>
            <a:r>
              <a:rPr lang="zh-CN" altLang="en-US" dirty="0" smtClean="0"/>
              <a:t>年确立了两个执政官联合执政的制度，成为当今世界上最古老的共和国。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最小的国家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  <p:sndAc>
          <p:stSnd>
            <p:snd r:embed="rId1" name="coin.wav"/>
          </p:stSnd>
        </p:sndAc>
      </p:transition>
    </mc:Choice>
    <mc:Fallback>
      <p:transition spd="slow">
        <p:push dir="u"/>
        <p:sndAc>
          <p:stSnd>
            <p:snd r:embed="rId1" name="coin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907,&quot;width&quot;:1134}"/>
</p:tagLst>
</file>

<file path=ppt/tags/tag2.xml><?xml version="1.0" encoding="utf-8"?>
<p:tagLst xmlns:p="http://schemas.openxmlformats.org/presentationml/2006/main">
  <p:tag name="KSO_WPP_MARK_KEY" val="fd10fadc-eaef-48d4-a766-a9e51406d69a"/>
  <p:tag name="COMMONDATA" val="eyJoZGlkIjoiM2Q2NDY3ODBmZDEyZTZiNTFiOWYyZGE1YmNkNTA1NzMifQ=="/>
  <p:tag name="commondata" val="eyJoZGlkIjoiNjQwNzdkNTI0ZmEyODlhNmVjYjU4ZGU0YTBmMWRhMTc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908</Words>
  <Application>WPS 演示</Application>
  <PresentationFormat>全屏显示(4:3)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Wingdings 2</vt:lpstr>
      <vt:lpstr>Wingdings</vt:lpstr>
      <vt:lpstr>Wingdings</vt:lpstr>
      <vt:lpstr>黑体</vt:lpstr>
      <vt:lpstr>Trebuchet MS</vt:lpstr>
      <vt:lpstr>华文新魏</vt:lpstr>
      <vt:lpstr>Segoe Print</vt:lpstr>
      <vt:lpstr>微软雅黑</vt:lpstr>
      <vt:lpstr>Arial Unicode MS</vt:lpstr>
      <vt:lpstr>Calibri</vt:lpstr>
      <vt:lpstr>华丽</vt:lpstr>
      <vt:lpstr>五个世界上最小的国家</vt:lpstr>
      <vt:lpstr>第一名：梵蒂冈</vt:lpstr>
      <vt:lpstr>第二名：摩纳哥</vt:lpstr>
      <vt:lpstr>第三名：瑙鲁</vt:lpstr>
      <vt:lpstr>第四名：图瓦卢</vt:lpstr>
      <vt:lpstr>第五名：圣马力诺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五个世界上最小的国家</dc:title>
  <dc:creator>user</dc:creator>
  <cp:lastModifiedBy>准易技术~张工</cp:lastModifiedBy>
  <cp:revision>24</cp:revision>
  <dcterms:created xsi:type="dcterms:W3CDTF">2013-08-30T06:35:00Z</dcterms:created>
  <dcterms:modified xsi:type="dcterms:W3CDTF">2025-01-15T01:06:24Z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09BC3855D379423F963F53E727099660_12</vt:lpwstr>
  </property>
  <property fmtid="{D5CDD505-2E9C-101B-9397-08002B2CF9AE}" pid="3" name="KSOProductBuildVer">
    <vt:lpwstr>2052-12.1.0.15712</vt:lpwstr>
  </property>
</Properties>
</file>