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 id="262" r:id="rId7"/>
    <p:sldId id="263" r:id="rId8"/>
    <p:sldId id="264" r:id="rId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70" d="100"/>
          <a:sy n="70" d="100"/>
        </p:scale>
        <p:origin x="78" y="49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2023/2/21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051827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2023/2/21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598653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2023/2/21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6121841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2023/2/21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9058257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2023/2/21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681170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2023/2/21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7644060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2023/2/21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765230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2023/2/21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694758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2023/2/21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4778056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2023/2/21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1887177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2023/2/21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40255014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2023/2/21</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0030940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8" Type="http://schemas.openxmlformats.org/officeDocument/2006/relationships/hyperlink" Target="https://baike.baidu.com/item/%E7%83%AD%E5%B8%A6/802518?fromModule=lemma_inlink" TargetMode="External"/><Relationship Id="rId3" Type="http://schemas.openxmlformats.org/officeDocument/2006/relationships/hyperlink" Target="https://baike.baidu.com/item/%E6%99%AF%E6%B4%AA%E5%B8%82/2278149?fromModule=lemma_inlink" TargetMode="External"/><Relationship Id="rId7" Type="http://schemas.openxmlformats.org/officeDocument/2006/relationships/hyperlink" Target="https://baike.baidu.com/item/%E7%BC%85%E7%94%B8/205923?fromModule=lemma_inlink" TargetMode="External"/><Relationship Id="rId12" Type="http://schemas.openxmlformats.org/officeDocument/2006/relationships/hyperlink" Target="https://baike.baidu.com/item/%E5%9B%BD%E5%AE%B6%E7%BA%A7%E9%A3%8E%E6%99%AF%E5%90%8D%E8%83%9C%E5%8C%BA/6585129?fromModule=lemma_inlink" TargetMode="External"/><Relationship Id="rId2" Type="http://schemas.openxmlformats.org/officeDocument/2006/relationships/hyperlink" Target="https://baike.baidu.com/item/%E4%BA%91%E5%8D%97%E7%9C%81/18664752?fromModule=lemma_inlink" TargetMode="External"/><Relationship Id="rId1" Type="http://schemas.openxmlformats.org/officeDocument/2006/relationships/slideLayout" Target="../slideLayouts/slideLayout7.xml"/><Relationship Id="rId6" Type="http://schemas.openxmlformats.org/officeDocument/2006/relationships/hyperlink" Target="https://baike.baidu.com/item/%E8%80%81%E6%8C%9D/209879?fromModule=lemma_inlink" TargetMode="External"/><Relationship Id="rId11" Type="http://schemas.openxmlformats.org/officeDocument/2006/relationships/hyperlink" Target="https://baike.baidu.com/item/%E5%9B%BD%E5%AE%B6%E7%BA%A7%E7%94%9F%E6%80%81%E7%A4%BA%E8%8C%83%E5%8C%BA/7521936?fromModule=lemma_inlink" TargetMode="External"/><Relationship Id="rId5" Type="http://schemas.openxmlformats.org/officeDocument/2006/relationships/hyperlink" Target="https://baike.baidu.com/item/%E6%99%AE%E6%B4%B1%E5%B8%82/1287464?fromModule=lemma_inlink" TargetMode="External"/><Relationship Id="rId10" Type="http://schemas.openxmlformats.org/officeDocument/2006/relationships/hyperlink" Target="https://baike.baidu.com/item/%E7%83%AD%E5%B8%A6%E9%9B%A8%E6%9E%97%E8%87%AA%E7%84%B6%E4%BF%9D%E6%8A%A4%E5%8C%BA/15401419?fromModule=lemma_inlink" TargetMode="External"/><Relationship Id="rId4" Type="http://schemas.openxmlformats.org/officeDocument/2006/relationships/hyperlink" Target="https://baike.baidu.com/item/%E5%8C%97%E5%9B%9E%E5%BD%92%E7%BA%BF/17718?fromModule=lemma_inlink" TargetMode="External"/><Relationship Id="rId9" Type="http://schemas.openxmlformats.org/officeDocument/2006/relationships/hyperlink" Target="https://baike.baidu.com/item/%E5%94%AF%E4%B8%80/7025?fromModule=lemma_inlink"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1.jpg"/><Relationship Id="rId3" Type="http://schemas.openxmlformats.org/officeDocument/2006/relationships/hyperlink" Target="https://baike.baidu.com/item/%E5%85%81%E6%99%AF%E6%B4%AA/3313332?fromModule=lemma_inlink" TargetMode="External"/><Relationship Id="rId7" Type="http://schemas.openxmlformats.org/officeDocument/2006/relationships/hyperlink" Target="https://baike.baidu.com/item/%E6%A4%B0%E5%AD%90/68499?fromModule=lemma_inlink" TargetMode="External"/><Relationship Id="rId2" Type="http://schemas.openxmlformats.org/officeDocument/2006/relationships/hyperlink" Target="https://baike.baidu.com/item/%E5%AD%94%E9%9B%80%E6%B9%96/3646137?fromModule=lemma_inlink" TargetMode="External"/><Relationship Id="rId1" Type="http://schemas.openxmlformats.org/officeDocument/2006/relationships/slideLayout" Target="../slideLayouts/slideLayout2.xml"/><Relationship Id="rId6" Type="http://schemas.openxmlformats.org/officeDocument/2006/relationships/hyperlink" Target="https://baike.baidu.com/item/%E6%B2%B9%E6%A3%95/293476?fromModule=lemma_inlink" TargetMode="External"/><Relationship Id="rId5" Type="http://schemas.openxmlformats.org/officeDocument/2006/relationships/hyperlink" Target="https://baike.baidu.com/item/%E7%9D%A1%E8%8E%B2/11999986?fromModule=lemma_inlink" TargetMode="External"/><Relationship Id="rId4" Type="http://schemas.openxmlformats.org/officeDocument/2006/relationships/hyperlink" Target="https://baike.baidu.com/item/%E5%B7%A8%E8%9F%92/35497?fromModule=lemma_inlink"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baike.baidu.com/item/%E6%99%AF%E6%B4%AA/400271?fromModule=lemma_inlink" TargetMode="External"/><Relationship Id="rId7" Type="http://schemas.openxmlformats.org/officeDocument/2006/relationships/image" Target="../media/image2.jpg"/><Relationship Id="rId2" Type="http://schemas.openxmlformats.org/officeDocument/2006/relationships/hyperlink" Target="https://baike.baidu.com/item/%E8%A5%BF%E5%8F%8C%E7%89%88%E7%BA%B3%E9%87%8E%E8%B1%A1%E8%B0%B7?fromModule=lemma_inlink" TargetMode="External"/><Relationship Id="rId1" Type="http://schemas.openxmlformats.org/officeDocument/2006/relationships/slideLayout" Target="../slideLayouts/slideLayout2.xml"/><Relationship Id="rId6" Type="http://schemas.openxmlformats.org/officeDocument/2006/relationships/hyperlink" Target="https://baike.baidu.com/item/%E4%BA%9A%E6%B4%B2%E8%B1%A1/518517?fromModule=lemma_inlink" TargetMode="External"/><Relationship Id="rId5" Type="http://schemas.openxmlformats.org/officeDocument/2006/relationships/hyperlink" Target="https://baike.baidu.com/item/%E4%B8%89%E5%B2%94%E6%B2%B3?fromModule=lemma_inlink" TargetMode="External"/><Relationship Id="rId4" Type="http://schemas.openxmlformats.org/officeDocument/2006/relationships/hyperlink" Target="https://baike.baidu.com/item/%E7%83%AD%E5%B8%A6%E9%9B%A8%E6%9E%97?fromModule=lemma_inlink"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baike.baidu.com/item/%E6%BE%9C%E6%B2%A7%E6%B1%9F?fromModule=lemma_inlink" TargetMode="External"/><Relationship Id="rId2" Type="http://schemas.openxmlformats.org/officeDocument/2006/relationships/hyperlink" Target="https://baike.baidu.com/item/%E8%A5%BF%E5%8F%8C%E7%89%88%E7%BA%B3%E6%B0%91%E6%97%8F%E5%8D%9A%E7%89%A9%E9%A6%86?fromModule=lemma_inlink" TargetMode="Externa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7.xml.rels><?xml version="1.0" encoding="UTF-8" standalone="yes"?>
<Relationships xmlns="http://schemas.openxmlformats.org/package/2006/relationships"><Relationship Id="rId3" Type="http://schemas.openxmlformats.org/officeDocument/2006/relationships/hyperlink" Target="https://baike.baidu.com/item/%E6%99%AF%E6%B4%AA%E5%B8%82/2278149?fromModule=lemma_inlink" TargetMode="External"/><Relationship Id="rId2" Type="http://schemas.openxmlformats.org/officeDocument/2006/relationships/hyperlink" Target="https://baike.baidu.com/item/%E4%BA%91%E5%8D%97%E7%9C%81/18664752?fromModule=lemma_inlink" TargetMode="External"/><Relationship Id="rId1" Type="http://schemas.openxmlformats.org/officeDocument/2006/relationships/slideLayout" Target="../slideLayouts/slideLayout2.xml"/><Relationship Id="rId5" Type="http://schemas.openxmlformats.org/officeDocument/2006/relationships/hyperlink" Target="https://baike.baidu.com/item/%E6%9B%BC%E9%A3%9E%E9%BE%99%E6%9D%91/6321269?fromModule=lemma_inlink" TargetMode="External"/><Relationship Id="rId4" Type="http://schemas.openxmlformats.org/officeDocument/2006/relationships/hyperlink" Target="https://baike.baidu.com/item/%E5%8B%90%E9%BE%99%E9%95%87/10817905?fromModule=lemma_inlink" TargetMode="External"/></Relationships>
</file>

<file path=ppt/slides/_rels/slide8.xml.rels><?xml version="1.0" encoding="UTF-8" standalone="yes"?>
<Relationships xmlns="http://schemas.openxmlformats.org/package/2006/relationships"><Relationship Id="rId8" Type="http://schemas.openxmlformats.org/officeDocument/2006/relationships/hyperlink" Target="https://baike.baidu.com/item/%E4%BD%9B%E5%8E%86/10633813?fromModule=lemma_inlink" TargetMode="External"/><Relationship Id="rId3" Type="http://schemas.openxmlformats.org/officeDocument/2006/relationships/hyperlink" Target="https://baike.baidu.com/item/%E8%A5%BF%E5%8F%8C%E7%89%88%E7%BA%B3%E5%82%A3%E6%97%8F%E8%87%AA%E6%B2%BB%E5%B7%9E/5622791?fromModule=lemma_inlink" TargetMode="External"/><Relationship Id="rId7" Type="http://schemas.openxmlformats.org/officeDocument/2006/relationships/hyperlink" Target="https://baike.baidu.com/item/%E6%99%AF%E9%A3%98/2400676?fromModule=lemma_inlink" TargetMode="External"/><Relationship Id="rId2" Type="http://schemas.openxmlformats.org/officeDocument/2006/relationships/hyperlink" Target="https://baike.baidu.com/item/%E4%BA%91%E5%8D%97%E7%9C%81/18664752?fromModule=lemma_inlink" TargetMode="External"/><Relationship Id="rId1" Type="http://schemas.openxmlformats.org/officeDocument/2006/relationships/slideLayout" Target="../slideLayouts/slideLayout2.xml"/><Relationship Id="rId6" Type="http://schemas.openxmlformats.org/officeDocument/2006/relationships/hyperlink" Target="https://baike.baidu.com/item/%E7%9A%87%E5%AE%B6%E5%AF%BA%E9%99%A2/883609?fromModule=lemma_inlink" TargetMode="External"/><Relationship Id="rId11" Type="http://schemas.openxmlformats.org/officeDocument/2006/relationships/image" Target="../media/image4.jpg"/><Relationship Id="rId5" Type="http://schemas.openxmlformats.org/officeDocument/2006/relationships/hyperlink" Target="https://baike.baidu.com/item/AAAA%E7%BA%A7%E6%99%AF%E5%8C%BA/9985794?fromModule=lemma_inlink" TargetMode="External"/><Relationship Id="rId10" Type="http://schemas.openxmlformats.org/officeDocument/2006/relationships/hyperlink" Target="https://baike.baidu.com/item/%E4%BC%A0%E7%BB%9F%E6%96%87%E5%8C%96/545840?fromModule=lemma_inlink" TargetMode="External"/><Relationship Id="rId4" Type="http://schemas.openxmlformats.org/officeDocument/2006/relationships/hyperlink" Target="https://baike.baidu.com/item/%E6%99%AF%E6%B4%AA%E5%B8%82/2278149?fromModule=lemma_inlink" TargetMode="External"/><Relationship Id="rId9" Type="http://schemas.openxmlformats.org/officeDocument/2006/relationships/hyperlink" Target="https://baike.baidu.com/item/%E5%BC%80%E5%85%89%E4%BB%AA%E5%BC%8F/8627214?fromModule=lemma_inlin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西双版纳旅游攻略</a:t>
            </a:r>
          </a:p>
        </p:txBody>
      </p:sp>
    </p:spTree>
    <p:extLst>
      <p:ext uri="{BB962C8B-B14F-4D97-AF65-F5344CB8AC3E}">
        <p14:creationId xmlns:p14="http://schemas.microsoft.com/office/powerpoint/2010/main" val="39109071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0" y="365125"/>
            <a:ext cx="10515600" cy="1325563"/>
          </a:xfrm>
        </p:spPr>
        <p:txBody>
          <a:bodyPr/>
          <a:lstStyle/>
          <a:p>
            <a:r>
              <a:rPr lang="zh-CN" altLang="en-US" dirty="0"/>
              <a:t>简介</a:t>
            </a:r>
          </a:p>
        </p:txBody>
      </p:sp>
      <p:sp>
        <p:nvSpPr>
          <p:cNvPr id="3" name="内容占位符 2"/>
          <p:cNvSpPr>
            <a:spLocks noGrp="1"/>
          </p:cNvSpPr>
          <p:nvPr>
            <p:ph idx="4294967295"/>
          </p:nvPr>
        </p:nvSpPr>
        <p:spPr>
          <a:xfrm>
            <a:off x="0" y="1825625"/>
            <a:ext cx="10515600" cy="4351338"/>
          </a:xfrm>
        </p:spPr>
        <p:txBody>
          <a:bodyPr>
            <a:normAutofit lnSpcReduction="10000"/>
          </a:bodyPr>
          <a:lstStyle/>
          <a:p>
            <a:r>
              <a:rPr lang="zh-CN" altLang="en-US" dirty="0"/>
              <a:t>西双版纳傣族自治州，是</a:t>
            </a:r>
            <a:r>
              <a:rPr lang="zh-CN" altLang="en-US" dirty="0">
                <a:hlinkClick r:id="rId2"/>
              </a:rPr>
              <a:t>云南省</a:t>
            </a:r>
            <a:r>
              <a:rPr lang="zh-CN" altLang="en-US" dirty="0"/>
              <a:t>的</a:t>
            </a:r>
            <a:r>
              <a:rPr lang="en-US" altLang="zh-CN" dirty="0"/>
              <a:t>8</a:t>
            </a:r>
            <a:r>
              <a:rPr lang="zh-CN" altLang="en-US" dirty="0"/>
              <a:t>个自治州之一，首府</a:t>
            </a:r>
            <a:r>
              <a:rPr lang="zh-CN" altLang="en-US" dirty="0">
                <a:hlinkClick r:id="rId3"/>
              </a:rPr>
              <a:t>景洪市</a:t>
            </a:r>
            <a:r>
              <a:rPr lang="zh-CN" altLang="en-US" dirty="0"/>
              <a:t>。处于</a:t>
            </a:r>
            <a:r>
              <a:rPr lang="zh-CN" altLang="en-US" dirty="0">
                <a:hlinkClick r:id="rId4"/>
              </a:rPr>
              <a:t>北回归线</a:t>
            </a:r>
            <a:r>
              <a:rPr lang="zh-CN" altLang="en-US" dirty="0"/>
              <a:t>以南的热带北部边沿，面积有</a:t>
            </a:r>
            <a:r>
              <a:rPr lang="en-US" altLang="zh-CN" dirty="0"/>
              <a:t>19124.5</a:t>
            </a:r>
            <a:r>
              <a:rPr lang="zh-CN" altLang="en-US" dirty="0"/>
              <a:t>平方千米，东北、西北与</a:t>
            </a:r>
            <a:r>
              <a:rPr lang="zh-CN" altLang="en-US" dirty="0">
                <a:hlinkClick r:id="rId5"/>
              </a:rPr>
              <a:t>普洱市</a:t>
            </a:r>
            <a:r>
              <a:rPr lang="zh-CN" altLang="en-US" dirty="0"/>
              <a:t>接壤，东南与</a:t>
            </a:r>
            <a:r>
              <a:rPr lang="zh-CN" altLang="en-US" dirty="0">
                <a:hlinkClick r:id="rId6"/>
              </a:rPr>
              <a:t>老挝</a:t>
            </a:r>
            <a:r>
              <a:rPr lang="zh-CN" altLang="en-US" dirty="0"/>
              <a:t>相连，西南与</a:t>
            </a:r>
            <a:r>
              <a:rPr lang="zh-CN" altLang="en-US" dirty="0">
                <a:hlinkClick r:id="rId7"/>
              </a:rPr>
              <a:t>缅甸</a:t>
            </a:r>
            <a:r>
              <a:rPr lang="zh-CN" altLang="en-US" dirty="0"/>
              <a:t>接壤，国境线长</a:t>
            </a:r>
            <a:r>
              <a:rPr lang="en-US" altLang="zh-CN" dirty="0"/>
              <a:t>966.3</a:t>
            </a:r>
            <a:r>
              <a:rPr lang="zh-CN" altLang="en-US" dirty="0"/>
              <a:t>千米，一江连六国，有</a:t>
            </a:r>
            <a:r>
              <a:rPr lang="en-US" altLang="zh-CN" dirty="0"/>
              <a:t>4</a:t>
            </a:r>
            <a:r>
              <a:rPr lang="zh-CN" altLang="en-US" dirty="0"/>
              <a:t>个国家级口岸。</a:t>
            </a:r>
            <a:endParaRPr lang="en-US" altLang="zh-CN" dirty="0"/>
          </a:p>
          <a:p>
            <a:r>
              <a:rPr lang="zh-CN" altLang="en-US" dirty="0"/>
              <a:t>西双版纳地处</a:t>
            </a:r>
            <a:r>
              <a:rPr lang="zh-CN" altLang="en-US" dirty="0">
                <a:hlinkClick r:id="rId8"/>
              </a:rPr>
              <a:t>热带</a:t>
            </a:r>
            <a:r>
              <a:rPr lang="zh-CN" altLang="en-US" dirty="0"/>
              <a:t>北部边缘，属热带季风气候。</a:t>
            </a:r>
            <a:endParaRPr lang="en-US" altLang="zh-CN" dirty="0"/>
          </a:p>
          <a:p>
            <a:r>
              <a:rPr lang="zh-CN" altLang="en-US" dirty="0"/>
              <a:t>西双版纳是中国热带生态系统保存最完整的地区，素有“植物王国”、“动物王国”、“生物基因库”、“植物王国桂冠上的一颗绿宝石”等美称，有中国</a:t>
            </a:r>
            <a:r>
              <a:rPr lang="zh-CN" altLang="en-US" dirty="0">
                <a:hlinkClick r:id="rId9"/>
              </a:rPr>
              <a:t>唯一</a:t>
            </a:r>
            <a:r>
              <a:rPr lang="zh-CN" altLang="en-US" dirty="0"/>
              <a:t>的</a:t>
            </a:r>
            <a:r>
              <a:rPr lang="zh-CN" altLang="en-US" dirty="0">
                <a:hlinkClick r:id="rId10"/>
              </a:rPr>
              <a:t>热带雨林自然保护区</a:t>
            </a:r>
            <a:r>
              <a:rPr lang="zh-CN" altLang="en-US" dirty="0"/>
              <a:t>，是</a:t>
            </a:r>
            <a:r>
              <a:rPr lang="zh-CN" altLang="en-US" dirty="0">
                <a:hlinkClick r:id="rId11"/>
              </a:rPr>
              <a:t>国家级生态示范区</a:t>
            </a:r>
            <a:r>
              <a:rPr lang="zh-CN" altLang="en-US" dirty="0"/>
              <a:t>、</a:t>
            </a:r>
            <a:r>
              <a:rPr lang="zh-CN" altLang="en-US" dirty="0">
                <a:hlinkClick r:id="rId12"/>
              </a:rPr>
              <a:t>国家级风景名胜区</a:t>
            </a:r>
            <a:r>
              <a:rPr lang="zh-CN" altLang="en-US" dirty="0"/>
              <a:t>、联合国生物多样性保护圈成员、联合国世界旅游组织旅游可持续发展观测点，植物种类占全国的</a:t>
            </a:r>
            <a:r>
              <a:rPr lang="en-US" altLang="zh-CN" dirty="0"/>
              <a:t>1/6</a:t>
            </a:r>
            <a:r>
              <a:rPr lang="zh-CN" altLang="en-US" dirty="0"/>
              <a:t>，动物种类占全国的</a:t>
            </a:r>
            <a:r>
              <a:rPr lang="en-US" altLang="zh-CN" dirty="0"/>
              <a:t>1/4</a:t>
            </a:r>
            <a:endParaRPr lang="zh-CN" altLang="en-US" dirty="0"/>
          </a:p>
        </p:txBody>
      </p:sp>
    </p:spTree>
    <p:extLst>
      <p:ext uri="{BB962C8B-B14F-4D97-AF65-F5344CB8AC3E}">
        <p14:creationId xmlns:p14="http://schemas.microsoft.com/office/powerpoint/2010/main" val="17849725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0" y="365125"/>
            <a:ext cx="10515600" cy="1325563"/>
          </a:xfrm>
        </p:spPr>
        <p:txBody>
          <a:bodyPr/>
          <a:lstStyle/>
          <a:p>
            <a:r>
              <a:rPr lang="zh-CN" altLang="en-US" dirty="0"/>
              <a:t>旅游景点</a:t>
            </a:r>
          </a:p>
        </p:txBody>
      </p:sp>
      <p:sp>
        <p:nvSpPr>
          <p:cNvPr id="3" name="内容占位符 2"/>
          <p:cNvSpPr>
            <a:spLocks noGrp="1"/>
          </p:cNvSpPr>
          <p:nvPr>
            <p:ph idx="4294967295"/>
          </p:nvPr>
        </p:nvSpPr>
        <p:spPr>
          <a:xfrm>
            <a:off x="0" y="1825625"/>
            <a:ext cx="10515600" cy="4351338"/>
          </a:xfrm>
        </p:spPr>
        <p:txBody>
          <a:bodyPr/>
          <a:lstStyle/>
          <a:p>
            <a:r>
              <a:rPr lang="zh-CN" altLang="en-US" dirty="0"/>
              <a:t>孔雀湖</a:t>
            </a:r>
            <a:endParaRPr lang="en-US" altLang="zh-CN" dirty="0"/>
          </a:p>
          <a:p>
            <a:r>
              <a:rPr lang="zh-CN" altLang="en-US" dirty="0"/>
              <a:t>野象谷</a:t>
            </a:r>
            <a:endParaRPr lang="en-US" altLang="zh-CN" dirty="0"/>
          </a:p>
          <a:p>
            <a:r>
              <a:rPr lang="zh-CN" altLang="en-US" dirty="0"/>
              <a:t>民族博物馆</a:t>
            </a:r>
            <a:endParaRPr lang="en-US" altLang="zh-CN" dirty="0"/>
          </a:p>
          <a:p>
            <a:r>
              <a:rPr lang="zh-CN" altLang="en-US" dirty="0"/>
              <a:t>曼飞龙白塔</a:t>
            </a:r>
            <a:endParaRPr lang="en-US" altLang="zh-CN" dirty="0"/>
          </a:p>
          <a:p>
            <a:r>
              <a:rPr lang="zh-CN" altLang="en-US" dirty="0"/>
              <a:t>勐泐大佛寺</a:t>
            </a:r>
            <a:endParaRPr lang="en-US" altLang="zh-CN" dirty="0"/>
          </a:p>
          <a:p>
            <a:endParaRPr lang="zh-CN" altLang="en-US" dirty="0"/>
          </a:p>
        </p:txBody>
      </p:sp>
    </p:spTree>
    <p:extLst>
      <p:ext uri="{BB962C8B-B14F-4D97-AF65-F5344CB8AC3E}">
        <p14:creationId xmlns:p14="http://schemas.microsoft.com/office/powerpoint/2010/main" val="38602021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孔雀湖</a:t>
            </a:r>
          </a:p>
        </p:txBody>
      </p:sp>
      <p:sp>
        <p:nvSpPr>
          <p:cNvPr id="4" name="内容占位符 3"/>
          <p:cNvSpPr>
            <a:spLocks noGrp="1"/>
          </p:cNvSpPr>
          <p:nvPr>
            <p:ph idx="1"/>
          </p:nvPr>
        </p:nvSpPr>
        <p:spPr/>
        <p:txBody>
          <a:bodyPr>
            <a:normAutofit/>
          </a:bodyPr>
          <a:lstStyle/>
          <a:p>
            <a:r>
              <a:rPr lang="zh-CN" altLang="en-US" dirty="0">
                <a:hlinkClick r:id="rId2"/>
              </a:rPr>
              <a:t>孔雀湖</a:t>
            </a:r>
            <a:r>
              <a:rPr lang="zh-CN" altLang="en-US" dirty="0"/>
              <a:t>位于</a:t>
            </a:r>
            <a:r>
              <a:rPr lang="zh-CN" altLang="en-US" dirty="0">
                <a:hlinkClick r:id="rId3"/>
              </a:rPr>
              <a:t>允景洪</a:t>
            </a:r>
            <a:r>
              <a:rPr lang="zh-CN" altLang="en-US" dirty="0"/>
              <a:t>中心，占地</a:t>
            </a:r>
            <a:r>
              <a:rPr lang="en-US" altLang="zh-CN" dirty="0"/>
              <a:t>18700</a:t>
            </a:r>
            <a:r>
              <a:rPr lang="zh-CN" altLang="en-US" dirty="0"/>
              <a:t>平方米，三面有湖水围绕，清如明镜。</a:t>
            </a:r>
            <a:r>
              <a:rPr lang="en-US" altLang="zh-CN" dirty="0"/>
              <a:t>1977</a:t>
            </a:r>
            <a:r>
              <a:rPr lang="zh-CN" altLang="en-US" dirty="0"/>
              <a:t>年始辟为公园，园内建有亭台水榭，植有奇花异卉，并饲养着孔雀、</a:t>
            </a:r>
            <a:r>
              <a:rPr lang="zh-CN" altLang="en-US" dirty="0">
                <a:hlinkClick r:id="rId4"/>
              </a:rPr>
              <a:t>巨蟒</a:t>
            </a:r>
            <a:r>
              <a:rPr lang="zh-CN" altLang="en-US" dirty="0"/>
              <a:t>、狐狸、野猪、猴子、八哥、画眉等珍稀动物。岸上奇花异卉争奇斗妍，湖中建有傣式水榭，湖水也清清，碧波也荡漾，</a:t>
            </a:r>
            <a:r>
              <a:rPr lang="zh-CN" altLang="en-US" dirty="0">
                <a:hlinkClick r:id="rId5"/>
              </a:rPr>
              <a:t>睡莲</a:t>
            </a:r>
            <a:r>
              <a:rPr lang="zh-CN" altLang="en-US" dirty="0"/>
              <a:t>盛天，宁静的湖面倒映着街道两旁挺拔的</a:t>
            </a:r>
            <a:r>
              <a:rPr lang="zh-CN" altLang="en-US" dirty="0">
                <a:hlinkClick r:id="rId6"/>
              </a:rPr>
              <a:t>油棕</a:t>
            </a:r>
            <a:r>
              <a:rPr lang="zh-CN" altLang="en-US" dirty="0"/>
              <a:t>、贝叶、槟榔、</a:t>
            </a:r>
            <a:r>
              <a:rPr lang="zh-CN" altLang="en-US" dirty="0">
                <a:hlinkClick r:id="rId7"/>
              </a:rPr>
              <a:t>椰子</a:t>
            </a:r>
            <a:r>
              <a:rPr lang="zh-CN" altLang="en-US" dirty="0"/>
              <a:t>，是游客乘凉、歇息的好地方。湖内备有游船，游人可在迷人的孔雀湖上荡起双桨，尽兴游玩。</a:t>
            </a:r>
          </a:p>
        </p:txBody>
      </p:sp>
      <p:pic>
        <p:nvPicPr>
          <p:cNvPr id="5" name="图片 4">
            <a:extLst>
              <a:ext uri="{FF2B5EF4-FFF2-40B4-BE49-F238E27FC236}">
                <a16:creationId xmlns:a16="http://schemas.microsoft.com/office/drawing/2014/main" id="{E44D2268-8A41-2384-2876-AF3D96C2688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986585" y="2814495"/>
            <a:ext cx="5181600" cy="3876675"/>
          </a:xfrm>
          <a:prstGeom prst="rect">
            <a:avLst/>
          </a:prstGeom>
        </p:spPr>
      </p:pic>
    </p:spTree>
    <p:extLst>
      <p:ext uri="{BB962C8B-B14F-4D97-AF65-F5344CB8AC3E}">
        <p14:creationId xmlns:p14="http://schemas.microsoft.com/office/powerpoint/2010/main" val="18869377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野象谷</a:t>
            </a:r>
          </a:p>
        </p:txBody>
      </p:sp>
      <p:sp>
        <p:nvSpPr>
          <p:cNvPr id="3" name="内容占位符 2"/>
          <p:cNvSpPr>
            <a:spLocks noGrp="1"/>
          </p:cNvSpPr>
          <p:nvPr>
            <p:ph idx="1"/>
          </p:nvPr>
        </p:nvSpPr>
        <p:spPr/>
        <p:txBody>
          <a:bodyPr>
            <a:normAutofit fontScale="92500" lnSpcReduction="10000"/>
          </a:bodyPr>
          <a:lstStyle/>
          <a:p>
            <a:r>
              <a:rPr lang="zh-CN" altLang="en-US" dirty="0">
                <a:hlinkClick r:id="rId2"/>
              </a:rPr>
              <a:t>西双版纳野象谷</a:t>
            </a:r>
            <a:r>
              <a:rPr lang="zh-CN" altLang="en-US" dirty="0"/>
              <a:t>位于</a:t>
            </a:r>
            <a:r>
              <a:rPr lang="zh-CN" altLang="en-US" dirty="0">
                <a:hlinkClick r:id="rId3"/>
              </a:rPr>
              <a:t>景洪</a:t>
            </a:r>
            <a:r>
              <a:rPr lang="zh-CN" altLang="en-US" dirty="0"/>
              <a:t>以北的勐养自然保护区内，地处东西两片林区结合部的河谷。在这片上百万亩的</a:t>
            </a:r>
            <a:r>
              <a:rPr lang="zh-CN" altLang="en-US" dirty="0">
                <a:hlinkClick r:id="rId4"/>
              </a:rPr>
              <a:t>热带雨林</a:t>
            </a:r>
            <a:r>
              <a:rPr lang="zh-CN" altLang="en-US" dirty="0"/>
              <a:t>里生长着多种植物，层绿叠翠、郁郁苍苍，热带竹林连成一片，为亚州象等野生动物提供了最适宜生长，繁衍的栖息之地。现存亚州象近</a:t>
            </a:r>
            <a:r>
              <a:rPr lang="en-US" altLang="zh-CN" dirty="0"/>
              <a:t>300</a:t>
            </a:r>
            <a:r>
              <a:rPr lang="zh-CN" altLang="en-US" dirty="0"/>
              <a:t>头，野象三五成群经常出没在河边、密林，甚至到公路上徜徉，踱到人们视野内觅食、饮水、洗澡、散步、嬉戏。已被省、州政府列为重点森林旅游景眯来建设。景区内已完成</a:t>
            </a:r>
            <a:r>
              <a:rPr lang="en-US" altLang="zh-CN" dirty="0"/>
              <a:t>100</a:t>
            </a:r>
            <a:r>
              <a:rPr lang="zh-CN" altLang="en-US" dirty="0"/>
              <a:t>门程控电话通讯工程，</a:t>
            </a:r>
            <a:r>
              <a:rPr lang="en-US" altLang="zh-CN" dirty="0"/>
              <a:t>4</a:t>
            </a:r>
            <a:r>
              <a:rPr lang="zh-CN" altLang="en-US" dirty="0"/>
              <a:t>。</a:t>
            </a:r>
            <a:r>
              <a:rPr lang="en-US" altLang="zh-CN" dirty="0"/>
              <a:t>08</a:t>
            </a:r>
            <a:r>
              <a:rPr lang="zh-CN" altLang="en-US" dirty="0"/>
              <a:t>公里游道铺设，三贫河道钢索吊桥，</a:t>
            </a:r>
            <a:r>
              <a:rPr lang="en-US" altLang="zh-CN" dirty="0"/>
              <a:t>1400</a:t>
            </a:r>
            <a:r>
              <a:rPr lang="zh-CN" altLang="en-US" dirty="0"/>
              <a:t>米的停滞不前车场，</a:t>
            </a:r>
            <a:r>
              <a:rPr lang="en-US" altLang="zh-CN" dirty="0"/>
              <a:t>188</a:t>
            </a:r>
            <a:r>
              <a:rPr lang="zh-CN" altLang="en-US" dirty="0"/>
              <a:t>平方米的宾馆，</a:t>
            </a:r>
            <a:r>
              <a:rPr lang="en-US" altLang="zh-CN" dirty="0"/>
              <a:t>200</a:t>
            </a:r>
            <a:r>
              <a:rPr lang="zh-CN" altLang="en-US" dirty="0"/>
              <a:t>平方米的傣式竹楼餐饮部，</a:t>
            </a:r>
            <a:r>
              <a:rPr lang="en-US" altLang="zh-CN" dirty="0"/>
              <a:t>600</a:t>
            </a:r>
            <a:r>
              <a:rPr lang="zh-CN" altLang="en-US" dirty="0"/>
              <a:t>平方米的水上综合娱乐场。</a:t>
            </a:r>
            <a:r>
              <a:rPr lang="zh-CN" altLang="en-US" dirty="0">
                <a:hlinkClick r:id="rId5"/>
              </a:rPr>
              <a:t>三岔河</a:t>
            </a:r>
            <a:r>
              <a:rPr lang="zh-CN" altLang="en-US" dirty="0"/>
              <a:t>自然保护工以其特有的热带原始森林景观和数量较多的野生</a:t>
            </a:r>
            <a:r>
              <a:rPr lang="zh-CN" altLang="en-US" dirty="0">
                <a:hlinkClick r:id="rId6"/>
              </a:rPr>
              <a:t>亚洲象</a:t>
            </a:r>
            <a:r>
              <a:rPr lang="zh-CN" altLang="en-US" dirty="0"/>
              <a:t>，吸引了众多的中外游客。是集旅游、度假、林业科普、会议和教学为一体的综合性旅游景区。此外，这里膛有国内第一个人工繁殖饲养蝴蝶实验场，可向游客展示蝴蝶恋花生长的全过程，并提供标本作纪念。</a:t>
            </a:r>
          </a:p>
        </p:txBody>
      </p:sp>
      <p:pic>
        <p:nvPicPr>
          <p:cNvPr id="5" name="图片 4">
            <a:extLst>
              <a:ext uri="{FF2B5EF4-FFF2-40B4-BE49-F238E27FC236}">
                <a16:creationId xmlns:a16="http://schemas.microsoft.com/office/drawing/2014/main" id="{60280177-A2B3-0E5D-546C-FF63A3A8B6F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271300" y="3294380"/>
            <a:ext cx="4023360" cy="3017520"/>
          </a:xfrm>
          <a:prstGeom prst="rect">
            <a:avLst/>
          </a:prstGeom>
        </p:spPr>
      </p:pic>
    </p:spTree>
    <p:extLst>
      <p:ext uri="{BB962C8B-B14F-4D97-AF65-F5344CB8AC3E}">
        <p14:creationId xmlns:p14="http://schemas.microsoft.com/office/powerpoint/2010/main" val="21458209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民族博物馆</a:t>
            </a:r>
          </a:p>
        </p:txBody>
      </p:sp>
      <p:sp>
        <p:nvSpPr>
          <p:cNvPr id="3" name="内容占位符 2"/>
          <p:cNvSpPr>
            <a:spLocks noGrp="1"/>
          </p:cNvSpPr>
          <p:nvPr>
            <p:ph idx="1"/>
          </p:nvPr>
        </p:nvSpPr>
        <p:spPr/>
        <p:txBody>
          <a:bodyPr/>
          <a:lstStyle/>
          <a:p>
            <a:r>
              <a:rPr lang="zh-CN" altLang="en-US" dirty="0">
                <a:hlinkClick r:id="rId2"/>
              </a:rPr>
              <a:t>西双版纳民族博物馆</a:t>
            </a:r>
            <a:r>
              <a:rPr lang="zh-CN" altLang="en-US" dirty="0"/>
              <a:t>位于景洪市</a:t>
            </a:r>
            <a:r>
              <a:rPr lang="zh-CN" altLang="en-US" dirty="0">
                <a:hlinkClick r:id="rId3"/>
              </a:rPr>
              <a:t>澜沧江</a:t>
            </a:r>
            <a:r>
              <a:rPr lang="zh-CN" altLang="en-US" dirty="0"/>
              <a:t>东岸依山临江、环境优美的南联山半山坡，宏伟的建筑群面朝景洪城，三面被葱茏的天然林、橡胶林环抱。博物馆占地</a:t>
            </a:r>
            <a:r>
              <a:rPr lang="en-US" altLang="zh-CN" dirty="0"/>
              <a:t>150</a:t>
            </a:r>
            <a:r>
              <a:rPr lang="zh-CN" altLang="en-US" dirty="0"/>
              <a:t>亩，建筑面积</a:t>
            </a:r>
            <a:r>
              <a:rPr lang="en-US" altLang="zh-CN" dirty="0"/>
              <a:t>1.6</a:t>
            </a:r>
            <a:r>
              <a:rPr lang="zh-CN" altLang="en-US" dirty="0"/>
              <a:t>万平方米，总投资概算</a:t>
            </a:r>
            <a:r>
              <a:rPr lang="en-US" altLang="zh-CN" dirty="0"/>
              <a:t>1.55</a:t>
            </a:r>
            <a:r>
              <a:rPr lang="zh-CN" altLang="en-US" dirty="0"/>
              <a:t>亿元，主要由国家和省政府补助支持，州政府自筹一部分。至</a:t>
            </a:r>
            <a:r>
              <a:rPr lang="en-US" altLang="zh-CN" dirty="0"/>
              <a:t>2010</a:t>
            </a:r>
            <a:r>
              <a:rPr lang="zh-CN" altLang="en-US" dirty="0"/>
              <a:t>年</a:t>
            </a:r>
            <a:r>
              <a:rPr lang="en-US" altLang="zh-CN" dirty="0"/>
              <a:t>11</a:t>
            </a:r>
            <a:r>
              <a:rPr lang="zh-CN" altLang="en-US" dirty="0"/>
              <a:t>月投资</a:t>
            </a:r>
            <a:r>
              <a:rPr lang="en-US" altLang="zh-CN" dirty="0"/>
              <a:t>9000</a:t>
            </a:r>
            <a:r>
              <a:rPr lang="zh-CN" altLang="en-US" dirty="0"/>
              <a:t>余万元的一期建设项目已全部竣工。</a:t>
            </a:r>
          </a:p>
        </p:txBody>
      </p:sp>
      <p:pic>
        <p:nvPicPr>
          <p:cNvPr id="5" name="图片 4">
            <a:extLst>
              <a:ext uri="{FF2B5EF4-FFF2-40B4-BE49-F238E27FC236}">
                <a16:creationId xmlns:a16="http://schemas.microsoft.com/office/drawing/2014/main" id="{179E6915-ACE7-7F6F-B10A-5D69FBC1999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52364" y="2720531"/>
            <a:ext cx="5181600" cy="3456432"/>
          </a:xfrm>
          <a:prstGeom prst="rect">
            <a:avLst/>
          </a:prstGeom>
        </p:spPr>
      </p:pic>
    </p:spTree>
    <p:extLst>
      <p:ext uri="{BB962C8B-B14F-4D97-AF65-F5344CB8AC3E}">
        <p14:creationId xmlns:p14="http://schemas.microsoft.com/office/powerpoint/2010/main" val="23366243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dirty="0"/>
              <a:t>曼飞龙白塔</a:t>
            </a:r>
          </a:p>
        </p:txBody>
      </p:sp>
      <p:sp>
        <p:nvSpPr>
          <p:cNvPr id="8" name="内容占位符 7"/>
          <p:cNvSpPr>
            <a:spLocks noGrp="1"/>
          </p:cNvSpPr>
          <p:nvPr>
            <p:ph idx="1"/>
          </p:nvPr>
        </p:nvSpPr>
        <p:spPr/>
        <p:txBody>
          <a:bodyPr>
            <a:normAutofit lnSpcReduction="10000"/>
          </a:bodyPr>
          <a:lstStyle/>
          <a:p>
            <a:r>
              <a:rPr lang="zh-CN" altLang="en-US" dirty="0"/>
              <a:t>曼飞龙塔，位于</a:t>
            </a:r>
            <a:r>
              <a:rPr lang="zh-CN" altLang="en-US" dirty="0">
                <a:hlinkClick r:id="rId2"/>
              </a:rPr>
              <a:t>云南省</a:t>
            </a:r>
            <a:r>
              <a:rPr lang="zh-CN" altLang="en-US" dirty="0">
                <a:hlinkClick r:id="rId3"/>
              </a:rPr>
              <a:t>景洪市</a:t>
            </a:r>
            <a:r>
              <a:rPr lang="zh-CN" altLang="en-US" dirty="0">
                <a:hlinkClick r:id="rId4"/>
              </a:rPr>
              <a:t>勐龙镇</a:t>
            </a:r>
            <a:r>
              <a:rPr lang="zh-CN" altLang="en-US" dirty="0">
                <a:hlinkClick r:id="rId5"/>
              </a:rPr>
              <a:t>曼飞龙村</a:t>
            </a:r>
            <a:r>
              <a:rPr lang="zh-CN" altLang="en-US" dirty="0"/>
              <a:t>的后山顶上，由主塔和八座小塔组合而成，宛如一丛春笋破土而出，故傣语称为“塔糯”（笋塔），是一座金刚宝座式的群塔。因为它通体洁白如雪，又称“白塔”。</a:t>
            </a:r>
            <a:r>
              <a:rPr lang="zh-CN" altLang="en-US" baseline="30000" dirty="0"/>
              <a:t> </a:t>
            </a:r>
            <a:r>
              <a:rPr lang="en-US" altLang="zh-CN" baseline="30000" dirty="0"/>
              <a:t>[</a:t>
            </a:r>
            <a:r>
              <a:rPr lang="zh-CN" altLang="en-US" dirty="0"/>
              <a:t> 曼飞龙塔始建于清乾隆年间（</a:t>
            </a:r>
            <a:r>
              <a:rPr lang="en-US" altLang="zh-CN" dirty="0"/>
              <a:t>1736~1795</a:t>
            </a:r>
            <a:r>
              <a:rPr lang="zh-CN" altLang="en-US" dirty="0"/>
              <a:t>年），由九座白曼飞龙塔组成。傣语“塔糯庄龙”，意为大头笋塔。</a:t>
            </a:r>
            <a:endParaRPr lang="en-US" altLang="zh-CN" dirty="0"/>
          </a:p>
          <a:p>
            <a:r>
              <a:rPr lang="zh-CN" altLang="en-US" dirty="0"/>
              <a:t>曼飞龙塔，主塔高</a:t>
            </a:r>
            <a:r>
              <a:rPr lang="en-US" altLang="zh-CN" dirty="0"/>
              <a:t>16.29</a:t>
            </a:r>
            <a:r>
              <a:rPr lang="zh-CN" altLang="en-US" dirty="0"/>
              <a:t>米，周围由</a:t>
            </a:r>
            <a:r>
              <a:rPr lang="en-US" altLang="zh-CN" dirty="0"/>
              <a:t>8</a:t>
            </a:r>
            <a:r>
              <a:rPr lang="zh-CN" altLang="en-US" dirty="0"/>
              <a:t>个边塔环绕，联成母子塔群。外观如雨后春笋破土而出，参差有致，塔群造型优美，风格别致。曼飞龙塔是一座历史悠久、规模宏大的宗教建筑，不但在国内南传上座部佛教流行的地区颇具影响，每年都有很多来自缅甸、老挝、泰国的信徒前来朝拜。</a:t>
            </a:r>
          </a:p>
        </p:txBody>
      </p:sp>
    </p:spTree>
    <p:extLst>
      <p:ext uri="{BB962C8B-B14F-4D97-AF65-F5344CB8AC3E}">
        <p14:creationId xmlns:p14="http://schemas.microsoft.com/office/powerpoint/2010/main" val="12201439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勐泐大佛寺</a:t>
            </a:r>
          </a:p>
        </p:txBody>
      </p:sp>
      <p:sp>
        <p:nvSpPr>
          <p:cNvPr id="3" name="内容占位符 2"/>
          <p:cNvSpPr>
            <a:spLocks noGrp="1"/>
          </p:cNvSpPr>
          <p:nvPr>
            <p:ph idx="1"/>
          </p:nvPr>
        </p:nvSpPr>
        <p:spPr/>
        <p:txBody>
          <a:bodyPr>
            <a:normAutofit fontScale="92500" lnSpcReduction="20000"/>
          </a:bodyPr>
          <a:lstStyle/>
          <a:p>
            <a:r>
              <a:rPr lang="zh-CN" altLang="en-US" dirty="0"/>
              <a:t>勐泐大佛寺，位于</a:t>
            </a:r>
            <a:r>
              <a:rPr lang="zh-CN" altLang="en-US" dirty="0">
                <a:hlinkClick r:id="rId2"/>
              </a:rPr>
              <a:t>云南省</a:t>
            </a:r>
            <a:r>
              <a:rPr lang="zh-CN" altLang="en-US" dirty="0">
                <a:hlinkClick r:id="rId3"/>
              </a:rPr>
              <a:t>西双版纳傣族自治州</a:t>
            </a:r>
            <a:r>
              <a:rPr lang="zh-CN" altLang="en-US" dirty="0"/>
              <a:t>州府</a:t>
            </a:r>
            <a:r>
              <a:rPr lang="zh-CN" altLang="en-US" dirty="0">
                <a:hlinkClick r:id="rId4"/>
              </a:rPr>
              <a:t>景洪市</a:t>
            </a:r>
            <a:r>
              <a:rPr lang="zh-CN" altLang="en-US" dirty="0"/>
              <a:t>城郊，按照国家</a:t>
            </a:r>
            <a:r>
              <a:rPr lang="en-US" altLang="zh-CN" dirty="0">
                <a:hlinkClick r:id="rId5"/>
              </a:rPr>
              <a:t>AAAA</a:t>
            </a:r>
            <a:r>
              <a:rPr lang="zh-CN" altLang="en-US" dirty="0">
                <a:hlinkClick r:id="rId5"/>
              </a:rPr>
              <a:t>级景区</a:t>
            </a:r>
            <a:r>
              <a:rPr lang="zh-CN" altLang="en-US" dirty="0"/>
              <a:t>标准打造。勐泐大佛寺是在古代傣王朝的</a:t>
            </a:r>
            <a:r>
              <a:rPr lang="zh-CN" altLang="en-US" dirty="0">
                <a:hlinkClick r:id="rId6"/>
              </a:rPr>
              <a:t>皇家寺院</a:t>
            </a:r>
            <a:r>
              <a:rPr lang="zh-CN" altLang="en-US" dirty="0"/>
              <a:t>“</a:t>
            </a:r>
            <a:r>
              <a:rPr lang="zh-CN" altLang="en-US" dirty="0">
                <a:hlinkClick r:id="rId7"/>
              </a:rPr>
              <a:t>景飘</a:t>
            </a:r>
            <a:r>
              <a:rPr lang="zh-CN" altLang="en-US" dirty="0"/>
              <a:t>佛寺”的原址上恢复重建的，“景飘佛寺”是傣族历史上一位名叫拨龙的傣王为纪念病故的王妃南纱维扁而修建。</a:t>
            </a:r>
          </a:p>
          <a:p>
            <a:r>
              <a:rPr lang="zh-CN" altLang="en-US" dirty="0"/>
              <a:t>勐泐大佛寺，该建筑在</a:t>
            </a:r>
            <a:r>
              <a:rPr lang="zh-CN" altLang="en-US" dirty="0">
                <a:hlinkClick r:id="rId8"/>
              </a:rPr>
              <a:t>佛历</a:t>
            </a:r>
            <a:r>
              <a:rPr lang="en-US" altLang="zh-CN" dirty="0"/>
              <a:t>2883</a:t>
            </a:r>
            <a:r>
              <a:rPr lang="zh-CN" altLang="en-US" dirty="0"/>
              <a:t>年（即公元</a:t>
            </a:r>
            <a:r>
              <a:rPr lang="en-US" altLang="zh-CN" dirty="0"/>
              <a:t>1848</a:t>
            </a:r>
            <a:r>
              <a:rPr lang="zh-CN" altLang="en-US" dirty="0"/>
              <a:t>年，清咸丰年间）战争中被毁，距今已有</a:t>
            </a:r>
            <a:r>
              <a:rPr lang="en-US" altLang="zh-CN" dirty="0"/>
              <a:t>169</a:t>
            </a:r>
            <a:r>
              <a:rPr lang="zh-CN" altLang="en-US" dirty="0"/>
              <a:t>年。</a:t>
            </a:r>
          </a:p>
          <a:p>
            <a:r>
              <a:rPr lang="zh-CN" altLang="en-US" dirty="0"/>
              <a:t>勐泐大佛寺于</a:t>
            </a:r>
            <a:r>
              <a:rPr lang="en-US" altLang="zh-CN" dirty="0"/>
              <a:t>2005</a:t>
            </a:r>
            <a:r>
              <a:rPr lang="zh-CN" altLang="en-US" dirty="0"/>
              <a:t>年开始重建，于同年</a:t>
            </a:r>
            <a:r>
              <a:rPr lang="en-US" altLang="zh-CN" dirty="0"/>
              <a:t>3</a:t>
            </a:r>
            <a:r>
              <a:rPr lang="zh-CN" altLang="en-US" dirty="0"/>
              <a:t>月</a:t>
            </a:r>
            <a:r>
              <a:rPr lang="en-US" altLang="zh-CN" dirty="0"/>
              <a:t>9</a:t>
            </a:r>
            <a:r>
              <a:rPr lang="zh-CN" altLang="en-US" dirty="0"/>
              <a:t>日举行了大型的土地</a:t>
            </a:r>
            <a:r>
              <a:rPr lang="zh-CN" altLang="en-US" dirty="0">
                <a:hlinkClick r:id="rId9"/>
              </a:rPr>
              <a:t>开光仪式</a:t>
            </a:r>
            <a:r>
              <a:rPr lang="zh-CN" altLang="en-US" dirty="0"/>
              <a:t>，于</a:t>
            </a:r>
            <a:r>
              <a:rPr lang="en-US" altLang="zh-CN" dirty="0"/>
              <a:t>2005</a:t>
            </a:r>
            <a:r>
              <a:rPr lang="zh-CN" altLang="en-US" dirty="0"/>
              <a:t>年</a:t>
            </a:r>
            <a:r>
              <a:rPr lang="en-US" altLang="zh-CN" dirty="0"/>
              <a:t>5</a:t>
            </a:r>
            <a:r>
              <a:rPr lang="zh-CN" altLang="en-US" dirty="0"/>
              <a:t>月</a:t>
            </a:r>
            <a:r>
              <a:rPr lang="en-US" altLang="zh-CN" dirty="0"/>
              <a:t>9</a:t>
            </a:r>
            <a:r>
              <a:rPr lang="zh-CN" altLang="en-US" dirty="0"/>
              <a:t>日举行了盛大的大殿奠基开光仪式，在大殿施工时，挖掘出大量的银币、银盒、佛教法事用品等。</a:t>
            </a:r>
          </a:p>
          <a:p>
            <a:r>
              <a:rPr lang="zh-CN" altLang="en-US" dirty="0"/>
              <a:t>勐泐大佛寺，占地面积</a:t>
            </a:r>
            <a:r>
              <a:rPr lang="en-US" altLang="zh-CN" dirty="0"/>
              <a:t>400</a:t>
            </a:r>
            <a:r>
              <a:rPr lang="zh-CN" altLang="en-US" dirty="0"/>
              <a:t>亩，佛寺依山而建，落差达</a:t>
            </a:r>
            <a:r>
              <a:rPr lang="en-US" altLang="zh-CN" dirty="0"/>
              <a:t>122.8</a:t>
            </a:r>
            <a:r>
              <a:rPr lang="zh-CN" altLang="en-US" dirty="0"/>
              <a:t>米，呈坐佛形，为国内外所独有，佛寺以佛祖释迦牟尼的生平及佛寺活动为主线，巧妙融入到景观及建筑群体中，充分展示南传佛教的历史与</a:t>
            </a:r>
            <a:r>
              <a:rPr lang="zh-CN" altLang="en-US" dirty="0">
                <a:hlinkClick r:id="rId10"/>
              </a:rPr>
              <a:t>传统文化</a:t>
            </a:r>
            <a:r>
              <a:rPr lang="zh-CN" altLang="en-US" dirty="0"/>
              <a:t>色彩。</a:t>
            </a:r>
          </a:p>
        </p:txBody>
      </p:sp>
      <p:pic>
        <p:nvPicPr>
          <p:cNvPr id="5" name="图片 4">
            <a:extLst>
              <a:ext uri="{FF2B5EF4-FFF2-40B4-BE49-F238E27FC236}">
                <a16:creationId xmlns:a16="http://schemas.microsoft.com/office/drawing/2014/main" id="{6A184BDF-E394-94A0-6353-989F015B36BC}"/>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3963538" y="1624013"/>
            <a:ext cx="6858000" cy="4552950"/>
          </a:xfrm>
          <a:prstGeom prst="rect">
            <a:avLst/>
          </a:prstGeom>
        </p:spPr>
      </p:pic>
    </p:spTree>
    <p:extLst>
      <p:ext uri="{BB962C8B-B14F-4D97-AF65-F5344CB8AC3E}">
        <p14:creationId xmlns:p14="http://schemas.microsoft.com/office/powerpoint/2010/main" val="75974579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TotalTime>
  <Words>1063</Words>
  <Application>Microsoft Office PowerPoint</Application>
  <PresentationFormat>宽屏</PresentationFormat>
  <Paragraphs>25</Paragraphs>
  <Slides>8</Slides>
  <Notes>0</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8</vt:i4>
      </vt:variant>
    </vt:vector>
  </HeadingPairs>
  <TitlesOfParts>
    <vt:vector size="11" baseType="lpstr">
      <vt:lpstr>Arial</vt:lpstr>
      <vt:lpstr>Calibri</vt:lpstr>
      <vt:lpstr>Office 主题</vt:lpstr>
      <vt:lpstr>西双版纳旅游攻略</vt:lpstr>
      <vt:lpstr>简介</vt:lpstr>
      <vt:lpstr>旅游景点</vt:lpstr>
      <vt:lpstr>孔雀湖</vt:lpstr>
      <vt:lpstr>野象谷</vt:lpstr>
      <vt:lpstr>民族博物馆</vt:lpstr>
      <vt:lpstr>曼飞龙白塔</vt:lpstr>
      <vt:lpstr>勐泐大佛寺</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西双版纳旅游攻略</dc:title>
  <dc:creator>Administrator</dc:creator>
  <cp:lastModifiedBy>zy</cp:lastModifiedBy>
  <cp:revision>8</cp:revision>
  <dcterms:created xsi:type="dcterms:W3CDTF">2023-02-15T13:17:03Z</dcterms:created>
  <dcterms:modified xsi:type="dcterms:W3CDTF">2023-02-21T06:22:53Z</dcterms:modified>
</cp:coreProperties>
</file>