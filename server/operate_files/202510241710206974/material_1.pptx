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</p:sldIdLst>
  <p:sldSz cx="12192000" cy="6858000"/>
  <p:notesSz cx="6858000" cy="9144000"/>
  <p:custDataLst>
    <p:tags r:id="rId1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>
    <p:present/>
    <p:sldRg st="1" end="4"/>
  </p:showPr>
  <p:clrMru>
    <a:srgbClr val="FFFFFF"/>
    <a:srgbClr val="C7B7B1"/>
    <a:srgbClr val="64B7B1"/>
    <a:srgbClr val="E2D8D1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gs" Target="tags/tag72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Autofit/>
          </a:bodyPr>
          <a:lstStyle>
            <a:lvl1pPr>
              <a:defRPr sz="7200">
                <a:latin typeface="黑体" panose="02010609060101010101" charset="-122"/>
                <a:ea typeface="黑体" panose="02010609060101010101" charset="-122"/>
              </a:defRPr>
            </a:lvl1pPr>
          </a:lstStyle>
          <a:p>
            <a:pPr lvl="0"/>
            <a:r>
              <a:rPr lang="zh-CN" altLang="en-US" smtClean="0"/>
              <a:t>单击此处编辑母版标题样式</a:t>
            </a:r>
            <a:endParaRPr lang="zh-CN" altLang="en-US"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D8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65.xml"/><Relationship Id="rId3" Type="http://schemas.openxmlformats.org/officeDocument/2006/relationships/image" Target="../media/image1.png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66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tags" Target="../tags/tag68.xml"/><Relationship Id="rId2" Type="http://schemas.openxmlformats.org/officeDocument/2006/relationships/image" Target="../media/image3.png"/><Relationship Id="rId1" Type="http://schemas.openxmlformats.org/officeDocument/2006/relationships/tags" Target="../tags/tag67.xml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6.xml"/><Relationship Id="rId5" Type="http://schemas.openxmlformats.org/officeDocument/2006/relationships/tags" Target="../tags/tag71.xml"/><Relationship Id="rId4" Type="http://schemas.openxmlformats.org/officeDocument/2006/relationships/image" Target="../media/image5.png"/><Relationship Id="rId3" Type="http://schemas.openxmlformats.org/officeDocument/2006/relationships/tags" Target="../tags/tag70.xml"/><Relationship Id="rId2" Type="http://schemas.openxmlformats.org/officeDocument/2006/relationships/image" Target="../media/image4.png"/><Relationship Id="rId1" Type="http://schemas.openxmlformats.org/officeDocument/2006/relationships/tags" Target="../tags/tag6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8996400" y="0"/>
            <a:ext cx="1962000" cy="6858000"/>
          </a:xfrm>
        </p:spPr>
        <p:txBody>
          <a:bodyPr vert="eaVert">
            <a:normAutofit/>
          </a:bodyPr>
          <a:p>
            <a:r>
              <a:rPr lang="zh-CN" altLang="en-US" sz="9600">
                <a:latin typeface="黑体" panose="02010609060101010101" charset="-122"/>
                <a:ea typeface="黑体" panose="02010609060101010101" charset="-122"/>
              </a:rPr>
              <a:t>美食</a:t>
            </a:r>
            <a:endParaRPr lang="zh-CN" altLang="en-US" sz="960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5785200" y="3204000"/>
            <a:ext cx="2746800" cy="2988000"/>
          </a:xfrm>
        </p:spPr>
        <p:txBody>
          <a:bodyPr vert="mongolianVert">
            <a:normAutofit/>
          </a:bodyPr>
          <a:p>
            <a:r>
              <a:rPr lang="zh-CN" altLang="en-US" sz="23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探斑斓色彩</a:t>
            </a:r>
            <a:br>
              <a:rPr lang="zh-CN" altLang="en-US" sz="23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</a:br>
            <a:r>
              <a:rPr lang="zh-CN" altLang="en-US" sz="23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映入心放花开</a:t>
            </a:r>
            <a:br>
              <a:rPr lang="zh-CN" altLang="en-US" sz="23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</a:br>
            <a:r>
              <a:rPr lang="zh-CN" altLang="en-US" sz="23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香飘缭绕远扬四海</a:t>
            </a:r>
            <a:br>
              <a:rPr lang="zh-CN" altLang="en-US" sz="23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</a:br>
            <a:r>
              <a:rPr lang="zh-CN" altLang="en-US" sz="23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琳琅满目食材</a:t>
            </a:r>
            <a:br>
              <a:rPr lang="zh-CN" altLang="en-US" sz="23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</a:br>
            <a:r>
              <a:rPr lang="zh-CN" altLang="en-US" sz="23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满是不同期待</a:t>
            </a:r>
            <a:br>
              <a:rPr lang="zh-CN" altLang="en-US" sz="23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</a:br>
            <a:r>
              <a:rPr lang="zh-CN" altLang="en-US" sz="23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味缠唇齿乐人开怀</a:t>
            </a:r>
            <a:endParaRPr lang="zh-CN" altLang="en-US" sz="230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3970"/>
            <a:ext cx="5086350" cy="688657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3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out)">
                                      <p:cBhvr>
                                        <p:cTn id="7" dur="1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810801" y="608400"/>
            <a:ext cx="1051200" cy="5990400"/>
          </a:xfrm>
        </p:spPr>
        <p:txBody>
          <a:bodyPr/>
          <a:p>
            <a:r>
              <a:rPr lang="zh-CN" altLang="en-US"/>
              <a:t>刀削面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846000" y="1004400"/>
            <a:ext cx="5724000" cy="5403600"/>
          </a:xfrm>
          <a:prstGeom prst="rect">
            <a:avLst/>
          </a:prstGeom>
          <a:noFill/>
        </p:spPr>
        <p:txBody>
          <a:bodyPr vert="eaVert"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zh-CN" altLang="en-US" sz="2000" u="sng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刀削面，是山西的汉族传统面食，为“中国十大面条”之一，流行于北方。操作过程：将面粉和成团块状，左手举面团，右手拿弧形刀</a:t>
            </a:r>
            <a:endParaRPr lang="zh-CN" altLang="en-US" sz="2000" u="sng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2000" u="sng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将面一片一片地削到开水锅内，煮熟后捞出</a:t>
            </a:r>
            <a:endParaRPr lang="zh-CN" altLang="en-US" sz="2000" u="sng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2000" u="sng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加入臊子、调料食用，以山西大同刀削面最为著名。山西刀削面因其风味独特，驰名中外</a:t>
            </a:r>
            <a:endParaRPr lang="zh-CN" altLang="en-US" sz="2000" u="sng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2000" u="sng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刀削面全凭刀削，因此得名。用刀削出的面叶中厚边薄。棱锋分明，形似柳叶；入口外滑内筋，软而不粘，越嚼越香，深受喜食面食者欢迎。它与北京的炸酱面、河南的烩面、湖北的热干面、四川的担担面，同称为中国五大面食享有盛誉</a:t>
            </a:r>
            <a:endParaRPr lang="zh-CN" altLang="en-US" sz="2000" u="sng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pic>
        <p:nvPicPr>
          <p:cNvPr id="3" name="图片 2" descr="刀削面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91835" y="0"/>
            <a:ext cx="5721165" cy="3816000"/>
          </a:xfrm>
          <a:prstGeom prst="rect">
            <a:avLst/>
          </a:prstGeom>
          <a:effectLst>
            <a:reflection blurRad="6350" stA="50000" endA="300" endPos="90000" dir="5400000" sy="-100000" algn="bl" rotWithShape="0"/>
          </a:effectLst>
        </p:spPr>
      </p:pic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250" advClick="0" advTm="5000">
        <p:checker dir="vert"/>
      </p:transition>
    </mc:Choice>
    <mc:Fallback>
      <p:transition spd="slow" advClick="0" advTm="5000">
        <p:checker dir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885600" y="1166400"/>
            <a:ext cx="6734175" cy="4543425"/>
          </a:xfrm>
          <a:prstGeom prst="rect">
            <a:avLst/>
          </a:prstGeom>
          <a:ln w="38100">
            <a:solidFill>
              <a:schemeClr val="bg2">
                <a:lumMod val="75000"/>
              </a:schemeClr>
            </a:solidFill>
          </a:ln>
        </p:spPr>
      </p:pic>
      <p:sp>
        <p:nvSpPr>
          <p:cNvPr id="3" name="矩形 2"/>
          <p:cNvSpPr/>
          <p:nvPr/>
        </p:nvSpPr>
        <p:spPr>
          <a:xfrm>
            <a:off x="7592400" y="1166400"/>
            <a:ext cx="3456000" cy="4536000"/>
          </a:xfrm>
          <a:prstGeom prst="rect">
            <a:avLst/>
          </a:prstGeom>
          <a:solidFill>
            <a:srgbClr val="C7B7B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7620000" y="1264920"/>
            <a:ext cx="2644775" cy="437896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p>
            <a:pPr indent="720090" fontAlgn="auto">
              <a:spcBef>
                <a:spcPts val="600"/>
              </a:spcBef>
            </a:pPr>
            <a:r>
              <a:rPr lang="zh-CN" altLang="en-US" sz="2000">
                <a:latin typeface="楷体" panose="02010609060101010101" charset="-122"/>
                <a:ea typeface="楷体" panose="02010609060101010101" charset="-122"/>
              </a:rPr>
              <a:t>北京烤鸭是具有世界声誉的北京著名菜式用料为优质肉食鸭北京鸭，果木炭火烤制色泽红润，肉质肥而不腻。炉内温度先高后低，烤出的鸭子外皮酥脆，内层丰满肥而不腻。挂炉烤鸭是用枣、桃梨等果木烧烤鸭子。所烤鸭子也是外焦里嫩，而且有一种特殊的香味</a:t>
            </a:r>
            <a:endParaRPr lang="zh-CN" altLang="en-US" sz="2000"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0019030" y="803275"/>
            <a:ext cx="870585" cy="5302885"/>
          </a:xfrm>
          <a:prstGeom prst="rect">
            <a:avLst/>
          </a:prstGeom>
          <a:noFill/>
          <a:ln>
            <a:noFill/>
          </a:ln>
        </p:spPr>
        <p:txBody>
          <a:bodyPr vert="eaVert" wrap="none" rtlCol="0" anchor="t">
            <a:noAutofit/>
          </a:bodyPr>
          <a:p>
            <a:pPr algn="ctr"/>
            <a:r>
              <a:rPr lang="zh-CN" altLang="en-US" sz="36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北京</a:t>
            </a:r>
            <a:r>
              <a:rPr lang="en-US" altLang="zh-CN" sz="36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·</a:t>
            </a:r>
            <a:r>
              <a:rPr lang="zh-CN" altLang="en-US" sz="36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烤鸭</a:t>
            </a:r>
            <a:endParaRPr lang="zh-CN" altLang="en-US" sz="36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圆角矩形 2"/>
          <p:cNvSpPr/>
          <p:nvPr/>
        </p:nvSpPr>
        <p:spPr>
          <a:xfrm>
            <a:off x="979805" y="1758950"/>
            <a:ext cx="4032000" cy="4176000"/>
          </a:xfrm>
          <a:prstGeom prst="roundRect">
            <a:avLst/>
          </a:prstGeom>
          <a:solidFill>
            <a:srgbClr val="C7B7B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810801" y="608400"/>
            <a:ext cx="1051200" cy="5990400"/>
          </a:xfrm>
        </p:spPr>
        <p:txBody>
          <a:bodyPr/>
          <a:p>
            <a:r>
              <a:rPr lang="zh-CN" altLang="en-US"/>
              <a:t>过桥米线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245600" y="2210400"/>
            <a:ext cx="3636000" cy="34920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000">
                <a:solidFill>
                  <a:schemeClr val="bg1">
                    <a:lumMod val="85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过桥米线，源于滇南，乃云南一绝，至今已有一百年的历史它源于滇南蒙自县，1920年，昆明市建立了第一家过桥米线馆“仁和园”。米线含有丰富的碳水化合物、维生素、矿物质及酵素等，具有熟透迅速、均匀，耐煮不烂，爽口滑嫩，煮后汤水不浊，易于消化的特点，特别适合火锅和休闲快餐食用</a:t>
            </a:r>
            <a:endParaRPr lang="zh-CN" altLang="en-US" sz="2000">
              <a:solidFill>
                <a:schemeClr val="bg1">
                  <a:lumMod val="85000"/>
                </a:schemeClr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881880" y="448945"/>
            <a:ext cx="5314950" cy="3543300"/>
          </a:xfrm>
          <a:prstGeom prst="ellipse">
            <a:avLst/>
          </a:prstGeom>
        </p:spPr>
      </p:pic>
      <p:pic>
        <p:nvPicPr>
          <p:cNvPr id="5" name="图片 4" descr="图片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250180" y="3429000"/>
            <a:ext cx="3651250" cy="250571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250" advClick="0" advTm="5000">
        <p:checker/>
      </p:transition>
    </mc:Choice>
    <mc:Fallback>
      <p:transition spd="slow" advClick="0" advTm="5000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1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0" dur="12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</p:bld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COMMONDATA" val="eyJoZGlkIjoiNzFlMGY3OGRmZGU1YjQ0MmVmN2U4Yjg3M2ZkYWM1ZjIifQ=="/>
  <p:tag name="commondata" val="eyJoZGlkIjoiMDc1NGYxZTE5YjIxODQ2YjU3NGJkMjYwN2YzNDUwN2E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528</Words>
  <Application>WPS 演示</Application>
  <PresentationFormat>宽屏</PresentationFormat>
  <Paragraphs>19</Paragraphs>
  <Slides>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5" baseType="lpstr">
      <vt:lpstr>Arial</vt:lpstr>
      <vt:lpstr>宋体</vt:lpstr>
      <vt:lpstr>Wingdings</vt:lpstr>
      <vt:lpstr>Wingdings</vt:lpstr>
      <vt:lpstr>黑体</vt:lpstr>
      <vt:lpstr>仿宋</vt:lpstr>
      <vt:lpstr>楷体</vt:lpstr>
      <vt:lpstr>微软雅黑</vt:lpstr>
      <vt:lpstr>Arial Unicode MS</vt:lpstr>
      <vt:lpstr>Calibri</vt:lpstr>
      <vt:lpstr>WPS</vt:lpstr>
      <vt:lpstr>美食</vt:lpstr>
      <vt:lpstr>刀削面</vt:lpstr>
      <vt:lpstr>PowerPoint 演示文稿</vt:lpstr>
      <vt:lpstr>过桥米线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qzuser</cp:lastModifiedBy>
  <cp:revision>161</cp:revision>
  <dcterms:created xsi:type="dcterms:W3CDTF">2019-06-19T02:08:00Z</dcterms:created>
  <dcterms:modified xsi:type="dcterms:W3CDTF">2025-10-27T06:11:20Z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2052-12.1.0.15712</vt:lpwstr>
  </property>
  <property fmtid="{D5CDD505-2E9C-101B-9397-08002B2CF9AE}" pid="3" name="ICV">
    <vt:lpwstr>7C9C178CB58743AB9CC715C5B32021E7_13</vt:lpwstr>
  </property>
</Properties>
</file>