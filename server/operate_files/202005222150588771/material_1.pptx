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0" r:id="rId4"/>
    <p:sldId id="261" r:id="rId5"/>
    <p:sldId id="258" r:id="rId6"/>
    <p:sldId id="259" r:id="rId7"/>
    <p:sldId id="263" r:id="rId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6FAC1-0A7D-4412-907A-E6BAAE723D54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02301-21AA-48D8-A074-6B84EB097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071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2464B-142D-4E3D-A6A4-89B51D49481A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4A207-68CA-45E5-B269-9FB94919A7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smtClean="0"/>
              <a:t>2020</a:t>
            </a:r>
            <a:r>
              <a:rPr lang="zh-CN" altLang="en-US" smtClean="0"/>
              <a:t>技能高考</a:t>
            </a:r>
            <a:endParaRPr lang="en-US" altLang="zh-CN"/>
          </a:p>
        </p:txBody>
      </p:sp>
      <p:sp>
        <p:nvSpPr>
          <p:cNvPr id="5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E01C0-99DF-4CCB-86F5-8AED0AF375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181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Clr>
                <a:srgbClr val="FFC000"/>
              </a:buClr>
              <a:buFontTx/>
              <a:buNone/>
              <a:defRPr/>
            </a:lvl1pPr>
            <a:lvl2pPr marL="457200" indent="0">
              <a:buClr>
                <a:srgbClr val="FFC000"/>
              </a:buClr>
              <a:buFontTx/>
              <a:buNone/>
              <a:defRPr/>
            </a:lvl2pPr>
            <a:lvl3pPr marL="914400" indent="0">
              <a:buClr>
                <a:srgbClr val="FFC000"/>
              </a:buClr>
              <a:buFontTx/>
              <a:buNone/>
              <a:defRPr/>
            </a:lvl3pPr>
            <a:lvl4pPr marL="1371600" indent="0">
              <a:buClr>
                <a:srgbClr val="FFC000"/>
              </a:buClr>
              <a:buFontTx/>
              <a:buNone/>
              <a:defRPr/>
            </a:lvl4pPr>
            <a:lvl5pPr marL="1828800" indent="0">
              <a:buClr>
                <a:srgbClr val="FFC000"/>
              </a:buClr>
              <a:buFontTx/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smtClean="0"/>
              <a:t>2020</a:t>
            </a:r>
            <a:r>
              <a:rPr lang="zh-CN" altLang="en-US" smtClean="0"/>
              <a:t>技能高考</a:t>
            </a:r>
            <a:endParaRPr lang="en-US" altLang="zh-CN"/>
          </a:p>
        </p:txBody>
      </p:sp>
      <p:sp>
        <p:nvSpPr>
          <p:cNvPr id="6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D6346-40FA-4E87-BF63-2D8646DCAE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9615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  <p:sndAc>
          <p:stSnd>
            <p:snd r:embed="rId1" name="chimes.wav"/>
          </p:stSnd>
        </p:sndAc>
      </p:transition>
    </mc:Choice>
    <mc:Fallback>
      <p:transition spd="slow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reeform 2"/>
          <p:cNvSpPr>
            <a:spLocks/>
          </p:cNvSpPr>
          <p:nvPr/>
        </p:nvSpPr>
        <p:spPr bwMode="hidden">
          <a:xfrm>
            <a:off x="6627813" y="6429375"/>
            <a:ext cx="285750" cy="209550"/>
          </a:xfrm>
          <a:custGeom>
            <a:avLst/>
            <a:gdLst/>
            <a:ahLst/>
            <a:cxnLst>
              <a:cxn ang="0">
                <a:pos x="0" y="132"/>
              </a:cxn>
              <a:cxn ang="0">
                <a:pos x="29" y="132"/>
              </a:cxn>
              <a:cxn ang="0">
                <a:pos x="77" y="108"/>
              </a:cxn>
              <a:cxn ang="0">
                <a:pos x="119" y="78"/>
              </a:cxn>
              <a:cxn ang="0">
                <a:pos x="155" y="48"/>
              </a:cxn>
              <a:cxn ang="0">
                <a:pos x="179" y="12"/>
              </a:cxn>
              <a:cxn ang="0">
                <a:pos x="173" y="6"/>
              </a:cxn>
              <a:cxn ang="0">
                <a:pos x="167" y="0"/>
              </a:cxn>
              <a:cxn ang="0">
                <a:pos x="137" y="42"/>
              </a:cxn>
              <a:cxn ang="0">
                <a:pos x="101" y="78"/>
              </a:cxn>
              <a:cxn ang="0">
                <a:pos x="53" y="108"/>
              </a:cxn>
              <a:cxn ang="0">
                <a:pos x="0" y="132"/>
              </a:cxn>
              <a:cxn ang="0">
                <a:pos x="0" y="132"/>
              </a:cxn>
            </a:cxnLst>
            <a:rect l="0" t="0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87843"/>
                  <a:invGamma/>
                </a:schemeClr>
              </a:gs>
            </a:gsLst>
            <a:lin ang="1890000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pSp>
        <p:nvGrpSpPr>
          <p:cNvPr id="1027" name="Group 3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20484" name="Freeform 4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4" name="Group 5"/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20486" name="Oval 6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87" name="Oval 7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88" name="Oval 8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89" name="Oval 9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0" name="Oval 10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1" name="Freeform 11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2" name="Freeform 12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3" name="Freeform 13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4" name="Freeform 14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5" name="Freeform 15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6" name="Oval 16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1035" name="Group 17"/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20498" name="Oval 18"/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499" name="Oval 19"/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0" name="Oval 20"/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1" name="Oval 21"/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2" name="Oval 22"/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3" name="Oval 23"/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4" name="Oval 24"/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5" name="Oval 25"/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6" name="Freeform 26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7" name="Freeform 27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8" name="Freeform 28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09" name="Freeform 29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0" name="Freeform 30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1" name="Freeform 31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2" name="Freeform 32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3" name="Freeform 33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4" name="Freeform 34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5" name="Freeform 35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1036" name="Group 36"/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20517" name="Freeform 37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8" name="Freeform 38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19" name="Freeform 39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0" name="Freeform 40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1" name="Freeform 41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2" name="Freeform 42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3" name="Freeform 43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4" name="Freeform 44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5" name="Freeform 45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6" name="Freeform 46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7" name="Freeform 47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8" name="Oval 48"/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29" name="Oval 49"/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0" name="Oval 50"/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1" name="Oval 51"/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2" name="Oval 52"/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3" name="Oval 53"/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1037" name="Group 54"/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20535" name="Freeform 55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6" name="Freeform 56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7" name="Freeform 57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8" name="Freeform 58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39" name="Freeform 59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40" name="Freeform 60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0541" name="Freeform 61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045" name="Group 62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20543" name="Oval 63"/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544" name="Oval 64"/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545" name="Oval 65"/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546" name="Oval 66"/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</p:grpSp>
      </p:grpSp>
      <p:sp>
        <p:nvSpPr>
          <p:cNvPr id="20547" name="Rectangle 6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48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549" name="Rectangle 6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0" name="Rectangle 7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zh-CN" smtClean="0"/>
              <a:t>2020</a:t>
            </a:r>
            <a:r>
              <a:rPr lang="zh-CN" altLang="en-US" smtClean="0"/>
              <a:t>技能高考</a:t>
            </a:r>
            <a:endParaRPr lang="en-US" altLang="zh-CN"/>
          </a:p>
        </p:txBody>
      </p:sp>
      <p:sp>
        <p:nvSpPr>
          <p:cNvPr id="20551" name="Rectangle 7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E043865B-5BAD-41AD-BB4F-9506EC52FD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6" r:id="rId1"/>
    <p:sldLayoutId id="2147483662" r:id="rId2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  <p:sndAc>
          <p:stSnd>
            <p:snd r:embed="rId4" name="chimes.wav"/>
          </p:stSnd>
        </p:sndAc>
      </p:transition>
    </mc:Choice>
    <mc:Fallback>
      <p:transition spd="slow">
        <p:fade/>
        <p:sndAc>
          <p:stSnd>
            <p:snd r:embed="rId4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8" grpId="0" build="p">
        <p:tmplLst>
          <p:tmpl lvl="1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5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itchFamily="2" charset="2"/>
        <a:buChar char="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itchFamily="2" charset="2"/>
        <a:buChar char="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itchFamily="2" charset="2"/>
        <a:buChar char="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itchFamily="2" charset="2"/>
        <a:buChar char="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SzPct val="115000"/>
        <a:buFont typeface="Wingdings" pitchFamily="2" charset="2"/>
        <a:buChar char="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7200" dirty="0" smtClean="0">
                <a:solidFill>
                  <a:srgbClr val="92D050"/>
                </a:solidFill>
                <a:latin typeface="华文行楷" pitchFamily="2" charset="-122"/>
                <a:ea typeface="华文行楷" pitchFamily="2" charset="-122"/>
              </a:rPr>
              <a:t>关于水   你知道多少</a:t>
            </a:r>
            <a:endParaRPr lang="zh-CN" altLang="en-US" sz="7200" dirty="0">
              <a:solidFill>
                <a:srgbClr val="92D05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2020</a:t>
            </a:r>
            <a:r>
              <a:rPr lang="zh-CN" altLang="en-US" smtClean="0"/>
              <a:t>技能高考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可利用的水资源</a:t>
            </a:r>
          </a:p>
        </p:txBody>
      </p:sp>
      <p:sp>
        <p:nvSpPr>
          <p:cNvPr id="13320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SzPct val="100000"/>
              <a:defRPr/>
            </a:pPr>
            <a:r>
              <a:rPr lang="zh-CN" altLang="en-US" dirty="0" smtClean="0"/>
              <a:t>地球上的水资源，从广义来说是指水圈内水量的总体。 </a:t>
            </a:r>
          </a:p>
        </p:txBody>
      </p:sp>
      <p:pic>
        <p:nvPicPr>
          <p:cNvPr id="1026" name="Picture 2" descr="C:\Users\Administrator\Desktop\20100709_9a958ab4847de6169f9cHKRh2WqoB1L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224598"/>
            <a:ext cx="4953000" cy="3597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2020</a:t>
            </a:r>
            <a:r>
              <a:rPr lang="zh-CN" altLang="en-US" smtClean="0"/>
              <a:t>技能高考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229600" cy="4525963"/>
          </a:xfrm>
        </p:spPr>
        <p:txBody>
          <a:bodyPr/>
          <a:lstStyle/>
          <a:p>
            <a:pPr eaLnBrk="1" hangingPunct="1">
              <a:buSzPct val="100000"/>
              <a:defRPr/>
            </a:pPr>
            <a:r>
              <a:rPr lang="zh-CN" altLang="en-US" dirty="0" smtClean="0"/>
              <a:t>海水是咸水，不能直接利用，所以通常所说的水资源主要是指陆地上的淡水资源 。</a:t>
            </a:r>
          </a:p>
          <a:p>
            <a:pPr eaLnBrk="1" hangingPunct="1">
              <a:buSzPct val="100000"/>
              <a:defRPr/>
            </a:pPr>
            <a:r>
              <a:rPr lang="zh-CN" altLang="en-US" dirty="0" smtClean="0"/>
              <a:t>陆地上的淡水资源只占地球上水体总量</a:t>
            </a:r>
            <a:r>
              <a:rPr lang="en-US" altLang="zh-CN" dirty="0" smtClean="0"/>
              <a:t>2.53</a:t>
            </a:r>
            <a:r>
              <a:rPr lang="zh-CN" altLang="en-US" dirty="0" smtClean="0"/>
              <a:t>％，其中大部分（近</a:t>
            </a:r>
            <a:r>
              <a:rPr lang="en-US" altLang="zh-CN" dirty="0" smtClean="0"/>
              <a:t>70</a:t>
            </a:r>
            <a:r>
              <a:rPr lang="zh-CN" altLang="en-US" dirty="0" smtClean="0"/>
              <a:t>％）是固体冰川，即分布在两极地区和中、低纬度地区的高山冰川，还很难加以利用。 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2020</a:t>
            </a:r>
            <a:r>
              <a:rPr lang="zh-CN" altLang="en-US" smtClean="0"/>
              <a:t>技能高考</a:t>
            </a:r>
            <a:endParaRPr lang="en-US" altLang="zh-CN"/>
          </a:p>
        </p:txBody>
      </p:sp>
      <p:sp>
        <p:nvSpPr>
          <p:cNvPr id="3" name="动作按钮: 前进或下一项 2">
            <a:hlinkClick r:id="" action="ppaction://hlinkshowjump?jump=nextslide" highlightClick="1"/>
          </p:cNvPr>
          <p:cNvSpPr/>
          <p:nvPr/>
        </p:nvSpPr>
        <p:spPr>
          <a:xfrm>
            <a:off x="838200" y="5334000"/>
            <a:ext cx="685800" cy="68580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209800"/>
            <a:ext cx="8229600" cy="4525963"/>
          </a:xfrm>
        </p:spPr>
        <p:txBody>
          <a:bodyPr/>
          <a:lstStyle/>
          <a:p>
            <a:pPr eaLnBrk="1" hangingPunct="1">
              <a:buSzPct val="100000"/>
              <a:defRPr/>
            </a:pPr>
            <a:r>
              <a:rPr lang="zh-CN" altLang="en-US" dirty="0" smtClean="0"/>
              <a:t>在全部水资源中，</a:t>
            </a:r>
            <a:r>
              <a:rPr lang="en-US" altLang="zh-CN" dirty="0" smtClean="0"/>
              <a:t>97</a:t>
            </a:r>
            <a:r>
              <a:rPr lang="zh-CN" altLang="en-US" dirty="0" smtClean="0"/>
              <a:t>．</a:t>
            </a:r>
            <a:r>
              <a:rPr lang="en-US" altLang="zh-CN" dirty="0" smtClean="0"/>
              <a:t>5</a:t>
            </a:r>
            <a:r>
              <a:rPr lang="zh-CN" altLang="en-US" dirty="0" smtClean="0"/>
              <a:t>％是咸水，无法饮用。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我们面临的问题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2020</a:t>
            </a:r>
            <a:r>
              <a:rPr lang="zh-CN" altLang="en-US" smtClean="0"/>
              <a:t>技能高考</a:t>
            </a:r>
            <a:endParaRPr lang="en-US" altLang="zh-CN"/>
          </a:p>
        </p:txBody>
      </p:sp>
      <p:pic>
        <p:nvPicPr>
          <p:cNvPr id="3" name="图片 2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462" y="2971800"/>
            <a:ext cx="4320000" cy="324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8229600" cy="4525963"/>
          </a:xfrm>
        </p:spPr>
        <p:txBody>
          <a:bodyPr/>
          <a:lstStyle/>
          <a:p>
            <a:pPr eaLnBrk="1" hangingPunct="1">
              <a:buSzPct val="100000"/>
              <a:defRPr/>
            </a:pPr>
            <a:r>
              <a:rPr lang="zh-CN" altLang="en-US" dirty="0" smtClean="0"/>
              <a:t>人类真正能够利用的是江河湖泊以及地下水中的一部分，仅占地球总水量的</a:t>
            </a:r>
            <a:r>
              <a:rPr lang="en-US" altLang="zh-CN" dirty="0" smtClean="0"/>
              <a:t>0</a:t>
            </a:r>
            <a:r>
              <a:rPr lang="zh-CN" altLang="en-US" dirty="0" smtClean="0"/>
              <a:t>．</a:t>
            </a:r>
            <a:r>
              <a:rPr lang="en-US" altLang="zh-CN" dirty="0" smtClean="0"/>
              <a:t>26</a:t>
            </a:r>
            <a:r>
              <a:rPr lang="zh-CN" altLang="en-US" dirty="0" smtClean="0"/>
              <a:t>％，而且分布不均。 </a:t>
            </a:r>
          </a:p>
          <a:p>
            <a:pPr eaLnBrk="1" hangingPunct="1">
              <a:buSzPct val="100000"/>
              <a:defRPr/>
            </a:pPr>
            <a:r>
              <a:rPr lang="zh-CN" altLang="en-US" dirty="0" smtClean="0"/>
              <a:t>水污染也进一步蚕食着大量可供消费的水资源，并危害人类的健康。 </a:t>
            </a:r>
          </a:p>
          <a:p>
            <a:pPr eaLnBrk="1" hangingPunct="1">
              <a:buSzPct val="100000"/>
              <a:defRPr/>
            </a:pPr>
            <a:r>
              <a:rPr lang="en-US" altLang="zh-CN" dirty="0" smtClean="0"/>
              <a:t>……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2020</a:t>
            </a:r>
            <a:r>
              <a:rPr lang="zh-CN" altLang="en-US" smtClean="0"/>
              <a:t>技能高考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我们应该做到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800100" indent="-457200" eaLnBrk="1" hangingPunct="1">
              <a:lnSpc>
                <a:spcPct val="90000"/>
              </a:lnSpc>
              <a:buSzPct val="100000"/>
              <a:defRPr/>
            </a:pPr>
            <a:r>
              <a:rPr lang="zh-CN" altLang="en-US" dirty="0" smtClean="0"/>
              <a:t>必须懂得如何科学用水；</a:t>
            </a:r>
          </a:p>
          <a:p>
            <a:pPr marL="800100" indent="-457200" eaLnBrk="1" hangingPunct="1">
              <a:lnSpc>
                <a:spcPct val="90000"/>
              </a:lnSpc>
              <a:buSzPct val="100000"/>
              <a:defRPr/>
            </a:pPr>
            <a:r>
              <a:rPr lang="zh-CN" altLang="en-US" dirty="0" smtClean="0"/>
              <a:t>从每个家庭做起，建设节水型家庭；</a:t>
            </a:r>
          </a:p>
          <a:p>
            <a:pPr marL="800100" indent="-457200" eaLnBrk="1" hangingPunct="1">
              <a:lnSpc>
                <a:spcPct val="90000"/>
              </a:lnSpc>
              <a:buSzPct val="100000"/>
              <a:defRPr/>
            </a:pPr>
            <a:r>
              <a:rPr lang="zh-CN" altLang="en-US" dirty="0" smtClean="0"/>
              <a:t>大力加强节水型社会建设，坚持开源与节流并重、节流优先的原则，提高水资源的利用效率和效益，实现水资源可持续利用；</a:t>
            </a:r>
          </a:p>
          <a:p>
            <a:pPr marL="800100" indent="-457200" eaLnBrk="1" hangingPunct="1">
              <a:lnSpc>
                <a:spcPct val="90000"/>
              </a:lnSpc>
              <a:buSzPct val="100000"/>
              <a:defRPr/>
            </a:pPr>
            <a:r>
              <a:rPr lang="zh-CN" altLang="en-US" dirty="0" smtClean="0"/>
              <a:t>控制污水及污染物排放，建设污水处理系统，加强水环境监测，强化法律意识，依法管理水资源、水环境。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2020</a:t>
            </a:r>
            <a:r>
              <a:rPr lang="zh-CN" altLang="en-US" smtClean="0"/>
              <a:t>技能高考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97180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谢谢观看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2020</a:t>
            </a:r>
            <a:r>
              <a:rPr lang="zh-CN" altLang="en-US" smtClean="0"/>
              <a:t>技能高考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glitter pattern="hexagon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Ripple">
  <a:themeElements>
    <a:clrScheme name="Ripple 3">
      <a:dk1>
        <a:srgbClr val="008AE8"/>
      </a:dk1>
      <a:lt1>
        <a:srgbClr val="FFFFFF"/>
      </a:lt1>
      <a:dk2>
        <a:srgbClr val="0068AE"/>
      </a:dk2>
      <a:lt2>
        <a:srgbClr val="CCECFF"/>
      </a:lt2>
      <a:accent1>
        <a:srgbClr val="009999"/>
      </a:accent1>
      <a:accent2>
        <a:srgbClr val="0088E4"/>
      </a:accent2>
      <a:accent3>
        <a:srgbClr val="AAB9D3"/>
      </a:accent3>
      <a:accent4>
        <a:srgbClr val="DADADA"/>
      </a:accent4>
      <a:accent5>
        <a:srgbClr val="AACACA"/>
      </a:accent5>
      <a:accent6>
        <a:srgbClr val="007BCF"/>
      </a:accent6>
      <a:hlink>
        <a:srgbClr val="99FF99"/>
      </a:hlink>
      <a:folHlink>
        <a:srgbClr val="AFE1FF"/>
      </a:folHlink>
    </a:clrScheme>
    <a:fontScheme name="Ripple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ipple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0099FF"/>
        </a:accent1>
        <a:accent2>
          <a:srgbClr val="006699"/>
        </a:accent2>
        <a:accent3>
          <a:srgbClr val="AAACB1"/>
        </a:accent3>
        <a:accent4>
          <a:srgbClr val="DADADA"/>
        </a:accent4>
        <a:accent5>
          <a:srgbClr val="AACAFF"/>
        </a:accent5>
        <a:accent6>
          <a:srgbClr val="005C8A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6D9D97"/>
        </a:accent1>
        <a:accent2>
          <a:srgbClr val="53718C"/>
        </a:accent2>
        <a:accent3>
          <a:srgbClr val="B0B9C3"/>
        </a:accent3>
        <a:accent4>
          <a:srgbClr val="DADADA"/>
        </a:accent4>
        <a:accent5>
          <a:srgbClr val="BACCC9"/>
        </a:accent5>
        <a:accent6>
          <a:srgbClr val="4A667E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9999"/>
        </a:accent1>
        <a:accent2>
          <a:srgbClr val="0088E4"/>
        </a:accent2>
        <a:accent3>
          <a:srgbClr val="AAB9D3"/>
        </a:accent3>
        <a:accent4>
          <a:srgbClr val="DADADA"/>
        </a:accent4>
        <a:accent5>
          <a:srgbClr val="AACACA"/>
        </a:accent5>
        <a:accent6>
          <a:srgbClr val="007BCF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66CCFF"/>
        </a:accent1>
        <a:accent2>
          <a:srgbClr val="9966FF"/>
        </a:accent2>
        <a:accent3>
          <a:srgbClr val="B8B8CA"/>
        </a:accent3>
        <a:accent4>
          <a:srgbClr val="DADADA"/>
        </a:accent4>
        <a:accent5>
          <a:srgbClr val="B8E2FF"/>
        </a:accent5>
        <a:accent6>
          <a:srgbClr val="8A5CE7"/>
        </a:accent6>
        <a:hlink>
          <a:srgbClr val="0099CC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99FF"/>
        </a:accent1>
        <a:accent2>
          <a:srgbClr val="008080"/>
        </a:accent2>
        <a:accent3>
          <a:srgbClr val="AAB8B8"/>
        </a:accent3>
        <a:accent4>
          <a:srgbClr val="DADADA"/>
        </a:accent4>
        <a:accent5>
          <a:srgbClr val="AACAFF"/>
        </a:accent5>
        <a:accent6>
          <a:srgbClr val="007373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9CA8A4"/>
        </a:accent1>
        <a:accent2>
          <a:srgbClr val="CBD7CE"/>
        </a:accent2>
        <a:accent3>
          <a:srgbClr val="CEDAD1"/>
        </a:accent3>
        <a:accent4>
          <a:srgbClr val="DADADA"/>
        </a:accent4>
        <a:accent5>
          <a:srgbClr val="CBD1CF"/>
        </a:accent5>
        <a:accent6>
          <a:srgbClr val="B8C3BA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5D8770"/>
        </a:accent1>
        <a:accent2>
          <a:srgbClr val="686B5D"/>
        </a:accent2>
        <a:accent3>
          <a:srgbClr val="B3B3AF"/>
        </a:accent3>
        <a:accent4>
          <a:srgbClr val="BCBAB1"/>
        </a:accent4>
        <a:accent5>
          <a:srgbClr val="B6C3BB"/>
        </a:accent5>
        <a:accent6>
          <a:srgbClr val="5E6053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pple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A4BCC4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CFDADE"/>
        </a:accent5>
        <a:accent6>
          <a:srgbClr val="E7E7E7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pple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FFCC66"/>
        </a:accent1>
        <a:accent2>
          <a:srgbClr val="E6E3AC"/>
        </a:accent2>
        <a:accent3>
          <a:srgbClr val="E8E5D9"/>
        </a:accent3>
        <a:accent4>
          <a:srgbClr val="000000"/>
        </a:accent4>
        <a:accent5>
          <a:srgbClr val="FFE2B8"/>
        </a:accent5>
        <a:accent6>
          <a:srgbClr val="D0CE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Ripple</Template>
  <TotalTime>169</TotalTime>
  <Words>254</Words>
  <Application>Microsoft Office PowerPoint</Application>
  <PresentationFormat>全屏显示(4:3)</PresentationFormat>
  <Paragraphs>23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Ripple</vt:lpstr>
      <vt:lpstr>关于水   你知道多少</vt:lpstr>
      <vt:lpstr>可利用的水资源</vt:lpstr>
      <vt:lpstr>PowerPoint 演示文稿</vt:lpstr>
      <vt:lpstr>我们面临的问题</vt:lpstr>
      <vt:lpstr>PowerPoint 演示文稿</vt:lpstr>
      <vt:lpstr>我们应该做到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关于水   你知道多少</dc:title>
  <dc:creator>s.p</dc:creator>
  <cp:lastModifiedBy>86133</cp:lastModifiedBy>
  <cp:revision>29</cp:revision>
  <cp:lastPrinted>1601-01-01T00:00:00Z</cp:lastPrinted>
  <dcterms:created xsi:type="dcterms:W3CDTF">1601-01-01T00:00:00Z</dcterms:created>
  <dcterms:modified xsi:type="dcterms:W3CDTF">2021-04-29T06:51:04Z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