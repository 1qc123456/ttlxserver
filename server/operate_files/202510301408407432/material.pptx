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15"/>
  </p:handoutMasterIdLst>
  <p:sldIdLst>
    <p:sldId id="256" r:id="rId3"/>
    <p:sldId id="257" r:id="rId4"/>
    <p:sldId id="274" r:id="rId6"/>
    <p:sldId id="286" r:id="rId7"/>
    <p:sldId id="287" r:id="rId8"/>
    <p:sldId id="275" r:id="rId9"/>
    <p:sldId id="288" r:id="rId10"/>
    <p:sldId id="289" r:id="rId11"/>
    <p:sldId id="276" r:id="rId12"/>
    <p:sldId id="290" r:id="rId13"/>
    <p:sldId id="291" r:id="rId14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kiosk/>
    <p:sldAll/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77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/>
    </mc:Choice>
    <mc:Fallback>
      <p:transition spd="slow"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Autofit/>
          </a:bodyPr>
          <a:lstStyle>
            <a:lvl1pPr>
              <a:defRPr sz="4000"/>
            </a:lvl1pPr>
          </a:lstStyle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0" indent="0" eaLnBrk="1" fontAlgn="auto" latinLnBrk="0" hangingPunct="1">
              <a:lnSpc>
                <a:spcPct val="150000"/>
              </a:lnSpc>
              <a:buNone/>
              <a:defRPr sz="1800"/>
            </a:lvl1pPr>
            <a:lvl2pPr marL="457200" indent="0" eaLnBrk="1" fontAlgn="auto" latinLnBrk="0" hangingPunct="1">
              <a:lnSpc>
                <a:spcPct val="150000"/>
              </a:lnSpc>
              <a:buNone/>
              <a:defRPr sz="1800"/>
            </a:lvl2pPr>
            <a:lvl3pPr marL="914400" indent="0" eaLnBrk="1" fontAlgn="auto" latinLnBrk="0" hangingPunct="1">
              <a:lnSpc>
                <a:spcPct val="150000"/>
              </a:lnSpc>
              <a:buNone/>
              <a:defRPr sz="1800"/>
            </a:lvl3pPr>
            <a:lvl4pPr marL="1371600" indent="0" eaLnBrk="1" fontAlgn="auto" latinLnBrk="0" hangingPunct="1">
              <a:lnSpc>
                <a:spcPct val="150000"/>
              </a:lnSpc>
              <a:buNone/>
              <a:defRPr sz="1800"/>
            </a:lvl4pPr>
            <a:lvl5pPr marL="1828800" indent="0" eaLnBrk="1" fontAlgn="auto" latinLnBrk="0" hangingPunct="1">
              <a:lnSpc>
                <a:spcPct val="150000"/>
              </a:lnSpc>
              <a:buNone/>
              <a:defRPr sz="18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/>
    </mc:Choice>
    <mc:Fallback>
      <p:transition spd="slow"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Autofit/>
          </a:bodyPr>
          <a:lstStyle>
            <a:lvl1pPr>
              <a:defRPr sz="32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/>
    </mc:Choice>
    <mc:Fallback>
      <p:transition spd="slow"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/>
    </mc:Choice>
    <mc:Fallback>
      <p:transition spd="slow"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/>
    </mc:Choice>
    <mc:Fallback>
      <p:transition spd="slow"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/>
    </mc:Choice>
    <mc:Fallback>
      <p:transition spd="slow"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/>
    </mc:Choice>
    <mc:Fallback>
      <p:transition spd="slow"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/>
    </mc:Choice>
    <mc:Fallback>
      <p:transition spd="slow"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Autofit/>
          </a:bodyPr>
          <a:lstStyle>
            <a:lvl1pPr algn="l">
              <a:buNone/>
              <a:defRPr sz="4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 smtClean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50000"/>
              </a:lnSpc>
              <a:spcAft>
                <a:spcPts val="1000"/>
              </a:spcAft>
              <a:defRPr sz="2400" spc="300"/>
            </a:lvl1pPr>
            <a:lvl2pPr marL="685800" indent="-228600" eaLnBrk="1" fontAlgn="auto" latinLnBrk="0" hangingPunct="1">
              <a:lnSpc>
                <a:spcPct val="150000"/>
              </a:lnSpc>
              <a:defRPr sz="2400" spc="300"/>
            </a:lvl2pPr>
            <a:lvl3pPr marL="1143000" indent="-228600" eaLnBrk="1" fontAlgn="auto" latinLnBrk="0" hangingPunct="1">
              <a:lnSpc>
                <a:spcPct val="150000"/>
              </a:lnSpc>
              <a:defRPr sz="2400" spc="300"/>
            </a:lvl3pPr>
            <a:lvl4pPr marL="1600200" indent="-228600" eaLnBrk="1" fontAlgn="auto" latinLnBrk="0" hangingPunct="1">
              <a:lnSpc>
                <a:spcPct val="150000"/>
              </a:lnSpc>
              <a:defRPr sz="2400" spc="300"/>
            </a:lvl4pPr>
            <a:lvl5pPr marL="2057400" indent="-228600" eaLnBrk="1" fontAlgn="auto" latinLnBrk="0" hangingPunct="1">
              <a:lnSpc>
                <a:spcPct val="150000"/>
              </a:lnSpc>
              <a:defRPr sz="2400"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/>
    </mc:Choice>
    <mc:Fallback>
      <p:transition spd="slow"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/>
    </mc:Choice>
    <mc:Fallback>
      <p:transition spd="slow"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/>
    </mc:Choice>
    <mc:Fallback>
      <p:transition spd="slow"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250" advClick="0"/>
    </mc:Choice>
    <mc:Fallback>
      <p:transition spd="slow" advClick="0"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66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image" Target="../media/image1.jpeg"/><Relationship Id="rId1" Type="http://schemas.openxmlformats.org/officeDocument/2006/relationships/tags" Target="../tags/tag6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7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3.xml"/><Relationship Id="rId2" Type="http://schemas.openxmlformats.org/officeDocument/2006/relationships/image" Target="../media/image2.png"/><Relationship Id="rId1" Type="http://schemas.openxmlformats.org/officeDocument/2006/relationships/tags" Target="../tags/tag7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7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1288800"/>
            <a:ext cx="9799200" cy="2570400"/>
          </a:xfrm>
        </p:spPr>
        <p:txBody>
          <a:bodyPr/>
          <a:p>
            <a:endParaRPr lang="zh-CN" altLang="zh-CN" sz="7200">
              <a:solidFill>
                <a:schemeClr val="tx1"/>
              </a:solidFill>
              <a:effectLst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/>
    </mc:Choice>
    <mc:Fallback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2923200" y="914400"/>
            <a:ext cx="1044000" cy="5029200"/>
          </a:xfrm>
        </p:spPr>
        <p:txBody>
          <a:bodyPr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/>
          </p:nvPr>
        </p:nvSpPr>
        <p:spPr>
          <a:xfrm>
            <a:off x="4589780" y="915035"/>
            <a:ext cx="3675380" cy="5028565"/>
          </a:xfrm>
        </p:spPr>
        <p:txBody>
          <a:bodyPr/>
          <a:p>
            <a:pPr marL="0" indent="0">
              <a:spcAft>
                <a:spcPts val="0"/>
              </a:spcAft>
              <a:buNone/>
            </a:pPr>
            <a:r>
              <a:rPr lang="zh-CN" altLang="en-US"/>
              <a:t> 秦灭六国</a:t>
            </a:r>
            <a:endParaRPr lang="zh-CN" altLang="en-US"/>
          </a:p>
          <a:p>
            <a:pPr marL="0" indent="0">
              <a:spcAft>
                <a:spcPts val="0"/>
              </a:spcAft>
              <a:buNone/>
            </a:pPr>
            <a:r>
              <a:rPr lang="zh-CN" altLang="en-US"/>
              <a:t> 确立中央集权制</a:t>
            </a:r>
            <a:endParaRPr lang="zh-CN" altLang="en-US"/>
          </a:p>
          <a:p>
            <a:pPr marL="0" indent="0">
              <a:spcAft>
                <a:spcPts val="0"/>
              </a:spcAft>
              <a:buNone/>
            </a:pPr>
            <a:r>
              <a:rPr lang="zh-CN" altLang="en-US"/>
              <a:t> 巩固统一的措施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/>
    </mc:Choice>
    <mc:Fallback>
      <p:transition spd="slow"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18800" y="2804400"/>
            <a:ext cx="7768590" cy="873760"/>
          </a:xfrm>
        </p:spPr>
        <p:txBody>
          <a:bodyPr>
            <a:normAutofit/>
          </a:bodyPr>
          <a:p>
            <a:pPr algn="ctr"/>
            <a:r>
              <a:rPr lang="zh-CN" altLang="en-US"/>
              <a:t>一、秦灭六国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/>
    </mc:Choice>
    <mc:Fallback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原因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90000" y="1936800"/>
            <a:ext cx="6375600" cy="3517200"/>
          </a:xfrm>
        </p:spPr>
        <p:txBody>
          <a:bodyPr/>
          <a:p>
            <a:pPr>
              <a:spcAft>
                <a:spcPts val="0"/>
              </a:spcAft>
            </a:pPr>
            <a:r>
              <a:rPr lang="zh-CN" altLang="en-US"/>
              <a:t>战乱频繁，百姓渴望安定</a:t>
            </a:r>
            <a:endParaRPr lang="zh-CN" altLang="en-US"/>
          </a:p>
          <a:p>
            <a:pPr>
              <a:spcAft>
                <a:spcPts val="0"/>
              </a:spcAft>
            </a:pPr>
            <a:r>
              <a:rPr lang="zh-CN" altLang="en-US"/>
              <a:t>商鞅变法，秦国实力超群</a:t>
            </a:r>
            <a:endParaRPr lang="zh-CN" altLang="en-US"/>
          </a:p>
          <a:p>
            <a:pPr>
              <a:spcAft>
                <a:spcPts val="0"/>
              </a:spcAft>
            </a:pPr>
            <a:r>
              <a:rPr lang="zh-CN" altLang="en-US"/>
              <a:t>秦王嬴政招募人才等，积极策划</a:t>
            </a:r>
            <a:endParaRPr lang="zh-CN" altLang="en-US"/>
          </a:p>
        </p:txBody>
      </p:sp>
      <p:pic>
        <p:nvPicPr>
          <p:cNvPr id="4" name="图片 3" descr="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63200" y="1936800"/>
            <a:ext cx="4901966" cy="36504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/>
    </mc:Choice>
    <mc:Fallback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意义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25200" y="1760400"/>
            <a:ext cx="9583200" cy="4352400"/>
          </a:xfrm>
        </p:spPr>
        <p:txBody>
          <a:bodyPr/>
          <a:p>
            <a:pPr>
              <a:spcAft>
                <a:spcPts val="0"/>
              </a:spcAft>
            </a:pPr>
            <a:r>
              <a:rPr lang="zh-CN" altLang="en-US"/>
              <a:t>秦国统一是中国历史上的里程碑事件，核心意义在于结束了长期分裂战乱，建立起中国历史上第一个中央集权的封建王朝，不仅通过确立郡县制、统一文字、度量衡和货币打破了地域壁垒，促进了经济文化交流与民族融合，更奠定了此后两千多年中国古代政治制度的基本框架，塑造了 “大一统” 的历史传统与文化认同，从根本上筑牢了中国大一统的政治格局与文化根基。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/>
    </mc:Choice>
    <mc:Fallback>
      <p:transition spd="slow"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18970" y="2804160"/>
            <a:ext cx="8514080" cy="873760"/>
          </a:xfrm>
        </p:spPr>
        <p:txBody>
          <a:bodyPr>
            <a:normAutofit/>
          </a:bodyPr>
          <a:p>
            <a:pPr algn="ctr"/>
            <a:r>
              <a:rPr lang="zh-CN" altLang="en-US"/>
              <a:t>二、确立中央集权制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/>
    </mc:Choice>
    <mc:Fallback>
      <p:transition spd="slow"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背景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2400" y="2192400"/>
            <a:ext cx="11095200" cy="3718800"/>
          </a:xfrm>
        </p:spPr>
        <p:txBody>
          <a:bodyPr/>
          <a:p>
            <a:pPr>
              <a:spcAft>
                <a:spcPts val="0"/>
              </a:spcAft>
            </a:pPr>
            <a:r>
              <a:rPr lang="zh-CN" altLang="en-US"/>
              <a:t>秦国统一是中国历史上的里程碑事件，核心意义在于结束了长期分裂战乱，建立起中国历史上第一个中央集权的封建王朝，不仅通过确立郡县制、统一文字、度量衡和货币打破了地域壁垒，促进了经济文化交流与民族融合，更奠定了此后两千多年中国古代政治制度的基本框架，塑造了 “大一统” 的历史传统与文化认同，从根本上筑牢了中国大一统的政治格局与文化根基。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/>
    </mc:Choice>
    <mc:Fallback>
      <p:transition spd="slow"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3200" y="1879200"/>
            <a:ext cx="6400800" cy="2926800"/>
          </a:xfrm>
        </p:spPr>
        <p:txBody>
          <a:bodyPr/>
          <a:p>
            <a:pPr>
              <a:spcAft>
                <a:spcPts val="0"/>
              </a:spcAft>
            </a:pPr>
            <a:r>
              <a:rPr lang="zh-CN" altLang="en-US"/>
              <a:t>皇权至高无上；“始皇帝”——秦始皇</a:t>
            </a:r>
            <a:endParaRPr lang="zh-CN" altLang="en-US"/>
          </a:p>
          <a:p>
            <a:pPr>
              <a:spcAft>
                <a:spcPts val="0"/>
              </a:spcAft>
            </a:pPr>
            <a:r>
              <a:rPr lang="zh-CN" altLang="en-US"/>
              <a:t>中央设三公，由丞相、太尉、御史大夫组成</a:t>
            </a:r>
            <a:endParaRPr lang="zh-CN" altLang="en-US"/>
          </a:p>
          <a:p>
            <a:pPr>
              <a:spcAft>
                <a:spcPts val="0"/>
              </a:spcAft>
            </a:pPr>
            <a:r>
              <a:rPr lang="zh-CN" altLang="en-US"/>
              <a:t>地方推行郡县制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904000" y="1879200"/>
            <a:ext cx="6296025" cy="38195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/>
    </mc:Choice>
    <mc:Fallback>
      <p:transition spd="slow"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18970" y="2804160"/>
            <a:ext cx="8446770" cy="873760"/>
          </a:xfrm>
        </p:spPr>
        <p:txBody>
          <a:bodyPr>
            <a:normAutofit/>
          </a:bodyPr>
          <a:p>
            <a:pPr algn="ctr"/>
            <a:r>
              <a:rPr lang="zh-CN" altLang="en-US"/>
              <a:t>三、巩固统一的措施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/>
    </mc:Choice>
    <mc:Fallback>
      <p:transition spd="slow"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目的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698000"/>
          </a:xfrm>
        </p:spPr>
        <p:txBody>
          <a:bodyPr/>
          <a:p>
            <a:pPr>
              <a:spcAft>
                <a:spcPts val="0"/>
              </a:spcAft>
            </a:pPr>
            <a:r>
              <a:rPr lang="zh-CN" altLang="en-US">
                <a:effectLst>
                  <a:innerShdw blurRad="63500" dist="50800" dir="8100000">
                    <a:prstClr val="black">
                      <a:alpha val="50000"/>
                    </a:prstClr>
                  </a:innerShdw>
                </a:effectLst>
              </a:rPr>
              <a:t>政治上，通过确立皇帝制度、三公九卿制和郡县制，消除地方割据隐患，确保权力集中于中央和皇帝，实现对全国的有效管控。</a:t>
            </a:r>
            <a:endParaRPr lang="zh-CN" altLang="en-US">
              <a:effectLst>
                <a:innerShdw blurRad="63500" dist="50800" dir="8100000">
                  <a:prstClr val="black">
                    <a:alpha val="50000"/>
                  </a:prstClr>
                </a:innerShdw>
              </a:effectLst>
            </a:endParaRPr>
          </a:p>
          <a:p>
            <a:pPr>
              <a:spcAft>
                <a:spcPts val="0"/>
              </a:spcAft>
            </a:pPr>
            <a:r>
              <a:rPr lang="zh-CN" altLang="en-US">
                <a:effectLst>
                  <a:innerShdw blurRad="63500" dist="50800" dir="8100000">
                    <a:prstClr val="black">
                      <a:alpha val="50000"/>
                    </a:prstClr>
                  </a:innerShdw>
                </a:effectLst>
              </a:rPr>
              <a:t>经济文化上，统一文字、度量衡、货币和车轨，打破地域壁垒，促进全国范围内的经济交流与文化认同，筑牢大一统的社会基础。</a:t>
            </a:r>
            <a:endParaRPr lang="zh-CN" altLang="en-US">
              <a:effectLst>
                <a:innerShdw blurRad="63500" dist="50800" dir="8100000">
                  <a:prstClr val="black">
                    <a:alpha val="50000"/>
                  </a:prstClr>
                </a:innerShdw>
              </a:effectLst>
            </a:endParaRPr>
          </a:p>
          <a:p>
            <a:pPr>
              <a:spcAft>
                <a:spcPts val="0"/>
              </a:spcAft>
            </a:pPr>
            <a:r>
              <a:rPr lang="zh-CN" altLang="en-US">
                <a:effectLst>
                  <a:innerShdw blurRad="63500" dist="50800" dir="8100000">
                    <a:prstClr val="black">
                      <a:alpha val="50000"/>
                    </a:prstClr>
                  </a:innerShdw>
                </a:effectLst>
              </a:rPr>
              <a:t>军事与社会层面，修筑长城、驰道，推行严刑峻法，抵御外部侵扰、保障交通畅通，同时稳定社会秩序，防止叛乱发生，巩固王朝统治根基</a:t>
            </a:r>
            <a:endParaRPr lang="zh-CN" altLang="en-US">
              <a:effectLst>
                <a:innerShdw blurRad="63500" dist="50800" dir="8100000">
                  <a:prstClr val="black">
                    <a:alpha val="50000"/>
                  </a:prstClr>
                </a:innerShdw>
              </a:effectLst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/>
    </mc:Choice>
    <mc:Fallback>
      <p:transition spd="slow"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方向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/>
              <a:t>围绕政治、经济、文化、军事、社会治理五大核心方向展开，政治上确立皇帝制度、三公九卿制并推行郡县制，强化中央集权与地方管控；经济上统一货币、度量衡及车轨，打破地域壁垒以促进全国一体化发展；文化上以小篆为标准统一文字，同时通过焚书坑儒试图统一思想舆论，凝聚文化认同；军事上北击匈奴、修筑长城抵御外患，南征百越扩大疆域并加强管辖；社会治理方面推行严刑峻法规范秩序，迁徙六国贵族豪强便于监视控制，全方位筑牢大一统王朝的统治根基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/>
    </mc:Choice>
    <mc:Fallback>
      <p:transition spd="slow" advClick="0"/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COMMONDATA" val="eyJoZGlkIjoiNzFlMGY3OGRmZGU1YjQ0MmVmN2U4Yjg3M2ZkYWM1ZjIifQ=="/>
  <p:tag name="commondata" val="eyJoZGlkIjoiMDc1NGYxZTE5YjIxODQ2YjU3NGJkMjYwN2YzNDUwN2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852</Words>
  <Application>WPS 演示</Application>
  <PresentationFormat>宽屏</PresentationFormat>
  <Paragraphs>40</Paragraphs>
  <Slides>11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Wingdings</vt:lpstr>
      <vt:lpstr>Arial Unicode MS</vt:lpstr>
      <vt:lpstr>Calibri</vt:lpstr>
      <vt:lpstr>WPS</vt:lpstr>
      <vt:lpstr>PowerPoint 演示文稿</vt:lpstr>
      <vt:lpstr>目录</vt:lpstr>
      <vt:lpstr>一、秦灭六国</vt:lpstr>
      <vt:lpstr>原因</vt:lpstr>
      <vt:lpstr>意义</vt:lpstr>
      <vt:lpstr>二、确立中央集权制</vt:lpstr>
      <vt:lpstr>背景</vt:lpstr>
      <vt:lpstr>PowerPoint 演示文稿</vt:lpstr>
      <vt:lpstr>三、巩固统一的措施</vt:lpstr>
      <vt:lpstr>目的</vt:lpstr>
      <vt:lpstr>方向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HF</cp:lastModifiedBy>
  <cp:revision>163</cp:revision>
  <dcterms:created xsi:type="dcterms:W3CDTF">2019-06-19T02:08:00Z</dcterms:created>
  <dcterms:modified xsi:type="dcterms:W3CDTF">2026-02-28T09:40:26Z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BC260DC4B84A4B59AC0037C6E21E1E1E_11</vt:lpwstr>
  </property>
</Properties>
</file>