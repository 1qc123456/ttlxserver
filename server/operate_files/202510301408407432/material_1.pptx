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5"/>
  </p:handoutMasterIdLst>
  <p:sldIdLst>
    <p:sldId id="256" r:id="rId3"/>
    <p:sldId id="257" r:id="rId4"/>
    <p:sldId id="274" r:id="rId5"/>
    <p:sldId id="278" r:id="rId6"/>
    <p:sldId id="279" r:id="rId7"/>
    <p:sldId id="275" r:id="rId8"/>
    <p:sldId id="280" r:id="rId9"/>
    <p:sldId id="281" r:id="rId10"/>
    <p:sldId id="276" r:id="rId11"/>
    <p:sldId id="282" r:id="rId12"/>
    <p:sldId id="283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秦定九州" id="{1d06ccfe-57e5-4067-a0d3-6e75966166a5}">
          <p14:sldIdLst>
            <p14:sldId id="256"/>
            <p14:sldId id="257"/>
          </p14:sldIdLst>
        </p14:section>
        <p14:section name="灭六国" id="{60a6815a-453c-4d37-ab84-2b781117d3eb}">
          <p14:sldIdLst>
            <p14:sldId id="274"/>
            <p14:sldId id="278"/>
            <p14:sldId id="279"/>
          </p14:sldIdLst>
        </p14:section>
        <p14:section name="集权立制" id="{ed74bdf8-ca0a-4f20-a97a-5562ada301fd}">
          <p14:sldIdLst>
            <p14:sldId id="275"/>
            <p14:sldId id="280"/>
            <p14:sldId id="281"/>
          </p14:sldIdLst>
        </p14:section>
        <p14:section name="同轨共文" id="{971e54c9-359d-4a49-920d-8617c2a8ff29}">
          <p14:sldIdLst>
            <p14:sldId id="276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Rg st="3" end="11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制度集权、统一规制、强控稳固统治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800"/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indent="622300" eaLnBrk="1" fontAlgn="auto" latinLnBrk="0" hangingPunct="1">
              <a:lnSpc>
                <a:spcPct val="200000"/>
              </a:lnSpc>
              <a:buNone/>
              <a:defRPr sz="2300"/>
            </a:lvl1pPr>
            <a:lvl2pPr marL="457200" indent="622300" eaLnBrk="1" fontAlgn="auto" latinLnBrk="0" hangingPunct="1">
              <a:lnSpc>
                <a:spcPct val="200000"/>
              </a:lnSpc>
              <a:buNone/>
              <a:defRPr sz="2300"/>
            </a:lvl2pPr>
            <a:lvl3pPr marL="914400" indent="622300" eaLnBrk="1" fontAlgn="auto" latinLnBrk="0" hangingPunct="1">
              <a:lnSpc>
                <a:spcPct val="200000"/>
              </a:lnSpc>
              <a:buNone/>
              <a:defRPr sz="2300"/>
            </a:lvl3pPr>
            <a:lvl4pPr marL="1371600" indent="622300" eaLnBrk="1" fontAlgn="auto" latinLnBrk="0" hangingPunct="1">
              <a:lnSpc>
                <a:spcPct val="200000"/>
              </a:lnSpc>
              <a:buNone/>
              <a:defRPr sz="2300"/>
            </a:lvl4pPr>
            <a:lvl5pPr marL="1828800" indent="622300" eaLnBrk="1" fontAlgn="auto" latinLnBrk="0" hangingPunct="1">
              <a:lnSpc>
                <a:spcPct val="200000"/>
              </a:lnSpc>
              <a:buNone/>
              <a:defRPr sz="23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Autofit/>
          </a:bodyPr>
          <a:lstStyle>
            <a:lvl1pPr>
              <a:defRPr sz="66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Autofit/>
          </a:bodyPr>
          <a:lstStyle>
            <a:lvl1pPr algn="ctr">
              <a:buNone/>
              <a:defRPr sz="8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 smtClean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200000"/>
              </a:lnSpc>
              <a:spcAft>
                <a:spcPts val="1000"/>
              </a:spcAft>
              <a:defRPr sz="4000" spc="300"/>
            </a:lvl1pPr>
            <a:lvl2pPr marL="685800" indent="-228600" eaLnBrk="1" fontAlgn="auto" latinLnBrk="0" hangingPunct="1">
              <a:lnSpc>
                <a:spcPct val="200000"/>
              </a:lnSpc>
              <a:defRPr sz="4000" spc="300"/>
            </a:lvl2pPr>
            <a:lvl3pPr marL="1143000" indent="-228600" eaLnBrk="1" fontAlgn="auto" latinLnBrk="0" hangingPunct="1">
              <a:lnSpc>
                <a:spcPct val="200000"/>
              </a:lnSpc>
              <a:defRPr sz="4000" spc="300"/>
            </a:lvl3pPr>
            <a:lvl4pPr marL="1600200" indent="-228600" eaLnBrk="1" fontAlgn="auto" latinLnBrk="0" hangingPunct="1">
              <a:lnSpc>
                <a:spcPct val="200000"/>
              </a:lnSpc>
              <a:defRPr sz="4000" spc="300"/>
            </a:lvl4pPr>
            <a:lvl5pPr marL="2057400" indent="-228600" eaLnBrk="1" fontAlgn="auto" latinLnBrk="0" hangingPunct="1">
              <a:lnSpc>
                <a:spcPct val="200000"/>
              </a:lnSpc>
              <a:defRPr sz="4000"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楷体" panose="020106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tags" Target="../tags/tag65.xml"/><Relationship Id="rId4" Type="http://schemas.openxmlformats.org/officeDocument/2006/relationships/slide" Target="slide9.xml"/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3.jpeg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1288800"/>
            <a:ext cx="9799200" cy="2570400"/>
          </a:xfrm>
        </p:spPr>
        <p:txBody>
          <a:bodyPr/>
          <a:p>
            <a:r>
              <a:rPr lang="zh-CN" altLang="zh-CN" sz="9600">
                <a:solidFill>
                  <a:srgbClr val="C00000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大秦统一天下</a:t>
            </a:r>
            <a:endParaRPr lang="zh-CN" altLang="zh-CN" sz="9600">
              <a:solidFill>
                <a:srgbClr val="C00000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2923200" y="914400"/>
            <a:ext cx="1044000" cy="5029200"/>
          </a:xfrm>
        </p:spPr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>
          <a:xfrm>
            <a:off x="4589780" y="915035"/>
            <a:ext cx="3675380" cy="5028565"/>
          </a:xfrm>
        </p:spPr>
        <p:txBody>
          <a:bodyPr/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 </a:t>
            </a:r>
            <a:r>
              <a:rPr lang="zh-CN" altLang="en-US">
                <a:hlinkClick r:id="rId2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秦灭六国</a:t>
            </a:r>
            <a:endParaRPr lang="zh-CN" altLang="en-US"/>
          </a:p>
          <a:p>
            <a:pPr marL="0" indent="0">
              <a:spcAft>
                <a:spcPts val="0"/>
              </a:spcAft>
              <a:buNone/>
            </a:pPr>
            <a:r>
              <a:rPr lang="zh-CN" altLang="en-US">
                <a:hlinkClick r:id="rId3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 确立中央集权制</a:t>
            </a:r>
            <a:endParaRPr lang="zh-CN" altLang="en-US"/>
          </a:p>
          <a:p>
            <a:pPr marL="0" indent="0">
              <a:spcAft>
                <a:spcPts val="0"/>
              </a:spcAft>
              <a:buNone/>
            </a:pPr>
            <a:r>
              <a:rPr lang="zh-CN" altLang="en-US"/>
              <a:t> </a:t>
            </a:r>
            <a:r>
              <a:rPr lang="zh-CN" altLang="en-US">
                <a:hlinkClick r:id="rId4" action="ppaction://hlinksldjump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巩固统一的措施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800" y="2804400"/>
            <a:ext cx="776859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一、秦灭六国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wheel spokes="8"/>
      </p:transition>
    </mc:Choice>
    <mc:Fallback>
      <p:transition spd="slow" advClick="0" advTm="5000">
        <p:wheel spokes="8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90000" y="1936800"/>
            <a:ext cx="6375600" cy="3517200"/>
          </a:xfrm>
        </p:spPr>
        <p:txBody>
          <a:bodyPr/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战乱频繁，百姓渴望安定</a:t>
            </a:r>
            <a:endParaRPr lang="zh-CN" altLang="en-US"/>
          </a:p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商鞅变法，秦国实力超群</a:t>
            </a:r>
            <a:endParaRPr lang="zh-CN" altLang="en-US"/>
          </a:p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秦王嬴政招募人才等，积极策划</a:t>
            </a:r>
            <a:endParaRPr lang="zh-CN" altLang="en-US"/>
          </a:p>
        </p:txBody>
      </p:sp>
      <p:pic>
        <p:nvPicPr>
          <p:cNvPr id="5" name="图片 4" descr="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3200" y="1936800"/>
            <a:ext cx="4901966" cy="3650400"/>
          </a:xfrm>
          <a:prstGeom prst="round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wheel spokes="8"/>
      </p:transition>
    </mc:Choice>
    <mc:Fallback>
      <p:transition spd="slow" advClick="0" advTm="5000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意义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5200" y="1760400"/>
            <a:ext cx="9583200" cy="4352400"/>
          </a:xfrm>
        </p:spPr>
        <p:txBody>
          <a:bodyPr/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秦国统一是中国历史上的里程碑事件，核心意义在于结束了长期分裂战乱，建立起中国历史上第一个中央集权的封建王朝，不仅通过确立郡县制、统一文字、度量衡和货币打破了地域壁垒，促进了经济文化交流与民族融合，更奠定了此后两千多年中国古代政治制度的基本框架，塑造了 “大一统” 的历史传统与文化认同，从根本上筑牢了中国大一统的政治格局与文化根基。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wheel spokes="8"/>
      </p:transition>
    </mc:Choice>
    <mc:Fallback>
      <p:transition spd="slow" advClick="0" advTm="5000">
        <p:wheel spokes="8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970" y="2804160"/>
            <a:ext cx="851408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二、确立中央集权制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4000">
        <p:blinds/>
      </p:transition>
    </mc:Choice>
    <mc:Fallback>
      <p:transition spd="slow" advClick="0" advTm="4000">
        <p:blind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2400" y="2192400"/>
            <a:ext cx="11095200" cy="3718800"/>
          </a:xfrm>
        </p:spPr>
        <p:txBody>
          <a:bodyPr/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秦实现大一统后，原六国各自为政的政令、官制与割据状态，已无法适配疆域扩大后的治理需求和全国经济文化交流的新形势，为巩固大一统成果、加强对全国的有效统治，秦朝开创性地创立了以皇帝为核心、中央设三公九卿分管政务、地方推行郡县制的中央集权制度，通过权力集中与垂直管理，破解了分散治理的弊端，筑牢了大一统王朝的统治根基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4000">
        <p:blinds/>
      </p:transition>
    </mc:Choice>
    <mc:Fallback>
      <p:transition spd="slow" advClick="0" advTm="4000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200" y="1879200"/>
            <a:ext cx="6400800" cy="2926800"/>
          </a:xfrm>
        </p:spPr>
        <p:txBody>
          <a:bodyPr/>
          <a:p>
            <a:pPr indent="0" algn="ctr">
              <a:spcAft>
                <a:spcPts val="0"/>
              </a:spcAft>
            </a:pPr>
            <a:r>
              <a:rPr lang="zh-CN" altLang="en-US"/>
              <a:t>皇权至高无上；“始皇帝”——秦始皇</a:t>
            </a:r>
            <a:endParaRPr lang="zh-CN" altLang="en-US"/>
          </a:p>
          <a:p>
            <a:pPr indent="0" algn="ctr">
              <a:spcAft>
                <a:spcPts val="0"/>
              </a:spcAft>
            </a:pPr>
            <a:r>
              <a:rPr lang="zh-CN" altLang="en-US"/>
              <a:t>中央设三公，由丞相、太尉、御史大夫组成</a:t>
            </a:r>
            <a:endParaRPr lang="zh-CN" altLang="en-US"/>
          </a:p>
          <a:p>
            <a:pPr indent="0" algn="ctr">
              <a:spcAft>
                <a:spcPts val="0"/>
              </a:spcAft>
            </a:pPr>
            <a:r>
              <a:rPr lang="zh-CN" altLang="en-US"/>
              <a:t>地方推行郡县制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000" y="1879200"/>
            <a:ext cx="6296025" cy="3819525"/>
          </a:xfrm>
          <a:prstGeom prst="rect">
            <a:avLst/>
          </a:prstGeom>
        </p:spPr>
      </p:pic>
      <p:pic>
        <p:nvPicPr>
          <p:cNvPr id="5" name="图片 4" descr="秦王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00" y="3852000"/>
            <a:ext cx="1786255" cy="27673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 advClick="0" advTm="4000">
        <p:blinds/>
      </p:transition>
    </mc:Choice>
    <mc:Fallback>
      <p:transition spd="slow" advClick="0" advTm="4000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8970" y="2804160"/>
            <a:ext cx="8446770" cy="873760"/>
          </a:xfrm>
        </p:spPr>
        <p:txBody>
          <a:bodyPr>
            <a:normAutofit/>
          </a:bodyPr>
          <a:p>
            <a:pPr algn="ctr"/>
            <a:r>
              <a:rPr lang="zh-CN" altLang="en-US"/>
              <a:t>三、巩固统一的措施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comb/>
      </p:transition>
    </mc:Choice>
    <mc:Fallback>
      <p:transition spd="slow" advTm="0">
        <p:comb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10968990" cy="4698365"/>
          </a:xfrm>
        </p:spPr>
        <p:txBody>
          <a:bodyPr/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政治上，通过确立皇帝制度、三公九卿制和郡县制，消除地方割据隐患，确保权力集中于中央和皇帝，实现对全国的有效管控。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经济文化上，统一文字、度量衡、货币和车轨，打破地域壁垒，促进全国范围内的经济交流与文化认同，筑牢大一统的社会基础。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军事与社会层面，修筑长城、驰道，推行严刑峻法，抵御外部侵扰、保障交通畅通，同时稳定社会秩序，防止叛乱发生，巩固王朝统治根基</a:t>
            </a:r>
            <a:endParaRPr lang="zh-CN" altLang="en-US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comb/>
      </p:transition>
    </mc:Choice>
    <mc:Fallback>
      <p:transition spd="slow" advTm="0">
        <p:comb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方向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indent="622300">
              <a:spcAft>
                <a:spcPts val="0"/>
              </a:spcAft>
              <a:extLst>
                <a:ext uri="{35155182-B16C-46BC-9424-99874614C6A1}">
                  <wpsdc:indentchars xmlns:wpsdc="http://www.wps.cn/officeDocument/2017/drawingmlCustomData" val="200" checksum="3772118228"/>
                </a:ext>
              </a:extLst>
            </a:pPr>
            <a:r>
              <a:rPr lang="zh-CN" altLang="en-US"/>
              <a:t>围绕政治、经济、文化、军事、社会治理五大核心方向展开，政治上确立皇帝制度、三公九卿制并推行郡县制，强化中央集权与地方管控；经济上统一货币、度量衡及车轨，打破地域壁垒以促进全国一体化发展；文化上以小篆为标准统一文字，同时通过焚书坑儒试图统一思想舆论，凝聚文化认同；军事上北击匈奴、修筑长城抵御外患，南征百越扩大疆域并加强管辖；社会治理方面推行严刑峻法规范秩序，迁徙六国贵族豪强便于监视控制，全方位筑牢大一统王朝的统治根基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comb/>
      </p:transition>
    </mc:Choice>
    <mc:Fallback>
      <p:transition spd="slow" advTm="0">
        <p:comb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</Words>
  <Application>WPS 演示</Application>
  <PresentationFormat>宽屏</PresentationFormat>
  <Paragraphs>42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Calibri</vt:lpstr>
      <vt:lpstr>WPS</vt:lpstr>
      <vt:lpstr>大秦统一天下</vt:lpstr>
      <vt:lpstr>目录</vt:lpstr>
      <vt:lpstr>一、秦灭六国</vt:lpstr>
      <vt:lpstr>原因</vt:lpstr>
      <vt:lpstr>意义</vt:lpstr>
      <vt:lpstr>二、确立中央集权制</vt:lpstr>
      <vt:lpstr>背景</vt:lpstr>
      <vt:lpstr>PowerPoint 演示文稿</vt:lpstr>
      <vt:lpstr>三、巩固统一的措施</vt:lpstr>
      <vt:lpstr>目的</vt:lpstr>
      <vt:lpstr>方向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160</cp:revision>
  <dcterms:created xsi:type="dcterms:W3CDTF">2019-06-19T02:08:00Z</dcterms:created>
  <dcterms:modified xsi:type="dcterms:W3CDTF">2025-10-30T08:59:59Z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24C6103FB51E4C1B8404F4C8B1D74D3D_13</vt:lpwstr>
  </property>
</Properties>
</file>