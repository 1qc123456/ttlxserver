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5472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Rg st="1" end="4"/>
  </p:showPr>
  <p:clrMru>
    <a:srgbClr val="350843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9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2-17T14:24:30.834" idx="1">
    <p:pos x="10" y="10"/>
    <p:text>冬天独特的美</p:text>
  </p:cm>
</p:cmLst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2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 sz="8000" u="sng">
                <a:solidFill>
                  <a:srgbClr val="350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梅花</a:t>
            </a:r>
            <a:endParaRPr lang="zh-CN" altLang="zh-CN" sz="8000" u="sng">
              <a:solidFill>
                <a:srgbClr val="35084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800" baseline="-25000">
                <a:solidFill>
                  <a:schemeClr val="accent6"/>
                </a:solidFill>
                <a:latin typeface="仿宋" panose="02010609060101010101" charset="-122"/>
                <a:ea typeface="仿宋" panose="02010609060101010101" charset="-122"/>
              </a:rPr>
              <a:t>梅须逊雪三分白，雪却输梅一段香</a:t>
            </a:r>
            <a:endParaRPr lang="zh-CN" altLang="en-US" sz="2800" baseline="-25000">
              <a:solidFill>
                <a:schemeClr val="accent6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3000">
        <p14:prism dir="u"/>
        <p:sndAc>
          <p:stSnd>
            <p:snd r:embed="rId4" name="suction.wav"/>
          </p:stSnd>
        </p:sndAc>
      </p:transition>
    </mc:Choice>
    <mc:Fallback>
      <p:transition spd="slow" advTm="3000">
        <p:fade/>
        <p:sndAc>
          <p:stSnd>
            <p:snd r:embed="rId4" name="suction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37305" y="608330"/>
            <a:ext cx="3898265" cy="705485"/>
          </a:xfrm>
        </p:spPr>
        <p:txBody>
          <a:bodyPr/>
          <a:p>
            <a:r>
              <a:rPr lang="zh-CN" altLang="en-US"/>
              <a:t>梅花定义与特点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8330" y="2273300"/>
            <a:ext cx="7431405" cy="313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n>
                  <a:gradFill>
                    <a:gsLst>
                      <a:gs pos="0">
                        <a:srgbClr val="FFFF00"/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rect">
                      <a:fillToRect l="50000" t="50000" r="50000" b="50000"/>
                    </a:path>
                    <a:tileRect/>
                  </a:gradFill>
                </a:ln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梅花，属于蔷薇科、李属木本植物，是一种小乔木，高4-10米。</a:t>
            </a:r>
            <a:endParaRPr lang="zh-CN" altLang="en-US" sz="2800">
              <a:ln>
                <a:gradFill>
                  <a:gsLst>
                    <a:gs pos="0">
                      <a:srgbClr val="FFFF0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50000" t="50000" r="50000" b="50000"/>
                  </a:path>
                  <a:tileRect/>
                </a:gradFill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800">
              <a:ln>
                <a:gradFill>
                  <a:gsLst>
                    <a:gs pos="0">
                      <a:srgbClr val="FFFF0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50000" t="50000" r="50000" b="50000"/>
                  </a:path>
                  <a:tileRect/>
                </a:gradFill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800">
                <a:ln>
                  <a:gradFill>
                    <a:gsLst>
                      <a:gs pos="0">
                        <a:srgbClr val="FFFF00"/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path path="rect">
                      <a:fillToRect l="50000" t="50000" r="50000" b="50000"/>
                    </a:path>
                    <a:tileRect/>
                  </a:gradFill>
                </a:ln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梅花先于叶开放，花瓣倒卵形，白色至粉红色，花萼通常红褐色，花期冬春季，果期5-6月。它以其坚韧不拔、傲寒怒放的精神而深受人们喜爱。</a:t>
            </a:r>
            <a:endParaRPr lang="zh-CN" altLang="en-US" sz="2800">
              <a:ln>
                <a:gradFill>
                  <a:gsLst>
                    <a:gs pos="0">
                      <a:srgbClr val="FFFF0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50000" t="50000" r="50000" b="50000"/>
                  </a:path>
                  <a:tileRect/>
                </a:gradFill>
              </a:ln>
              <a:effectLst>
                <a:glow rad="228600">
                  <a:schemeClr val="accent6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015" y="608330"/>
            <a:ext cx="2894965" cy="5980430"/>
          </a:xfrm>
          <a:prstGeom prst="rect">
            <a:avLst/>
          </a:prstGeom>
        </p:spPr>
      </p:pic>
      <p:pic>
        <p:nvPicPr>
          <p:cNvPr id="3" name="素材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35570" y="473710"/>
            <a:ext cx="619125" cy="6191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2" showWhenStopped="0">
                <p:cTn id="11" fill="remove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06380" y="1111250"/>
            <a:ext cx="642620" cy="5158105"/>
          </a:xfrm>
        </p:spPr>
        <p:txBody>
          <a:bodyPr>
            <a:normAutofit fontScale="90000"/>
          </a:bodyPr>
          <a:p>
            <a:r>
              <a:rPr lang="zh-CN" altLang="en-US"/>
              <a:t>品种分类及分布区域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8700" y="1417320"/>
            <a:ext cx="8155940" cy="515810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marL="431800" indent="-533400" fontAlgn="auto">
              <a:lnSpc>
                <a:spcPts val="3500"/>
              </a:lnSpc>
              <a:extLst>
                <a:ext uri="{35155182-B16C-46BC-9424-99874614C6A1}">
                  <wpsdc:indentchars xmlns:wpsdc="http://www.wps.cn/officeDocument/2017/drawingmlCustomData" val="-150" checksum="656641676"/>
                </a:ext>
              </a:ext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梅花品种繁多，按枝条及生长姿态可分为叶梅、直角梅、照水梅等类；按花色花型可分为宫粉梅、红梅、照水梅、绿萼梅、大红梅、玉碟梅、洒金梅等型。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533400" fontAlgn="auto">
              <a:lnSpc>
                <a:spcPts val="3500"/>
              </a:lnSpc>
              <a:extLst>
                <a:ext uri="{35155182-B16C-46BC-9424-99874614C6A1}">
                  <wpsdc:indentchars xmlns:wpsdc="http://www.wps.cn/officeDocument/2017/drawingmlCustomData" val="-150" checksum="656641676"/>
                </a:ext>
              </a:extLst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分布区域：梅花原产中国南方，已有三千多年的栽培历史，无论作观赏或果树均有许多品种。许多类型不但露地栽培供观赏，还可以栽为盆花，制作梅桩。鲜花可提取香精，花、叶、根和种仁均可入药。果实可食、盐渍或干制，或熏制成乌梅入药，有止咳、止泻、生津、止渴之效。梅又能抗根线虫危害，可作核果类果树的砧木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左箭头 2">
            <a:hlinkClick r:id="rId1" action="ppaction://hlinksldjump"/>
          </p:cNvPr>
          <p:cNvSpPr/>
          <p:nvPr/>
        </p:nvSpPr>
        <p:spPr>
          <a:xfrm>
            <a:off x="720000" y="540000"/>
            <a:ext cx="1440000" cy="720000"/>
          </a:xfrm>
          <a:prstGeom prst="leftArrow">
            <a:avLst/>
          </a:prstGeom>
          <a:solidFill>
            <a:srgbClr val="C0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advTm="3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330200"/>
            <a:ext cx="3954145" cy="705485"/>
          </a:xfrm>
        </p:spPr>
        <p:txBody>
          <a:bodyPr/>
          <a:p>
            <a:r>
              <a:rPr lang="zh-CN" altLang="en-US"/>
              <a:t>生长环境与习性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72440" y="1313815"/>
            <a:ext cx="679196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/>
              <a:t>梅花具有较强的耐寒性，但也需要适当保暖以顺利越冬。</a:t>
            </a:r>
            <a:endParaRPr lang="zh-CN" altLang="en-US" sz="2800"/>
          </a:p>
          <a:p>
            <a:pPr indent="0" fontAlgn="auto">
              <a:lnSpc>
                <a:spcPct val="150000"/>
              </a:lnSpc>
            </a:pPr>
            <a:r>
              <a:rPr lang="zh-CN" altLang="en-US" sz="2800"/>
              <a:t>梅花怕涝，要求也比较严格，盆土过湿轻则根系发育不良，叶黄而落，重则伤根毁树，过干则短枝少，新梢伸长慢易落叶，花芽发育不良，因此盆栽梅花应干湿干湿，见干见湿，不干不浇，浇则浇透，雨天要避免盆土内积水。</a:t>
            </a:r>
            <a:endParaRPr lang="zh-CN" altLang="en-US" sz="2800"/>
          </a:p>
        </p:txBody>
      </p:sp>
      <p:pic>
        <p:nvPicPr>
          <p:cNvPr id="6" name="图片 5" descr="素材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540" y="1704340"/>
            <a:ext cx="2915920" cy="3907790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</p:spTree>
    <p:custDataLst>
      <p:tags r:id="rId2"/>
    </p:custDataLst>
  </p:cSld>
  <p:clrMapOvr>
    <a:masterClrMapping/>
  </p:clrMapOvr>
  <p:transition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ID" val="custom20205081_1*b*1"/>
  <p:tag name="KSO_WM_TEMPLATE_CATEGORY" val="custom"/>
  <p:tag name="KSO_WM_TEMPLATE_INDEX" val="20205081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zFlMGY3OGRmZGU1YjQ0MmVmN2U4Yjg3M2ZkYWM1ZjIifQ=="/>
  <p:tag name="commondata" val="eyJoZGlkIjoiN2M3Mjk2NmEzNTNhOWE0YTg5ZGUzZjYzYmJiZDNkMD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WPS 演示</Application>
  <PresentationFormat>宽屏</PresentationFormat>
  <Paragraphs>20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仿宋</vt:lpstr>
      <vt:lpstr>微软雅黑</vt:lpstr>
      <vt:lpstr>Arial Unicode MS</vt:lpstr>
      <vt:lpstr>Calibri</vt:lpstr>
      <vt:lpstr>WPS</vt:lpstr>
      <vt:lpstr>梅花</vt:lpstr>
      <vt:lpstr>梅花定义与特点</vt:lpstr>
      <vt:lpstr>品种分类及分布区域</vt:lpstr>
      <vt:lpstr>生长环境与习性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微信用户</cp:lastModifiedBy>
  <cp:revision>159</cp:revision>
  <dcterms:created xsi:type="dcterms:W3CDTF">2019-06-19T02:08:00Z</dcterms:created>
  <dcterms:modified xsi:type="dcterms:W3CDTF">2025-02-17T06:30:29Z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B1388B8D17C14B8AAA4706A60D4913E8_13</vt:lpwstr>
  </property>
</Properties>
</file>