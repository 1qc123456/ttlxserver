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702" autoAdjust="0"/>
  </p:normalViewPr>
  <p:slideViewPr>
    <p:cSldViewPr showGuides="1">
      <p:cViewPr varScale="1">
        <p:scale>
          <a:sx n="101" d="100"/>
          <a:sy n="101" d="100"/>
        </p:scale>
        <p:origin x="-26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7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3" Type="http://schemas.openxmlformats.org/officeDocument/2006/relationships/audio" Target="../media/audio1.wav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1" Type="http://schemas.openxmlformats.org/officeDocument/2006/relationships/audio" Target="../media/audio1.wav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.jpeg"/><Relationship Id="rId2" Type="http://schemas.openxmlformats.org/officeDocument/2006/relationships/tags" Target="../tags/tag61.xml"/><Relationship Id="rId13" Type="http://schemas.openxmlformats.org/officeDocument/2006/relationships/audio" Target="../media/audio1.wav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z="1800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z="1800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z="1800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8000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z="1800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5000625" y="4614350"/>
            <a:ext cx="4076700" cy="1053581"/>
          </a:xfrm>
          <a:noFill/>
        </p:spPr>
        <p:txBody>
          <a:bodyPr anchor="b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000625" y="5739996"/>
            <a:ext cx="4076700" cy="5040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36524C8-84B0-4E10-B16C-878B1DF592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3" name="hammer.wav"/>
          </p:stSnd>
        </p:sndAc>
      </p:transition>
    </mc:Choice>
    <mc:Fallback>
      <p:transition spd="slow">
        <p:plus/>
        <p:sndAc>
          <p:stSnd>
            <p:snd r:embed="rId13" name="hammer.wav"/>
          </p:stSnd>
        </p:sndAc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7" name="hammer.wav"/>
          </p:stSnd>
        </p:sndAc>
      </p:transition>
    </mc:Choice>
    <mc:Fallback>
      <p:transition spd="slow">
        <p:plus/>
        <p:sndAc>
          <p:stSnd>
            <p:snd r:embed="rId7" name="hammer.wav"/>
          </p:stSnd>
        </p:sndAc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3879850"/>
            <a:ext cx="3744516" cy="2978150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800"/>
          </a:p>
        </p:txBody>
      </p:sp>
      <p:sp>
        <p:nvSpPr>
          <p:cNvPr id="6" name="Freeform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22885" y="4400550"/>
            <a:ext cx="7021115" cy="245745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800"/>
          </a:p>
        </p:txBody>
      </p:sp>
      <p:sp>
        <p:nvSpPr>
          <p:cNvPr id="7" name="直接连接符 1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440656" y="2790825"/>
            <a:ext cx="3914775" cy="1588"/>
          </a:xfrm>
          <a:prstGeom prst="line">
            <a:avLst/>
          </a:prstGeom>
          <a:noFill/>
          <a:ln w="6350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425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56801" y="3503613"/>
            <a:ext cx="4098630" cy="1058408"/>
          </a:xfrm>
        </p:spPr>
        <p:txBody>
          <a:bodyPr rIns="63500">
            <a:noAutofit/>
          </a:bodyPr>
          <a:lstStyle>
            <a:lvl1pPr algn="r"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256801" y="2856230"/>
            <a:ext cx="4098630" cy="586804"/>
          </a:xfrm>
        </p:spPr>
        <p:txBody>
          <a:bodyPr tIns="38100" rIns="76200" bIns="38100" anchor="ctr">
            <a:noAutofit/>
          </a:bodyPr>
          <a:lstStyle>
            <a:lvl1pPr marL="0" indent="0" algn="r" eaLnBrk="1" fontAlgn="base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256831" y="2383625"/>
            <a:ext cx="4098600" cy="3564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4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5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20世纪科学</a:t>
            </a: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7DC10-9F80-47CA-9BB0-03FC4730FA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1" name="hammer.wav"/>
          </p:stSnd>
        </p:sndAc>
      </p:transition>
    </mc:Choice>
    <mc:Fallback>
      <p:transition spd="slow">
        <p:plus/>
        <p:sndAc>
          <p:stSnd>
            <p:snd r:embed="rId11" name="hammer.wav"/>
          </p:stSnd>
        </p:sndAc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1817681-E15F-4FD5-9CDE-DA416F59D21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8" name="hammer.wav"/>
          </p:stSnd>
        </p:sndAc>
      </p:transition>
    </mc:Choice>
    <mc:Fallback>
      <p:transition spd="slow">
        <p:plus/>
        <p:sndAc>
          <p:stSnd>
            <p:snd r:embed="rId8" name="hammer.wav"/>
          </p:stSnd>
        </p:sndAc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ACD3B0B-F23A-4A94-BD2D-0CEEDFECC8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0" name="hammer.wav"/>
          </p:stSnd>
        </p:sndAc>
      </p:transition>
    </mc:Choice>
    <mc:Fallback>
      <p:transition spd="slow">
        <p:plus/>
        <p:sndAc>
          <p:stSnd>
            <p:snd r:embed="rId10" name="hammer.wav"/>
          </p:stSnd>
        </p:sndAc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F975756-62B8-4ECB-A204-3C69BBE366F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6" name="hammer.wav"/>
          </p:stSnd>
        </p:sndAc>
      </p:transition>
    </mc:Choice>
    <mc:Fallback>
      <p:transition spd="slow">
        <p:plus/>
        <p:sndAc>
          <p:stSnd>
            <p:snd r:embed="rId6" name="hammer.wav"/>
          </p:stSnd>
        </p:sndAc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B9A94EC-1617-445C-BD94-7C063F7ABB4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5" name="hammer.wav"/>
          </p:stSnd>
        </p:sndAc>
      </p:transition>
    </mc:Choice>
    <mc:Fallback>
      <p:transition spd="slow">
        <p:plus/>
        <p:sndAc>
          <p:stSnd>
            <p:snd r:embed="rId5" name="hammer.wav"/>
          </p:stSnd>
        </p:sndAc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6FEBBC2-4846-4A2C-8409-44C36947B8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8" name="hammer.wav"/>
          </p:stSnd>
        </p:sndAc>
      </p:transition>
    </mc:Choice>
    <mc:Fallback>
      <p:transition spd="slow">
        <p:plus/>
        <p:sndAc>
          <p:stSnd>
            <p:snd r:embed="rId8" name="hammer.wav"/>
          </p:stSnd>
        </p:sndAc>
      </p:transition>
    </mc:Fallback>
  </mc:AlternateContent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1472AC0-29A8-4A0A-9633-27AEE3958B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7" name="hammer.wav"/>
          </p:stSnd>
        </p:sndAc>
      </p:transition>
    </mc:Choice>
    <mc:Fallback>
      <p:transition spd="slow">
        <p:plus/>
        <p:sndAc>
          <p:stSnd>
            <p:snd r:embed="rId7" name="hammer.wav"/>
          </p:stSnd>
        </p:sndAc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20世纪科学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6" name="hammer.wav"/>
          </p:stSnd>
        </p:sndAc>
      </p:transition>
    </mc:Choice>
    <mc:Fallback>
      <p:transition spd="slow">
        <p:plus/>
        <p:sndAc>
          <p:stSnd>
            <p:snd r:embed="rId6" name="hammer.wav"/>
          </p:stSnd>
        </p:sndAc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z="1800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z="1800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z="1800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4825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z="1800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572125" y="4290060"/>
            <a:ext cx="3319463" cy="1175385"/>
          </a:xfrm>
        </p:spPr>
        <p:txBody>
          <a:bodyPr rIns="25400" rtlCol="0" anchor="b">
            <a:no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5572124" y="5540698"/>
            <a:ext cx="3319358" cy="691347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20世纪科学</a:t>
            </a:r>
            <a:endParaRPr lang="zh-CN" altLang="en-US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3" name="hammer.wav"/>
          </p:stSnd>
        </p:sndAc>
      </p:transition>
    </mc:Choice>
    <mc:Fallback>
      <p:transition spd="slow">
        <p:plus/>
        <p:sndAc>
          <p:stSnd>
            <p:snd r:embed="rId13" name="hammer.wav"/>
          </p:stSnd>
        </p:sndAc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38F92092-A869-44FC-91A5-E2233B3978E3}" type="slidenum">
              <a:rPr lang="en-US" altLang="zh-CN"/>
            </a:fld>
            <a:endParaRPr lang="en-US" altLang="zh-CN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8" name="hammer.wav"/>
          </p:stSnd>
        </p:sndAc>
      </p:transition>
    </mc:Choice>
    <mc:Fallback>
      <p:transition spd="slow">
        <p:plus/>
        <p:sndAc>
          <p:stSnd>
            <p:snd r:embed="rId18" name="hammer.wav"/>
          </p:stSnd>
        </p:sndAc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55160" y="4614545"/>
            <a:ext cx="4622165" cy="1053465"/>
          </a:xfrm>
        </p:spPr>
        <p:txBody>
          <a:bodyPr/>
          <a:lstStyle/>
          <a:p>
            <a:r>
              <a:rPr lang="en-US" altLang="zh-CN" sz="6000"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6000">
                <a:latin typeface="楷体_GB2312" pitchFamily="49" charset="-122"/>
                <a:ea typeface="楷体_GB2312" pitchFamily="49" charset="-122"/>
              </a:rPr>
              <a:t>世纪科学</a:t>
            </a:r>
            <a:endParaRPr lang="zh-CN" altLang="en-US" sz="60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4400">
                <a:ea typeface="楷体_GB2312" pitchFamily="49" charset="-122"/>
              </a:rPr>
              <a:t>超级能量的开发</a:t>
            </a:r>
            <a:endParaRPr lang="zh-CN" altLang="en-US" sz="4400">
              <a:ea typeface="楷体_GB2312" pitchFamily="49" charset="-122"/>
            </a:endParaRPr>
          </a:p>
          <a:p>
            <a:r>
              <a:rPr lang="zh-CN" altLang="en-US" sz="4400">
                <a:ea typeface="楷体_GB2312" pitchFamily="49" charset="-122"/>
              </a:rPr>
              <a:t>生活世界的重塑</a:t>
            </a:r>
            <a:endParaRPr lang="zh-CN" altLang="en-US" sz="4400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36524C8-84B0-4E10-B16C-878B1DF592C6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hammer.wav"/>
          </p:stSnd>
        </p:sndAc>
      </p:transition>
    </mc:Choice>
    <mc:Fallback>
      <p:transition spd="slow">
        <p:plus/>
        <p:sndAc>
          <p:stSnd>
            <p:snd r:embed="rId1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ea typeface="楷体_GB2312" pitchFamily="49" charset="-122"/>
              </a:rPr>
              <a:t>20</a:t>
            </a:r>
            <a:r>
              <a:rPr lang="zh-CN" altLang="en-US" sz="2000">
                <a:ea typeface="楷体_GB2312" pitchFamily="49" charset="-122"/>
              </a:rPr>
              <a:t>世纪</a:t>
            </a:r>
            <a:r>
              <a:rPr lang="en-US" altLang="zh-CN" sz="2000">
                <a:ea typeface="楷体_GB2312" pitchFamily="49" charset="-122"/>
              </a:rPr>
              <a:t>100</a:t>
            </a:r>
            <a:r>
              <a:rPr lang="zh-CN" altLang="en-US" sz="2000">
                <a:ea typeface="楷体_GB2312" pitchFamily="49" charset="-122"/>
              </a:rPr>
              <a:t>项新闻的科技部分（</a:t>
            </a:r>
            <a:r>
              <a:rPr lang="en-US" altLang="zh-CN" sz="2000">
                <a:ea typeface="楷体_GB2312" pitchFamily="49" charset="-122"/>
              </a:rPr>
              <a:t>38</a:t>
            </a:r>
            <a:r>
              <a:rPr lang="zh-CN" altLang="en-US" sz="2000">
                <a:ea typeface="楷体_GB2312" pitchFamily="49" charset="-122"/>
              </a:rPr>
              <a:t>）</a:t>
            </a:r>
            <a:endParaRPr lang="zh-CN" altLang="en-US" sz="2000">
              <a:ea typeface="楷体_GB2312" pitchFamily="49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纯理论</a:t>
            </a:r>
            <a:r>
              <a:rPr lang="en-US" altLang="zh-CN">
                <a:ea typeface="楷体_GB2312" pitchFamily="49" charset="-122"/>
              </a:rPr>
              <a:t>5</a:t>
            </a:r>
            <a:r>
              <a:rPr lang="zh-CN" altLang="en-US">
                <a:ea typeface="楷体_GB2312" pitchFamily="49" charset="-122"/>
              </a:rPr>
              <a:t>项（</a:t>
            </a:r>
            <a:r>
              <a:rPr lang="en-US" altLang="zh-CN">
                <a:ea typeface="楷体_GB2312" pitchFamily="49" charset="-122"/>
              </a:rPr>
              <a:t>DNA</a:t>
            </a:r>
            <a:r>
              <a:rPr lang="zh-CN" altLang="en-US">
                <a:ea typeface="楷体_GB2312" pitchFamily="49" charset="-122"/>
              </a:rPr>
              <a:t>、相对论、量子论、弗洛伊德、进化论）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核能利用</a:t>
            </a:r>
            <a:r>
              <a:rPr lang="en-US" altLang="zh-CN">
                <a:ea typeface="楷体_GB2312" pitchFamily="49" charset="-122"/>
              </a:rPr>
              <a:t>4</a:t>
            </a:r>
            <a:r>
              <a:rPr lang="zh-CN" altLang="en-US">
                <a:ea typeface="楷体_GB2312" pitchFamily="49" charset="-122"/>
              </a:rPr>
              <a:t>项（投弹、试爆、研制、核电站事故）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航空</a:t>
            </a:r>
            <a:r>
              <a:rPr lang="en-US" altLang="zh-CN">
                <a:ea typeface="楷体_GB2312" pitchFamily="49" charset="-122"/>
              </a:rPr>
              <a:t>3</a:t>
            </a:r>
            <a:r>
              <a:rPr lang="zh-CN" altLang="en-US">
                <a:ea typeface="楷体_GB2312" pitchFamily="49" charset="-122"/>
              </a:rPr>
              <a:t>项（莱特兄弟、林白、喷气式）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航天</a:t>
            </a:r>
            <a:r>
              <a:rPr lang="en-US" altLang="zh-CN">
                <a:ea typeface="楷体_GB2312" pitchFamily="49" charset="-122"/>
              </a:rPr>
              <a:t>7</a:t>
            </a:r>
            <a:r>
              <a:rPr lang="zh-CN" altLang="en-US">
                <a:ea typeface="楷体_GB2312" pitchFamily="49" charset="-122"/>
              </a:rPr>
              <a:t>项（登月、卫星、加加林、谢帕德、挑战者号、格伦、火星探索者）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生物医药</a:t>
            </a:r>
            <a:r>
              <a:rPr lang="en-US" altLang="zh-CN">
                <a:ea typeface="楷体_GB2312" pitchFamily="49" charset="-122"/>
              </a:rPr>
              <a:t>6</a:t>
            </a:r>
            <a:r>
              <a:rPr lang="zh-CN" altLang="en-US">
                <a:ea typeface="楷体_GB2312" pitchFamily="49" charset="-122"/>
              </a:rPr>
              <a:t>项（盘尼西林、避孕丸、脊髓灰质炎疫苗、艾滋病、克隆羊、试管婴儿）</a:t>
            </a:r>
            <a:endParaRPr lang="zh-CN" altLang="en-US">
              <a:ea typeface="楷体_GB2312" pitchFamily="49" charset="-122"/>
            </a:endParaRPr>
          </a:p>
          <a:p>
            <a:r>
              <a:rPr lang="zh-CN" altLang="en-US">
                <a:ea typeface="楷体_GB2312" pitchFamily="49" charset="-122"/>
              </a:rPr>
              <a:t>通讯传媒</a:t>
            </a:r>
            <a:r>
              <a:rPr lang="en-US" altLang="zh-CN">
                <a:ea typeface="楷体_GB2312" pitchFamily="49" charset="-122"/>
              </a:rPr>
              <a:t>10</a:t>
            </a:r>
            <a:r>
              <a:rPr lang="zh-CN" altLang="en-US">
                <a:ea typeface="楷体_GB2312" pitchFamily="49" charset="-122"/>
              </a:rPr>
              <a:t>项（电视机、个人电脑、</a:t>
            </a:r>
            <a:r>
              <a:rPr lang="en-US" altLang="zh-CN">
                <a:ea typeface="楷体_GB2312" pitchFamily="49" charset="-122"/>
              </a:rPr>
              <a:t>WWW</a:t>
            </a:r>
            <a:r>
              <a:rPr lang="zh-CN" altLang="en-US">
                <a:ea typeface="楷体_GB2312" pitchFamily="49" charset="-122"/>
              </a:rPr>
              <a:t>、晶体管、电台节目、</a:t>
            </a:r>
            <a:r>
              <a:rPr lang="en-US" altLang="zh-CN">
                <a:ea typeface="楷体_GB2312" pitchFamily="49" charset="-122"/>
              </a:rPr>
              <a:t>ENIAC</a:t>
            </a:r>
            <a:r>
              <a:rPr lang="zh-CN" altLang="en-US">
                <a:ea typeface="楷体_GB2312" pitchFamily="49" charset="-122"/>
              </a:rPr>
              <a:t>、电视、晶片、马可尼、微软）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hammer.wav"/>
          </p:stSnd>
        </p:sndAc>
      </p:transition>
    </mc:Choice>
    <mc:Fallback>
      <p:transition spd="slow">
        <p:plus/>
        <p:sndAc>
          <p:stSnd>
            <p:snd r:embed="rId1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1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楷体_GB2312" pitchFamily="49" charset="-122"/>
              </a:rPr>
              <a:t>1919</a:t>
            </a:r>
            <a:r>
              <a:rPr lang="zh-CN" altLang="en-US">
                <a:ea typeface="楷体_GB2312" pitchFamily="49" charset="-122"/>
              </a:rPr>
              <a:t>年，英国卢瑟福用</a:t>
            </a:r>
            <a:r>
              <a:rPr lang="en-US" altLang="zh-CN">
                <a:cs typeface="Times New Roman" panose="02020603050405020304" pitchFamily="18" charset="0"/>
              </a:rPr>
              <a:t>α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粒子轰击氮原子核，使其嬗变成氧原子。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1932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年，查得威克发现中子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1934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年，法国约里奥－居里夫妇用</a:t>
            </a:r>
            <a:r>
              <a:rPr lang="en-US" altLang="zh-CN">
                <a:cs typeface="Times New Roman" panose="02020603050405020304" pitchFamily="18" charset="0"/>
              </a:rPr>
              <a:t>α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粒子轰击铝，产生了一个磷的同位素，但很快放出正电子蜕变为硅。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1933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年，卢瑟福和爱因斯坦均没有意识到原子能的实际利用近在眼前。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hammer.wav"/>
          </p:stSnd>
        </p:sndAc>
      </p:transition>
    </mc:Choice>
    <mc:Fallback>
      <p:transition spd="slow">
        <p:plus/>
        <p:sndAc>
          <p:stSnd>
            <p:snd r:embed="rId1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2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>
                <a:ea typeface="楷体_GB2312" pitchFamily="49" charset="-122"/>
              </a:rPr>
              <a:t>1934</a:t>
            </a:r>
            <a:r>
              <a:rPr lang="zh-CN" altLang="en-US" sz="2800">
                <a:ea typeface="楷体_GB2312" pitchFamily="49" charset="-122"/>
              </a:rPr>
              <a:t>年，意大利物理学家费米用中子轰击原子核，并发现通过石蜡减速之后的慢中子，裂核能力更强。费米因此获</a:t>
            </a:r>
            <a:r>
              <a:rPr lang="en-US" altLang="zh-CN" sz="2800">
                <a:ea typeface="楷体_GB2312" pitchFamily="49" charset="-122"/>
              </a:rPr>
              <a:t>38</a:t>
            </a:r>
            <a:r>
              <a:rPr lang="zh-CN" altLang="en-US" sz="2800">
                <a:ea typeface="楷体_GB2312" pitchFamily="49" charset="-122"/>
              </a:rPr>
              <a:t>年物理奖。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1938</a:t>
            </a:r>
            <a:r>
              <a:rPr lang="zh-CN" altLang="en-US" sz="2800">
                <a:ea typeface="楷体_GB2312" pitchFamily="49" charset="-122"/>
              </a:rPr>
              <a:t>年，德国哈恩发现铀嬗变后出现的新元素与铀相距甚远。奥地利女物理学家迈特纳提出核裂变猜想，以解释铀实验。并称裂变过程要放出大量能量。</a:t>
            </a:r>
            <a:endParaRPr lang="zh-CN" altLang="en-US" sz="2800">
              <a:ea typeface="楷体_GB2312" pitchFamily="49" charset="-122"/>
            </a:endParaRPr>
          </a:p>
          <a:p>
            <a:r>
              <a:rPr lang="zh-CN" altLang="en-US" sz="2800">
                <a:ea typeface="楷体_GB2312" pitchFamily="49" charset="-122"/>
              </a:rPr>
              <a:t>费米提出链式反应概念。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  <p:sp>
        <p:nvSpPr>
          <p:cNvPr id="4" name="右箭头 3">
            <a:hlinkClick r:id="" action="ppaction://hlinkshowjump?jump=nextslide"/>
          </p:cNvPr>
          <p:cNvSpPr/>
          <p:nvPr/>
        </p:nvSpPr>
        <p:spPr>
          <a:xfrm>
            <a:off x="7596505" y="5445125"/>
            <a:ext cx="648335" cy="648000"/>
          </a:xfrm>
          <a:prstGeom prst="rightArrow">
            <a:avLst/>
          </a:prstGeom>
          <a:effectLst>
            <a:softEdge rad="31750"/>
          </a:effectLst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左箭头 4">
            <a:hlinkClick r:id="" action="ppaction://hlinkshowjump?jump=previousslide"/>
          </p:cNvPr>
          <p:cNvSpPr/>
          <p:nvPr/>
        </p:nvSpPr>
        <p:spPr>
          <a:xfrm>
            <a:off x="6372225" y="5445125"/>
            <a:ext cx="648335" cy="648000"/>
          </a:xfrm>
          <a:prstGeom prst="leftArrow">
            <a:avLst/>
          </a:prstGeom>
          <a:effectLst>
            <a:softEdge rad="31750"/>
          </a:effectLst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hammer.wav"/>
          </p:stSnd>
        </p:sndAc>
      </p:transition>
    </mc:Choice>
    <mc:Fallback>
      <p:transition spd="slow">
        <p:plus/>
        <p:sndAc>
          <p:stSnd>
            <p:snd r:embed="rId1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3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1933</a:t>
            </a:r>
            <a:r>
              <a:rPr lang="zh-CN" altLang="en-US" sz="2800">
                <a:ea typeface="楷体_GB2312" pitchFamily="49" charset="-122"/>
              </a:rPr>
              <a:t>年，爱因斯坦移居美国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1938</a:t>
            </a:r>
            <a:r>
              <a:rPr lang="zh-CN" altLang="en-US" sz="2800">
                <a:ea typeface="楷体_GB2312" pitchFamily="49" charset="-122"/>
              </a:rPr>
              <a:t>年，费米逃往美国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德国尚有普朗克、玻恩、海森堡、魏扎克、劳厄、哈恩、盖革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1933</a:t>
            </a:r>
            <a:r>
              <a:rPr lang="zh-CN" altLang="en-US" sz="2800">
                <a:ea typeface="楷体_GB2312" pitchFamily="49" charset="-122"/>
              </a:rPr>
              <a:t>年，匈牙利物理学家齐拉德（</a:t>
            </a:r>
            <a:r>
              <a:rPr lang="en-US" altLang="zh-CN" sz="2800">
                <a:ea typeface="楷体_GB2312" pitchFamily="49" charset="-122"/>
              </a:rPr>
              <a:t>1898</a:t>
            </a:r>
            <a:r>
              <a:rPr lang="zh-CN" altLang="en-US" sz="2800">
                <a:ea typeface="楷体_GB2312" pitchFamily="49" charset="-122"/>
              </a:rPr>
              <a:t>－</a:t>
            </a:r>
            <a:r>
              <a:rPr lang="en-US" altLang="zh-CN" sz="2800">
                <a:ea typeface="楷体_GB2312" pitchFamily="49" charset="-122"/>
              </a:rPr>
              <a:t>1964</a:t>
            </a:r>
            <a:r>
              <a:rPr lang="zh-CN" altLang="en-US" sz="2800">
                <a:ea typeface="楷体_GB2312" pitchFamily="49" charset="-122"/>
              </a:rPr>
              <a:t>）已经意识到核能的开发可能用于军事</a:t>
            </a:r>
            <a:endParaRPr lang="zh-CN" altLang="en-US" sz="28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1935</a:t>
            </a:r>
            <a:r>
              <a:rPr lang="zh-CN" altLang="en-US" sz="2400">
                <a:ea typeface="楷体_GB2312" pitchFamily="49" charset="-122"/>
              </a:rPr>
              <a:t>年，建议物理学家暂缓发表研究成果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1939</a:t>
            </a:r>
            <a:r>
              <a:rPr lang="zh-CN" altLang="en-US" sz="2400">
                <a:ea typeface="楷体_GB2312" pitchFamily="49" charset="-122"/>
              </a:rPr>
              <a:t>年，玻尔认为核能利用为时尚早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1939</a:t>
            </a:r>
            <a:r>
              <a:rPr lang="zh-CN" altLang="en-US" sz="2400">
                <a:ea typeface="楷体_GB2312" pitchFamily="49" charset="-122"/>
              </a:rPr>
              <a:t>年，说服美国政府抢在德国之前抓紧研制原子弹。爱因斯坦、萨克斯、罗斯福</a:t>
            </a: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hammer.wav"/>
          </p:stSnd>
        </p:sndAc>
      </p:transition>
    </mc:Choice>
    <mc:Fallback>
      <p:transition spd="slow">
        <p:plus/>
        <p:sndAc>
          <p:stSnd>
            <p:snd r:embed="rId1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4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1940</a:t>
            </a:r>
            <a:r>
              <a:rPr lang="zh-CN" altLang="en-US" sz="2800">
                <a:ea typeface="楷体_GB2312" pitchFamily="49" charset="-122"/>
              </a:rPr>
              <a:t>年，美国政府正式大量拨款，启动“曼哈顿工程”，格罗夫斯将军为行政首脑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1941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12</a:t>
            </a:r>
            <a:r>
              <a:rPr lang="zh-CN" altLang="en-US" sz="2800">
                <a:ea typeface="楷体_GB2312" pitchFamily="49" charset="-122"/>
              </a:rPr>
              <a:t>月－</a:t>
            </a:r>
            <a:r>
              <a:rPr lang="en-US" altLang="zh-CN" sz="2800">
                <a:ea typeface="楷体_GB2312" pitchFamily="49" charset="-122"/>
              </a:rPr>
              <a:t>1942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12</a:t>
            </a:r>
            <a:r>
              <a:rPr lang="zh-CN" altLang="en-US" sz="2800">
                <a:ea typeface="楷体_GB2312" pitchFamily="49" charset="-122"/>
              </a:rPr>
              <a:t>月，费米在芝加哥研制原子反应堆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铀的提纯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1943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月－</a:t>
            </a:r>
            <a:r>
              <a:rPr lang="en-US" altLang="zh-CN" sz="2800">
                <a:ea typeface="楷体_GB2312" pitchFamily="49" charset="-122"/>
              </a:rPr>
              <a:t>1945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月。奥本海默在新墨西哥州的洛斯阿拉莫斯主持原子弹研制。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16</a:t>
            </a:r>
            <a:r>
              <a:rPr lang="zh-CN" altLang="en-US" sz="2800">
                <a:ea typeface="楷体_GB2312" pitchFamily="49" charset="-122"/>
              </a:rPr>
              <a:t>日凌晨</a:t>
            </a:r>
            <a:r>
              <a:rPr lang="en-US" altLang="zh-CN" sz="2800">
                <a:ea typeface="楷体_GB2312" pitchFamily="49" charset="-122"/>
              </a:rPr>
              <a:t>5</a:t>
            </a: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30</a:t>
            </a:r>
            <a:r>
              <a:rPr lang="zh-CN" altLang="en-US" sz="2800">
                <a:ea typeface="楷体_GB2312" pitchFamily="49" charset="-122"/>
              </a:rPr>
              <a:t>分，第一颗铀原子弹试爆成功。比一千个太阳都亮。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曼哈顿工程：动员</a:t>
            </a:r>
            <a:r>
              <a:rPr lang="en-US" altLang="zh-CN" sz="2800">
                <a:ea typeface="楷体_GB2312" pitchFamily="49" charset="-122"/>
              </a:rPr>
              <a:t>50</a:t>
            </a:r>
            <a:r>
              <a:rPr lang="zh-CN" altLang="en-US" sz="2800">
                <a:ea typeface="楷体_GB2312" pitchFamily="49" charset="-122"/>
              </a:rPr>
              <a:t>万人，耗费</a:t>
            </a:r>
            <a:r>
              <a:rPr lang="en-US" altLang="zh-CN" sz="2800">
                <a:ea typeface="楷体_GB2312" pitchFamily="49" charset="-122"/>
              </a:rPr>
              <a:t>22</a:t>
            </a:r>
            <a:r>
              <a:rPr lang="zh-CN" altLang="en-US" sz="2800">
                <a:ea typeface="楷体_GB2312" pitchFamily="49" charset="-122"/>
              </a:rPr>
              <a:t>亿美元，占用全国三分之一的电力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hammer.wav"/>
          </p:stSnd>
        </p:sndAc>
      </p:transition>
    </mc:Choice>
    <mc:Fallback>
      <p:transition spd="slow">
        <p:plus/>
        <p:sndAc>
          <p:stSnd>
            <p:snd r:embed="rId1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WPS演示034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4570" y="1844675"/>
            <a:ext cx="2857500" cy="2143125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5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1944</a:t>
            </a:r>
            <a:r>
              <a:rPr lang="zh-CN" altLang="en-US" sz="2800">
                <a:ea typeface="楷体_GB2312" pitchFamily="49" charset="-122"/>
              </a:rPr>
              <a:t>年底，盟军的特工小组已经发现德国造不出原子弹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科学家的犹豫：</a:t>
            </a:r>
            <a:endParaRPr lang="zh-CN" altLang="en-US" sz="28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继续干吗？缺乏政治和道义上的支持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不干吗？不符合现代科学技术的精神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好的理由：应该让全人类知道它的威力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齐拉德、爱因斯坦的态度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6</a:t>
            </a:r>
            <a:r>
              <a:rPr lang="zh-CN" altLang="en-US" sz="2800">
                <a:ea typeface="楷体_GB2312" pitchFamily="49" charset="-122"/>
              </a:rPr>
              <a:t>日，铀弹小男孩投到广岛；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9</a:t>
            </a:r>
            <a:r>
              <a:rPr lang="zh-CN" altLang="en-US" sz="2800">
                <a:ea typeface="楷体_GB2312" pitchFamily="49" charset="-122"/>
              </a:rPr>
              <a:t>日，钚弹胖子投在长崎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2" name="hammer.wav"/>
          </p:stSnd>
        </p:sndAc>
      </p:transition>
    </mc:Choice>
    <mc:Fallback>
      <p:transition spd="slow">
        <p:plus/>
        <p:sndAc>
          <p:stSnd>
            <p:snd r:embed="rId2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6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>
                <a:ea typeface="楷体_GB2312" pitchFamily="49" charset="-122"/>
              </a:rPr>
              <a:t>核军备竞赛：盟国之争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月，斯大林下令抓紧研制原子弹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1949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月，苏联成功地进行了核实验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1952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11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日，美国试爆第一颗氢弹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1953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月，苏联研制氢弹成功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1952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日，英国研制成功原子弹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1960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2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13</a:t>
            </a:r>
            <a:r>
              <a:rPr lang="zh-CN" altLang="en-US" sz="2800">
                <a:ea typeface="楷体_GB2312" pitchFamily="49" charset="-122"/>
              </a:rPr>
              <a:t>日，法国研制成功钚弹</a:t>
            </a:r>
            <a:endParaRPr lang="zh-CN" altLang="en-US" sz="2800">
              <a:ea typeface="楷体_GB2312" pitchFamily="49" charset="-122"/>
            </a:endParaRPr>
          </a:p>
          <a:p>
            <a:r>
              <a:rPr lang="en-US" altLang="zh-CN" sz="2800">
                <a:ea typeface="楷体_GB2312" pitchFamily="49" charset="-122"/>
              </a:rPr>
              <a:t>1964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16</a:t>
            </a:r>
            <a:r>
              <a:rPr lang="zh-CN" altLang="en-US" sz="2800">
                <a:ea typeface="楷体_GB2312" pitchFamily="49" charset="-122"/>
              </a:rPr>
              <a:t>日，中国试爆成功原子弹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hammer.wav"/>
          </p:stSnd>
        </p:sndAc>
      </p:transition>
    </mc:Choice>
    <mc:Fallback>
      <p:transition spd="slow">
        <p:plus/>
        <p:sndAc>
          <p:stSnd>
            <p:snd r:embed="rId1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7</a:t>
            </a:r>
            <a:r>
              <a:rPr lang="zh-CN" altLang="en-US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公斤核燃料相当于</a:t>
            </a:r>
            <a:r>
              <a:rPr lang="en-US" altLang="zh-CN" sz="2800">
                <a:ea typeface="楷体_GB2312" pitchFamily="49" charset="-122"/>
              </a:rPr>
              <a:t>2500</a:t>
            </a:r>
            <a:r>
              <a:rPr lang="zh-CN" altLang="en-US" sz="2800">
                <a:ea typeface="楷体_GB2312" pitchFamily="49" charset="-122"/>
              </a:rPr>
              <a:t>吨煤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1954</a:t>
            </a:r>
            <a:r>
              <a:rPr lang="zh-CN" altLang="en-US" sz="2800">
                <a:ea typeface="楷体_GB2312" pitchFamily="49" charset="-122"/>
              </a:rPr>
              <a:t>年，苏联建成第一座小型原子能电站；</a:t>
            </a:r>
            <a:r>
              <a:rPr lang="en-US" altLang="zh-CN" sz="2800">
                <a:ea typeface="楷体_GB2312" pitchFamily="49" charset="-122"/>
              </a:rPr>
              <a:t>1956</a:t>
            </a:r>
            <a:r>
              <a:rPr lang="zh-CN" altLang="en-US" sz="2800">
                <a:ea typeface="楷体_GB2312" pitchFamily="49" charset="-122"/>
              </a:rPr>
              <a:t>（英国），</a:t>
            </a:r>
            <a:r>
              <a:rPr lang="en-US" altLang="zh-CN" sz="2800">
                <a:ea typeface="楷体_GB2312" pitchFamily="49" charset="-122"/>
              </a:rPr>
              <a:t>1957</a:t>
            </a:r>
            <a:r>
              <a:rPr lang="zh-CN" altLang="en-US" sz="2800">
                <a:ea typeface="楷体_GB2312" pitchFamily="49" charset="-122"/>
              </a:rPr>
              <a:t>（美国）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核电站：成本低、污染小、效率高，但事故太可怕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1986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26</a:t>
            </a:r>
            <a:r>
              <a:rPr lang="zh-CN" altLang="en-US" sz="2800">
                <a:ea typeface="楷体_GB2312" pitchFamily="49" charset="-122"/>
              </a:rPr>
              <a:t>日切尔诺贝利核电站第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号机组发生爆炸。人为造成三道安全措施无效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1979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28</a:t>
            </a:r>
            <a:r>
              <a:rPr lang="zh-CN" altLang="en-US" sz="2800">
                <a:ea typeface="楷体_GB2312" pitchFamily="49" charset="-122"/>
              </a:rPr>
              <a:t>日三里岛核电站二号堆事故，由于多重安全系统发挥作用，后果不严重</a:t>
            </a:r>
            <a:endParaRPr lang="zh-CN" altLang="en-US" sz="2800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核聚变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5C348E-8D30-4D11-9747-23F1EBFF28C8}" type="slidenum">
              <a:rPr lang="en-US" altLang="zh-CN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20世纪科学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hammer.wav"/>
          </p:stSnd>
        </p:sndAc>
      </p:transition>
    </mc:Choice>
    <mc:Fallback>
      <p:transition spd="slow">
        <p:plus/>
        <p:sndAc>
          <p:stSnd>
            <p:snd r:embed="rId1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8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TYPE" val="i"/>
  <p:tag name="KSO_WM_UNIT_INDEX" val="1"/>
  <p:tag name="KSO_WM_UNIT_ID" val="_3*i*1"/>
  <p:tag name="KSO_WM_UNIT_LAYERLEVEL" val="1"/>
  <p:tag name="KSO_WM_TAG_VERSION" val="1.0"/>
  <p:tag name="KSO_WM_BEAUTIFY_FLAG" val="#wm#"/>
  <p:tag name="KSO_WM_UNIT_DIAGRAM_ISNUMVISUAL" val="0"/>
  <p:tag name="KSO_WM_UNIT_DIAGRAM_ISREFERUNIT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0947_1"/>
  <p:tag name="KSO_WM_TEMPLATE_CATEGORY" val="custom"/>
  <p:tag name="KSO_WM_TEMPLATE_INDEX" val="20196575"/>
  <p:tag name="KSO_WM_TEMPLATE_SUBCATEGORY" val="0"/>
  <p:tag name="KSO_WM_TEMPLATE_THUMBS_INDEX" val="1"/>
</p:tagLst>
</file>

<file path=ppt/tags/tag77.xml><?xml version="1.0" encoding="utf-8"?>
<p:tagLst xmlns:p="http://schemas.openxmlformats.org/presentationml/2006/main">
  <p:tag name="KSO_WPP_MARK_KEY" val="065abeca-0ded-4b35-be82-46fdbc92c831"/>
  <p:tag name="COMMONDATA" val="eyJoZGlkIjoiNjQwNzdkNTI0ZmEyODlhNmVjYjU4ZGU0YTBmMWRhMTcifQ=="/>
</p:tagLst>
</file>

<file path=ppt/theme/theme1.xml><?xml version="1.0" encoding="utf-8"?>
<a:theme xmlns:a="http://schemas.openxmlformats.org/drawingml/2006/main" name="主题一">
  <a:themeElements>
    <a:clrScheme name="自定义 2">
      <a:dk1>
        <a:srgbClr val="466424"/>
      </a:dk1>
      <a:lt1>
        <a:srgbClr val="FFFFFF"/>
      </a:lt1>
      <a:dk2>
        <a:srgbClr val="7A9858"/>
      </a:dk2>
      <a:lt2>
        <a:srgbClr val="FFFFFF"/>
      </a:lt2>
      <a:accent1>
        <a:srgbClr val="3B561D"/>
      </a:accent1>
      <a:accent2>
        <a:srgbClr val="98CC77"/>
      </a:accent2>
      <a:accent3>
        <a:srgbClr val="779989"/>
      </a:accent3>
      <a:accent4>
        <a:srgbClr val="354B1B"/>
      </a:accent4>
      <a:accent5>
        <a:srgbClr val="466424"/>
      </a:accent5>
      <a:accent6>
        <a:srgbClr val="BED7CB"/>
      </a:accent6>
      <a:hlink>
        <a:srgbClr val="98CC77"/>
      </a:hlink>
      <a:folHlink>
        <a:srgbClr val="AABBCB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WPS 演示</Application>
  <PresentationFormat>全屏显示(4:3)</PresentationFormat>
  <Paragraphs>112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微软雅黑</vt:lpstr>
      <vt:lpstr>楷体_GB2312</vt:lpstr>
      <vt:lpstr>新宋体</vt:lpstr>
      <vt:lpstr>Arial Unicode MS</vt:lpstr>
      <vt:lpstr>Calibri</vt:lpstr>
      <vt:lpstr>主题一</vt:lpstr>
      <vt:lpstr>20世纪科学</vt:lpstr>
      <vt:lpstr>20世纪100项新闻的科技部分（38）</vt:lpstr>
      <vt:lpstr>原子能的开发（1）</vt:lpstr>
      <vt:lpstr>原子能的开发（2）</vt:lpstr>
      <vt:lpstr>原子能的开发（3）</vt:lpstr>
      <vt:lpstr>原子能的开发（4）</vt:lpstr>
      <vt:lpstr>原子能的开发（5）</vt:lpstr>
      <vt:lpstr>原子能的开发（6）</vt:lpstr>
      <vt:lpstr>原子能的开发（7）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20世纪科学</dc:title>
  <dc:creator/>
  <cp:lastModifiedBy>湖北技能高考-陈欢</cp:lastModifiedBy>
  <cp:revision>20</cp:revision>
  <cp:lastPrinted>2113-01-01T00:00:00Z</cp:lastPrinted>
  <dcterms:created xsi:type="dcterms:W3CDTF">2023-10-24T07:37:00Z</dcterms:created>
  <dcterms:modified xsi:type="dcterms:W3CDTF">2025-12-03T07:10:15Z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E430FC0DE8A345C7B7662A98EC1A14C9_12</vt:lpwstr>
  </property>
  <property fmtid="{D5CDD505-2E9C-101B-9397-08002B2CF9AE}" pid="3" name="KSOProductBuildVer">
    <vt:lpwstr>2052-12.1.0.15712</vt:lpwstr>
  </property>
</Properties>
</file>