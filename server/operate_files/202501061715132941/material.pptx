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702" autoAdjust="0"/>
  </p:normalViewPr>
  <p:slideViewPr>
    <p:cSldViewPr>
      <p:cViewPr varScale="1">
        <p:scale>
          <a:sx n="101" d="100"/>
          <a:sy n="101" d="100"/>
        </p:scale>
        <p:origin x="-2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026"/>
          <p:cNvGrpSpPr/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4099" name="Freeform 1027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" name="Arc 1028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1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4" name="Rectangle 103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5" name="Rectangle 1033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36524C8-84B0-4E10-B16C-878B1DF592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3BF92-A5A9-479D-8D08-1FA6858831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17681-E15F-4FD5-9CDE-DA416F59D2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D3B0B-F23A-4A94-BD2D-0CEEDFECC8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75756-62B8-4ECB-A204-3C69BBE366F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A94EC-1617-445C-BD94-7C063F7ABB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6DA5E2-2C8B-4615-B87F-F03D6DBE08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EBBC2-4846-4A2C-8409-44C36947B8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2B8F1-AEB2-4D1E-8B32-4CF9963B4F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72AC0-29A8-4A0A-9633-27AEE3958B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r">
              <a:defRPr kumimoji="0" sz="1400"/>
            </a:lvl1pPr>
          </a:lstStyle>
          <a:p>
            <a:fld id="{38F92092-A869-44FC-91A5-E2233B3978E3}" type="slidenum">
              <a:rPr lang="en-US" altLang="zh-CN"/>
            </a:fld>
            <a:endParaRPr lang="en-US" altLang="zh-CN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25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1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1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15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905000"/>
            <a:ext cx="7772400" cy="1143000"/>
          </a:xfrm>
        </p:spPr>
        <p:txBody>
          <a:bodyPr/>
          <a:lstStyle/>
          <a:p>
            <a:r>
              <a:rPr lang="en-US" altLang="zh-CN" sz="6000"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6000">
                <a:latin typeface="楷体_GB2312" pitchFamily="49" charset="-122"/>
                <a:ea typeface="楷体_GB2312" pitchFamily="49" charset="-122"/>
              </a:rPr>
              <a:t>世纪科学</a:t>
            </a:r>
            <a:endParaRPr lang="zh-CN" altLang="en-US" sz="60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733800"/>
            <a:ext cx="6400800" cy="2057400"/>
          </a:xfrm>
        </p:spPr>
        <p:txBody>
          <a:bodyPr/>
          <a:lstStyle/>
          <a:p>
            <a:r>
              <a:rPr lang="zh-CN" altLang="en-US" sz="4400">
                <a:ea typeface="楷体_GB2312" pitchFamily="49" charset="-122"/>
              </a:rPr>
              <a:t>超级能量的开发</a:t>
            </a:r>
            <a:endParaRPr lang="zh-CN" altLang="en-US" sz="4400">
              <a:ea typeface="楷体_GB2312" pitchFamily="49" charset="-122"/>
            </a:endParaRPr>
          </a:p>
          <a:p>
            <a:r>
              <a:rPr lang="zh-CN" altLang="en-US" sz="4400">
                <a:ea typeface="楷体_GB2312" pitchFamily="49" charset="-122"/>
              </a:rPr>
              <a:t>生活世界的重塑</a:t>
            </a:r>
            <a:endParaRPr lang="zh-CN" altLang="en-US" sz="44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ea typeface="楷体_GB2312" pitchFamily="49" charset="-122"/>
              </a:rPr>
              <a:t>20</a:t>
            </a:r>
            <a:r>
              <a:rPr lang="zh-CN" altLang="en-US" sz="2000">
                <a:ea typeface="楷体_GB2312" pitchFamily="49" charset="-122"/>
              </a:rPr>
              <a:t>世纪</a:t>
            </a:r>
            <a:r>
              <a:rPr lang="en-US" altLang="zh-CN" sz="2000">
                <a:ea typeface="楷体_GB2312" pitchFamily="49" charset="-122"/>
              </a:rPr>
              <a:t>100</a:t>
            </a:r>
            <a:r>
              <a:rPr lang="zh-CN" altLang="en-US" sz="2000">
                <a:ea typeface="楷体_GB2312" pitchFamily="49" charset="-122"/>
              </a:rPr>
              <a:t>项新闻的科技部分（</a:t>
            </a:r>
            <a:r>
              <a:rPr lang="en-US" altLang="zh-CN" sz="2000">
                <a:ea typeface="楷体_GB2312" pitchFamily="49" charset="-122"/>
              </a:rPr>
              <a:t>38</a:t>
            </a:r>
            <a:r>
              <a:rPr lang="zh-CN" altLang="en-US" sz="2000">
                <a:ea typeface="楷体_GB2312" pitchFamily="49" charset="-122"/>
              </a:rPr>
              <a:t>）</a:t>
            </a:r>
            <a:endParaRPr lang="zh-CN" altLang="en-US" sz="2000">
              <a:ea typeface="楷体_GB2312" pitchFamily="49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63000" cy="4953000"/>
          </a:xfrm>
        </p:spPr>
        <p:txBody>
          <a:bodyPr/>
          <a:lstStyle/>
          <a:p>
            <a:r>
              <a:rPr lang="zh-CN" altLang="en-US">
                <a:ea typeface="楷体_GB2312" pitchFamily="49" charset="-122"/>
              </a:rPr>
              <a:t>纯理论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项（</a:t>
            </a:r>
            <a:r>
              <a:rPr lang="en-US" altLang="zh-CN">
                <a:ea typeface="楷体_GB2312" pitchFamily="49" charset="-122"/>
              </a:rPr>
              <a:t>DNA</a:t>
            </a:r>
            <a:r>
              <a:rPr lang="zh-CN" altLang="en-US">
                <a:ea typeface="楷体_GB2312" pitchFamily="49" charset="-122"/>
              </a:rPr>
              <a:t>、相对论、量子论、弗洛伊德、进化论）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核能利用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项（投弹、试爆、研制、核电站事故）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航空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项（莱特兄弟、林白、喷气式）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航天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项（登月、卫星、加加林、谢帕德、挑战者号、格伦、火星探索者）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生物医药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项（盘尼西林、避孕丸、脊髓灰质炎疫苗、艾滋病、克隆羊、试管婴儿）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通讯传媒</a:t>
            </a:r>
            <a:r>
              <a:rPr lang="en-US" altLang="zh-CN">
                <a:ea typeface="楷体_GB2312" pitchFamily="49" charset="-122"/>
              </a:rPr>
              <a:t>10</a:t>
            </a:r>
            <a:r>
              <a:rPr lang="zh-CN" altLang="en-US">
                <a:ea typeface="楷体_GB2312" pitchFamily="49" charset="-122"/>
              </a:rPr>
              <a:t>项（电视机、个人电脑、</a:t>
            </a:r>
            <a:r>
              <a:rPr lang="en-US" altLang="zh-CN">
                <a:ea typeface="楷体_GB2312" pitchFamily="49" charset="-122"/>
              </a:rPr>
              <a:t>WWW</a:t>
            </a:r>
            <a:r>
              <a:rPr lang="zh-CN" altLang="en-US">
                <a:ea typeface="楷体_GB2312" pitchFamily="49" charset="-122"/>
              </a:rPr>
              <a:t>、晶体管、电台节目、</a:t>
            </a:r>
            <a:r>
              <a:rPr lang="en-US" altLang="zh-CN">
                <a:ea typeface="楷体_GB2312" pitchFamily="49" charset="-122"/>
              </a:rPr>
              <a:t>ENIAC</a:t>
            </a:r>
            <a:r>
              <a:rPr lang="zh-CN" altLang="en-US">
                <a:ea typeface="楷体_GB2312" pitchFamily="49" charset="-122"/>
              </a:rPr>
              <a:t>、电视、晶片、马可尼、微软）</a:t>
            </a:r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1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楷体_GB2312" pitchFamily="49" charset="-122"/>
              </a:rPr>
              <a:t>1919</a:t>
            </a:r>
            <a:r>
              <a:rPr lang="zh-CN" altLang="en-US">
                <a:ea typeface="楷体_GB2312" pitchFamily="49" charset="-122"/>
              </a:rPr>
              <a:t>年，英国卢瑟福用</a:t>
            </a:r>
            <a:r>
              <a:rPr lang="en-US" altLang="zh-CN">
                <a:cs typeface="Times New Roman" panose="02020603050405020304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粒子轰击氮原子核，使其嬗变成氧原子。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年，查得威克发现中子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1934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年，法国约里奥－居里夫妇用</a:t>
            </a:r>
            <a:r>
              <a:rPr lang="en-US" altLang="zh-CN">
                <a:cs typeface="Times New Roman" panose="02020603050405020304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粒子轰击铝，产生了一个磷的同位素，但很快放出正电子蜕变为硅。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年，卢瑟福和爱因斯坦均没有意识到原子能的实际利用近在眼前。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2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>
                <a:ea typeface="楷体_GB2312" pitchFamily="49" charset="-122"/>
              </a:rPr>
              <a:t>1934</a:t>
            </a:r>
            <a:r>
              <a:rPr lang="zh-CN" altLang="en-US" sz="2800">
                <a:ea typeface="楷体_GB2312" pitchFamily="49" charset="-122"/>
              </a:rPr>
              <a:t>年，意大利物理学家费米用中子轰击原子核，并发现通过石蜡减速之后的慢中子，裂核能力更强。费米因此获</a:t>
            </a:r>
            <a:r>
              <a:rPr lang="en-US" altLang="zh-CN" sz="2800">
                <a:ea typeface="楷体_GB2312" pitchFamily="49" charset="-122"/>
              </a:rPr>
              <a:t>38</a:t>
            </a:r>
            <a:r>
              <a:rPr lang="zh-CN" altLang="en-US" sz="2800">
                <a:ea typeface="楷体_GB2312" pitchFamily="49" charset="-122"/>
              </a:rPr>
              <a:t>年物理奖。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年，德国哈恩发现铀嬗变后出现的新元素与铀相距甚远。奥地利女物理学家迈特纳提出核裂变猜想，以解释铀实验。并称裂变过程要放出大量能量。</a:t>
            </a:r>
            <a:endParaRPr lang="zh-CN" altLang="en-US" sz="2800">
              <a:ea typeface="楷体_GB2312" pitchFamily="49" charset="-122"/>
            </a:endParaRPr>
          </a:p>
          <a:p>
            <a:r>
              <a:rPr lang="zh-CN" altLang="en-US" sz="2800">
                <a:ea typeface="楷体_GB2312" pitchFamily="49" charset="-122"/>
              </a:rPr>
              <a:t>费米提出链式反应概念。</a:t>
            </a:r>
            <a:endParaRPr lang="zh-CN" altLang="en-US" sz="28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年，爱因斯坦移居美国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年，费米逃往美国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德国尚有普朗克、玻恩、海森堡、魏扎克、劳厄、哈恩、盖革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年，匈牙利物理学家齐拉德（</a:t>
            </a:r>
            <a:r>
              <a:rPr lang="en-US" altLang="zh-CN" sz="2800">
                <a:ea typeface="楷体_GB2312" pitchFamily="49" charset="-122"/>
              </a:rPr>
              <a:t>1898</a:t>
            </a:r>
            <a:r>
              <a:rPr lang="zh-CN" altLang="en-US" sz="2800">
                <a:ea typeface="楷体_GB2312" pitchFamily="49" charset="-122"/>
              </a:rPr>
              <a:t>－</a:t>
            </a:r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）已经意识到核能的开发可能用于军事</a:t>
            </a:r>
            <a:endParaRPr lang="zh-CN" altLang="en-US" sz="28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1935</a:t>
            </a:r>
            <a:r>
              <a:rPr lang="zh-CN" altLang="en-US" sz="2400">
                <a:ea typeface="楷体_GB2312" pitchFamily="49" charset="-122"/>
              </a:rPr>
              <a:t>年，建议物理学家暂缓发表研究成果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年，玻尔认为核能利用为时尚早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年，说服美国政府抢在德国之前抓紧研制原子弹。爱因斯坦、萨克斯、罗斯福</a:t>
            </a:r>
            <a:endParaRPr lang="zh-CN" altLang="en-US" sz="24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1940</a:t>
            </a:r>
            <a:r>
              <a:rPr lang="zh-CN" altLang="en-US" sz="2800">
                <a:ea typeface="楷体_GB2312" pitchFamily="49" charset="-122"/>
              </a:rPr>
              <a:t>年，美国政府正式大量拨款，启动“曼哈顿工程”，格罗夫斯将军为行政首脑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1941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月，费米在芝加哥研制原子反应堆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铀的提纯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月。奥本海默在新墨西哥州的洛斯阿拉莫斯主持原子弹研制。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日凌晨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30</a:t>
            </a:r>
            <a:r>
              <a:rPr lang="zh-CN" altLang="en-US" sz="2800">
                <a:ea typeface="楷体_GB2312" pitchFamily="49" charset="-122"/>
              </a:rPr>
              <a:t>分，第一颗铀原子弹试爆成功。比一千个太阳都亮。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曼哈顿工程：动员</a:t>
            </a:r>
            <a:r>
              <a:rPr lang="en-US" altLang="zh-CN" sz="2800">
                <a:ea typeface="楷体_GB2312" pitchFamily="49" charset="-122"/>
              </a:rPr>
              <a:t>50</a:t>
            </a:r>
            <a:r>
              <a:rPr lang="zh-CN" altLang="en-US" sz="2800">
                <a:ea typeface="楷体_GB2312" pitchFamily="49" charset="-122"/>
              </a:rPr>
              <a:t>万人，耗费</a:t>
            </a:r>
            <a:r>
              <a:rPr lang="en-US" altLang="zh-CN" sz="2800">
                <a:ea typeface="楷体_GB2312" pitchFamily="49" charset="-122"/>
              </a:rPr>
              <a:t>22</a:t>
            </a:r>
            <a:r>
              <a:rPr lang="zh-CN" altLang="en-US" sz="2800">
                <a:ea typeface="楷体_GB2312" pitchFamily="49" charset="-122"/>
              </a:rPr>
              <a:t>亿美元，占用全国三分之一的电力</a:t>
            </a:r>
            <a:endParaRPr lang="zh-CN" altLang="en-US" sz="28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1944</a:t>
            </a:r>
            <a:r>
              <a:rPr lang="zh-CN" altLang="en-US" sz="2800">
                <a:ea typeface="楷体_GB2312" pitchFamily="49" charset="-122"/>
              </a:rPr>
              <a:t>年底，盟军的特工小组已经发现德国造不出原子弹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科学家的犹豫：</a:t>
            </a:r>
            <a:endParaRPr lang="zh-CN" altLang="en-US" sz="28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继续干吗？缺乏政治和道义上的支持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不干吗？不符合现代科学技术的精神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好的理由：应该让全人类知道它的威力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齐拉德、爱因斯坦的态度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日，铀弹小男孩投到广岛；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9</a:t>
            </a:r>
            <a:r>
              <a:rPr lang="zh-CN" altLang="en-US" sz="2800">
                <a:ea typeface="楷体_GB2312" pitchFamily="49" charset="-122"/>
              </a:rPr>
              <a:t>日，钚弹胖子投在长崎</a:t>
            </a:r>
            <a:endParaRPr lang="zh-CN" altLang="en-US" sz="28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核军备竞赛：盟国之争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月，斯大林下令抓紧研制原子弹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1949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月，苏联成功地进行了核实验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11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日，美国试爆第一颗氢弹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月，苏联研制氢弹成功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日，英国研制成功原子弹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1960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2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13</a:t>
            </a:r>
            <a:r>
              <a:rPr lang="zh-CN" altLang="en-US" sz="2800">
                <a:ea typeface="楷体_GB2312" pitchFamily="49" charset="-122"/>
              </a:rPr>
              <a:t>日，法国研制成功钚弹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日，中国试爆成功原子弹</a:t>
            </a:r>
            <a:endParaRPr lang="zh-CN" altLang="en-US" sz="28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公斤核燃料相当于</a:t>
            </a:r>
            <a:r>
              <a:rPr lang="en-US" altLang="zh-CN" sz="2800">
                <a:ea typeface="楷体_GB2312" pitchFamily="49" charset="-122"/>
              </a:rPr>
              <a:t>2500</a:t>
            </a:r>
            <a:r>
              <a:rPr lang="zh-CN" altLang="en-US" sz="2800">
                <a:ea typeface="楷体_GB2312" pitchFamily="49" charset="-122"/>
              </a:rPr>
              <a:t>吨煤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1954</a:t>
            </a:r>
            <a:r>
              <a:rPr lang="zh-CN" altLang="en-US" sz="2800">
                <a:ea typeface="楷体_GB2312" pitchFamily="49" charset="-122"/>
              </a:rPr>
              <a:t>年，苏联建成第一座小型原子能电站；</a:t>
            </a:r>
            <a:r>
              <a:rPr lang="en-US" altLang="zh-CN" sz="2800">
                <a:ea typeface="楷体_GB2312" pitchFamily="49" charset="-122"/>
              </a:rPr>
              <a:t>1956</a:t>
            </a:r>
            <a:r>
              <a:rPr lang="zh-CN" altLang="en-US" sz="2800">
                <a:ea typeface="楷体_GB2312" pitchFamily="49" charset="-122"/>
              </a:rPr>
              <a:t>（英国），</a:t>
            </a:r>
            <a:r>
              <a:rPr lang="en-US" altLang="zh-CN" sz="2800">
                <a:ea typeface="楷体_GB2312" pitchFamily="49" charset="-122"/>
              </a:rPr>
              <a:t>1957</a:t>
            </a:r>
            <a:r>
              <a:rPr lang="zh-CN" altLang="en-US" sz="2800">
                <a:ea typeface="楷体_GB2312" pitchFamily="49" charset="-122"/>
              </a:rPr>
              <a:t>（美国）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核电站：成本低、污染小、效率高，但事故太可怕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1986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26</a:t>
            </a:r>
            <a:r>
              <a:rPr lang="zh-CN" altLang="en-US" sz="2800">
                <a:ea typeface="楷体_GB2312" pitchFamily="49" charset="-122"/>
              </a:rPr>
              <a:t>日切尔诺贝利核电站第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号机组发生爆炸。人为造成三道安全措施无效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1979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28</a:t>
            </a:r>
            <a:r>
              <a:rPr lang="zh-CN" altLang="en-US" sz="2800">
                <a:ea typeface="楷体_GB2312" pitchFamily="49" charset="-122"/>
              </a:rPr>
              <a:t>日三里岛核电站二号堆事故，由于多重安全系统发挥作用，后果不严重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核聚变</a:t>
            </a:r>
            <a:endParaRPr lang="zh-CN" altLang="en-US" sz="28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65abeca-0ded-4b35-be82-46fdbc92c831"/>
  <p:tag name="COMMONDATA" val="eyJoZGlkIjoiM2Q2NDY3ODBmZDEyZTZiNTFiOWYyZGE1YmNkNTA1NzM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WPS 演示</Application>
  <PresentationFormat>全屏显示(4:3)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楷体_GB2312</vt:lpstr>
      <vt:lpstr>新宋体</vt:lpstr>
      <vt:lpstr>微软雅黑</vt:lpstr>
      <vt:lpstr>Arial Unicode MS</vt:lpstr>
      <vt:lpstr>Calibri</vt:lpstr>
      <vt:lpstr>Soaring</vt:lpstr>
      <vt:lpstr>20世纪科学</vt:lpstr>
      <vt:lpstr>20世纪100项新闻的科技部分（38）</vt:lpstr>
      <vt:lpstr>原子能的开发（1）</vt:lpstr>
      <vt:lpstr>原子能的开发（2）</vt:lpstr>
      <vt:lpstr>原子能的开发（3）</vt:lpstr>
      <vt:lpstr>原子能的开发（4）</vt:lpstr>
      <vt:lpstr>原子能的开发（5）</vt:lpstr>
      <vt:lpstr>原子能的开发（6）</vt:lpstr>
      <vt:lpstr>原子能的开发（7）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20世纪科学</dc:title>
  <dc:creator/>
  <cp:lastModifiedBy>zy</cp:lastModifiedBy>
  <cp:revision>5</cp:revision>
  <cp:lastPrinted>2113-01-01T00:00:00Z</cp:lastPrinted>
  <dcterms:created xsi:type="dcterms:W3CDTF">2023-10-24T07:37:36Z</dcterms:created>
  <dcterms:modified xsi:type="dcterms:W3CDTF">2023-10-24T07:39:39Z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E430FC0DE8A345C7B7662A98EC1A14C9_12</vt:lpwstr>
  </property>
  <property fmtid="{D5CDD505-2E9C-101B-9397-08002B2CF9AE}" pid="3" name="KSOProductBuildVer">
    <vt:lpwstr>2052-11.1.0.14227</vt:lpwstr>
  </property>
</Properties>
</file>