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57" r:id="rId4"/>
    <p:sldId id="260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4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6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43001" y="2032001"/>
            <a:ext cx="6858000" cy="1396630"/>
          </a:xfrm>
        </p:spPr>
        <p:txBody>
          <a:bodyPr rIns="25400" anchor="b">
            <a:noAutofit/>
          </a:bodyPr>
          <a:lstStyle>
            <a:lvl1pPr algn="ctr">
              <a:defRPr sz="4800" spc="6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143001" y="3587404"/>
            <a:ext cx="6858000" cy="1021031"/>
          </a:xfrm>
        </p:spPr>
        <p:txBody>
          <a:bodyPr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bg1"/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F9877-60DA-411E-ADA9-8322F6788FC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1CEFCAFC-9924-4E96-8895-86B3EBD527C5}" type="slidenum">
              <a:rPr lang="en-US" altLang="zh-CN"/>
            </a:fld>
            <a:endParaRPr lang="en-US" altLang="zh-CN"/>
          </a:p>
        </p:txBody>
      </p:sp>
      <p:sp>
        <p:nvSpPr>
          <p:cNvPr id="10" name="六边形 9"/>
          <p:cNvSpPr/>
          <p:nvPr>
            <p:custDataLst>
              <p:tags r:id="rId7"/>
            </p:custDataLst>
          </p:nvPr>
        </p:nvSpPr>
        <p:spPr>
          <a:xfrm>
            <a:off x="118462" y="443234"/>
            <a:ext cx="383949" cy="441964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240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image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780" r="3660"/>
          <a:stretch>
            <a:fillRect/>
          </a:stretch>
        </p:blipFill>
        <p:spPr>
          <a:xfrm rot="5400000">
            <a:off x="-1006316" y="1336675"/>
            <a:ext cx="5153501" cy="4185285"/>
          </a:xfrm>
          <a:prstGeom prst="rect">
            <a:avLst/>
          </a:prstGeom>
        </p:spPr>
      </p:pic>
      <p:sp>
        <p:nvSpPr>
          <p:cNvPr id="5" name="六边形 4"/>
          <p:cNvSpPr/>
          <p:nvPr>
            <p:custDataLst>
              <p:tags r:id="rId4"/>
            </p:custDataLst>
          </p:nvPr>
        </p:nvSpPr>
        <p:spPr>
          <a:xfrm>
            <a:off x="2711054" y="2924175"/>
            <a:ext cx="879872" cy="1009650"/>
          </a:xfrm>
          <a:prstGeom prst="hexagon">
            <a:avLst/>
          </a:prstGeom>
          <a:solidFill>
            <a:schemeClr val="accent2"/>
          </a:solidFill>
          <a:ln>
            <a:solidFill>
              <a:schemeClr val="accent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923929" y="2673627"/>
            <a:ext cx="3455876" cy="816646"/>
          </a:xfrm>
        </p:spPr>
        <p:txBody>
          <a:bodyPr rIns="63500" anchor="b">
            <a:noAutofit/>
          </a:bodyPr>
          <a:lstStyle>
            <a:lvl1pPr>
              <a:defRPr sz="3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3923928" y="3571479"/>
            <a:ext cx="3455876" cy="682469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CC0D75BF-BD47-40E5-AF20-A3D3EA9C34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A10BF-BBB1-408C-A42D-5B4DDEE3FA3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09943-4811-4D4E-BEDE-9A1DAB19A1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fld id="{12BF833B-EDC2-494A-A1D3-A5C6F77C39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623CD-2907-44B4-ACD6-670A40CCD96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D9F4C-C389-41EC-AE37-A7003968725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F6ECF-C046-4970-B4F7-6B13E33B84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604E170-34F3-456A-9539-A9B12C468DB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28649" y="2473126"/>
            <a:ext cx="7886701" cy="1911747"/>
          </a:xfrm>
        </p:spPr>
        <p:txBody>
          <a:bodyPr rtlCol="0" anchor="ctr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单击此处编辑标题</a:t>
            </a:r>
            <a:endParaRPr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74DE4A-AF88-4CC7-8A46-288F8CD57EC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734CF2C-61AA-46CF-A5B5-B50E030DDE74}" type="slidenum">
              <a:rPr lang="en-US" altLang="zh-CN"/>
            </a:fld>
            <a:endParaRPr lang="en-US" altLang="zh-CN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4300">
                <a:solidFill>
                  <a:srgbClr val="C1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公共交通工具逃生指南</a:t>
            </a:r>
            <a:endParaRPr lang="zh-CN" altLang="en-US" sz="4300">
              <a:solidFill>
                <a:srgbClr val="C1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2700">
                <a:latin typeface="楷体" panose="02010609060101010101" charset="-122"/>
                <a:ea typeface="楷体" panose="02010609060101010101" charset="-122"/>
              </a:rPr>
              <a:t>专家建议</a:t>
            </a:r>
            <a:endParaRPr lang="zh-CN" altLang="en-US" sz="27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缺乏安全出行基本常识</a:t>
            </a:r>
            <a:endParaRPr lang="zh-CN" alt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成都公交车自燃事件后，不管出门是坐公交车还是地铁，很多人安全意识有了很大提高。但在日前健康时报联合新浪网健康频道进行的有</a:t>
            </a:r>
            <a:r>
              <a:rPr lang="en-US" altLang="zh-CN"/>
              <a:t>7540</a:t>
            </a:r>
            <a:r>
              <a:rPr lang="zh-CN" altLang="en-US"/>
              <a:t>人参与的调查中，发现还是有不少人对安全出行缺乏基本的常识</a:t>
            </a:r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910" y="2134235"/>
            <a:ext cx="2822575" cy="3023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公共交通工具逃生指南</a:t>
            </a:r>
            <a:endParaRPr lang="zh-CN" altLang="en-US"/>
          </a:p>
        </p:txBody>
      </p:sp>
      <p:graphicFrame>
        <p:nvGraphicFramePr>
          <p:cNvPr id="7" name="内容占位符 6"/>
          <p:cNvGraphicFramePr/>
          <p:nvPr>
            <p:ph idx="1"/>
            <p:custDataLst>
              <p:tags r:id="rId1"/>
            </p:custDataLst>
          </p:nvPr>
        </p:nvGraphicFramePr>
        <p:xfrm>
          <a:off x="502412" y="952508"/>
          <a:ext cx="8139430" cy="1143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69715"/>
                <a:gridCol w="40697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交通工具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逃生方法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地铁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 dirty="0" smtClean="0">
                          <a:sym typeface="+mn-ea"/>
                        </a:rPr>
                        <a:t>地铁</a:t>
                      </a:r>
                      <a:r>
                        <a:rPr lang="zh-CN" altLang="en-US" sz="1350" dirty="0">
                          <a:sym typeface="+mn-ea"/>
                        </a:rPr>
                        <a:t>发生</a:t>
                      </a:r>
                      <a:r>
                        <a:rPr lang="zh-CN" altLang="en-US" sz="1350" dirty="0" smtClean="0">
                          <a:sym typeface="+mn-ea"/>
                        </a:rPr>
                        <a:t>火灾只有</a:t>
                      </a:r>
                      <a:r>
                        <a:rPr lang="en-US" altLang="zh-CN" sz="1350" dirty="0">
                          <a:sym typeface="+mn-ea"/>
                        </a:rPr>
                        <a:t>5</a:t>
                      </a:r>
                      <a:r>
                        <a:rPr lang="zh-CN" altLang="en-US" sz="1350" dirty="0">
                          <a:sym typeface="+mn-ea"/>
                        </a:rPr>
                        <a:t>分钟逃生时间</a:t>
                      </a:r>
                      <a:r>
                        <a:rPr lang="zh-CN" altLang="en-US" sz="1350" dirty="0" smtClean="0">
                          <a:sym typeface="+mn-ea"/>
                        </a:rPr>
                        <a:t>。遇车厢起火等</a:t>
                      </a:r>
                      <a:r>
                        <a:rPr lang="zh-CN" altLang="en-US" sz="1350" dirty="0">
                          <a:sym typeface="+mn-ea"/>
                        </a:rPr>
                        <a:t>异常情况</a:t>
                      </a:r>
                      <a:r>
                        <a:rPr lang="zh-CN" altLang="en-US" sz="1350" dirty="0" smtClean="0">
                          <a:sym typeface="+mn-ea"/>
                        </a:rPr>
                        <a:t>，立即按</a:t>
                      </a:r>
                      <a:r>
                        <a:rPr lang="zh-CN" altLang="en-US" sz="1350" dirty="0">
                          <a:sym typeface="+mn-ea"/>
                        </a:rPr>
                        <a:t>动车厢</a:t>
                      </a:r>
                      <a:r>
                        <a:rPr lang="zh-CN" altLang="en-US" sz="1350" dirty="0" smtClean="0">
                          <a:sym typeface="+mn-ea"/>
                        </a:rPr>
                        <a:t>两端报警器报警司机</a:t>
                      </a:r>
                      <a:r>
                        <a:rPr lang="zh-CN" altLang="en-US" sz="1350" dirty="0">
                          <a:sym typeface="+mn-ea"/>
                        </a:rPr>
                        <a:t>，同时立即拨打</a:t>
                      </a:r>
                      <a:r>
                        <a:rPr lang="en-US" altLang="zh-CN" sz="1350" dirty="0">
                          <a:sym typeface="+mn-ea"/>
                        </a:rPr>
                        <a:t>119</a:t>
                      </a:r>
                      <a:r>
                        <a:rPr lang="zh-CN" altLang="en-US" sz="1350" dirty="0" smtClean="0">
                          <a:sym typeface="+mn-ea"/>
                        </a:rPr>
                        <a:t>，并用车厢内灭火器，将</a:t>
                      </a:r>
                      <a:r>
                        <a:rPr lang="zh-CN" altLang="en-US" sz="1350" dirty="0">
                          <a:sym typeface="+mn-ea"/>
                        </a:rPr>
                        <a:t>小火消灭在萌芽之中。</a:t>
                      </a:r>
                      <a:endParaRPr lang="zh-CN" altLang="en-US" sz="1350" dirty="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350" dirty="0" smtClean="0">
                          <a:sym typeface="+mn-ea"/>
                        </a:rPr>
                        <a:t>一定</a:t>
                      </a:r>
                      <a:r>
                        <a:rPr lang="zh-CN" altLang="en-US" sz="1350" dirty="0">
                          <a:sym typeface="+mn-ea"/>
                        </a:rPr>
                        <a:t>要等到车停稳车门打开再逃离</a:t>
                      </a:r>
                      <a:r>
                        <a:rPr lang="zh-CN" altLang="en-US" sz="1350" dirty="0" smtClean="0">
                          <a:sym typeface="+mn-ea"/>
                        </a:rPr>
                        <a:t>，逃离</a:t>
                      </a:r>
                      <a:r>
                        <a:rPr lang="zh-CN" altLang="en-US" sz="1350" dirty="0">
                          <a:sym typeface="+mn-ea"/>
                        </a:rPr>
                        <a:t>时应该贴近地面逃离，用湿衣或毛巾捂住口鼻，避免吸入烟尘等</a:t>
                      </a:r>
                      <a:r>
                        <a:rPr lang="zh-CN" altLang="en-US" sz="1350" dirty="0" smtClean="0">
                          <a:sym typeface="+mn-ea"/>
                        </a:rPr>
                        <a:t>，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公交车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 dirty="0" smtClean="0">
                          <a:sym typeface="+mn-ea"/>
                        </a:rPr>
                        <a:t>如</a:t>
                      </a:r>
                      <a:r>
                        <a:rPr lang="zh-CN" altLang="en-US" sz="1350" dirty="0">
                          <a:sym typeface="+mn-ea"/>
                        </a:rPr>
                        <a:t>有异响或异味，乘客应提醒司机熄火停车。查找起火点，并用灭火器灭火。</a:t>
                      </a:r>
                      <a:endParaRPr lang="zh-CN" altLang="en-US" sz="1350" dirty="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350" dirty="0">
                          <a:sym typeface="+mn-ea"/>
                        </a:rPr>
                        <a:t>发生事故时，要等车停稳后从车门处迅速逃到车外</a:t>
                      </a:r>
                      <a:r>
                        <a:rPr lang="zh-CN" altLang="en-US" sz="1350" dirty="0" smtClean="0">
                          <a:sym typeface="+mn-ea"/>
                        </a:rPr>
                        <a:t>。如果</a:t>
                      </a:r>
                      <a:r>
                        <a:rPr lang="zh-CN" altLang="en-US" sz="1350" dirty="0">
                          <a:sym typeface="+mn-ea"/>
                        </a:rPr>
                        <a:t>车门打不开，</a:t>
                      </a:r>
                      <a:r>
                        <a:rPr lang="zh-CN" altLang="en-US" sz="1350" dirty="0" smtClean="0">
                          <a:sym typeface="+mn-ea"/>
                        </a:rPr>
                        <a:t>要使用</a:t>
                      </a:r>
                      <a:r>
                        <a:rPr lang="zh-CN" altLang="en-US" sz="1350" dirty="0">
                          <a:sym typeface="+mn-ea"/>
                        </a:rPr>
                        <a:t>逃生锤打碎玻璃从窗户逃生。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ID" val="_2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6"/>
</p:tagLst>
</file>

<file path=ppt/tags/tag6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6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1944_1"/>
  <p:tag name="KSO_WM_TEMPLATE_CATEGORY" val="custom"/>
  <p:tag name="KSO_WM_TEMPLATE_INDEX" val="20196576"/>
  <p:tag name="KSO_WM_TEMPLATE_SUBCATEGORY" val="0"/>
  <p:tag name="KSO_WM_TEMPLATE_THUMBS_INDEX" val="1"/>
</p:tagLst>
</file>

<file path=ppt/tags/tag65.xml><?xml version="1.0" encoding="utf-8"?>
<p:tagLst xmlns:p="http://schemas.openxmlformats.org/presentationml/2006/main">
  <p:tag name="KSO_WM_UNIT_TABLE_BEAUTIFY" val="smartTable{2654fbb0-932b-45a6-9179-b876235d76c4}"/>
</p:tagLst>
</file>

<file path=ppt/tags/tag66.xml><?xml version="1.0" encoding="utf-8"?>
<p:tagLst xmlns:p="http://schemas.openxmlformats.org/presentationml/2006/main">
  <p:tag name="KSO_WPP_MARK_KEY" val="5389cc65-0602-4ea6-bdff-5686739f5481"/>
  <p:tag name="COMMONDATA" val="eyJoZGlkIjoiM2Q2NDY3ODBmZDEyZTZiNTFiOWYyZGE1YmNkNTA1NzMifQ=="/>
</p:tagLst>
</file>

<file path=ppt/theme/theme1.xml><?xml version="1.0" encoding="utf-8"?>
<a:theme xmlns:a="http://schemas.openxmlformats.org/drawingml/2006/main" name="主题二">
  <a:themeElements>
    <a:clrScheme name="2">
      <a:dk1>
        <a:sysClr val="windowText" lastClr="000000"/>
      </a:dk1>
      <a:lt1>
        <a:sysClr val="window" lastClr="FFFFFF"/>
      </a:lt1>
      <a:dk2>
        <a:srgbClr val="262626"/>
      </a:dk2>
      <a:lt2>
        <a:srgbClr val="EEECE1"/>
      </a:lt2>
      <a:accent1>
        <a:srgbClr val="FFFFFF"/>
      </a:accent1>
      <a:accent2>
        <a:srgbClr val="1B1E1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0</TotalTime>
  <Words>340</Words>
  <Application>WPS 演示</Application>
  <PresentationFormat>全屏显示(4:3)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Tahoma</vt:lpstr>
      <vt:lpstr>微软雅黑</vt:lpstr>
      <vt:lpstr>Arial Unicode MS</vt:lpstr>
      <vt:lpstr>Calibri</vt:lpstr>
      <vt:lpstr>黑体</vt:lpstr>
      <vt:lpstr>楷体</vt:lpstr>
      <vt:lpstr>主题二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zy</cp:lastModifiedBy>
  <cp:revision>11</cp:revision>
  <cp:lastPrinted>2113-01-01T00:00:00Z</cp:lastPrinted>
  <dcterms:created xsi:type="dcterms:W3CDTF">2009-07-23T08:37:00Z</dcterms:created>
  <dcterms:modified xsi:type="dcterms:W3CDTF">2023-10-25T07:41:11Z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  <property fmtid="{D5CDD505-2E9C-101B-9397-08002B2CF9AE}" pid="3" name="ICV">
    <vt:lpwstr>1729B67E87A243B09F14C27CA684D94D_12</vt:lpwstr>
  </property>
  <property fmtid="{D5CDD505-2E9C-101B-9397-08002B2CF9AE}" pid="4" name="KSOProductBuildVer">
    <vt:lpwstr>2052-11.1.0.14227</vt:lpwstr>
  </property>
</Properties>
</file>