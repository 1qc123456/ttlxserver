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wav" ContentType="audio/x-wav"/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Animation="0">
    <p:present/>
    <p:sldAll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7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额度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gradFill>
                <a:gsLst>
                  <a:gs pos="100000">
                    <a:schemeClr val="accent1"/>
                  </a:gs>
                  <a:gs pos="0">
                    <a:schemeClr val="accent1">
                      <a:hueOff val="-1670000"/>
                    </a:schemeClr>
                  </a:gs>
                </a:gsLst>
                <a:lin ang="0" scaled="0"/>
              </a:gra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gradFill>
                <a:gsLst>
                  <a:gs pos="100000">
                    <a:schemeClr val="accent2"/>
                  </a:gs>
                  <a:gs pos="0">
                    <a:schemeClr val="accent2">
                      <a:hueOff val="-1670000"/>
                    </a:schemeClr>
                  </a:gs>
                </a:gsLst>
                <a:lin ang="0" scaled="0"/>
              </a:gra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gradFill>
                <a:gsLst>
                  <a:gs pos="100000">
                    <a:schemeClr val="accent3"/>
                  </a:gs>
                  <a:gs pos="0">
                    <a:schemeClr val="accent3">
                      <a:hueOff val="-1670000"/>
                    </a:schemeClr>
                  </a:gs>
                </a:gsLst>
                <a:lin ang="0" scaled="0"/>
              </a:gra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1"/>
        <c:axId val="963441460"/>
        <c:axId val="717320658"/>
      </c:lineChart>
      <c:catAx>
        <c:axId val="96344146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17320658"/>
        <c:crosses val="autoZero"/>
        <c:auto val="1"/>
        <c:lblAlgn val="ctr"/>
        <c:lblOffset val="100"/>
        <c:noMultiLvlLbl val="0"/>
      </c:catAx>
      <c:valAx>
        <c:axId val="71732065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634414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3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gradFill>
          <a:gsLst>
            <a:gs pos="100000">
              <a:schemeClr val="phClr"/>
            </a:gs>
            <a:gs pos="0">
              <a:schemeClr val="phClr">
                <a:hueOff val="-1670000"/>
              </a:schemeClr>
            </a:gs>
          </a:gsLst>
          <a:lin ang="0" scaled="0"/>
        </a:gra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bg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>
            <a:alphaModFix amt="59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tags" Target="../tags/tag66.xml"/><Relationship Id="rId3" Type="http://schemas.openxmlformats.org/officeDocument/2006/relationships/slide" Target="slide5.xml"/><Relationship Id="rId2" Type="http://schemas.openxmlformats.org/officeDocument/2006/relationships/slide" Target="slide4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image" Target="../media/image2.png"/><Relationship Id="rId1" Type="http://schemas.openxmlformats.org/officeDocument/2006/relationships/tags" Target="../tags/tag6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pPr algn="l"/>
            <a:r>
              <a:rPr lang="zh-CN" altLang="zh-CN" sz="6600" u="sng">
                <a:solidFill>
                  <a:srgbClr val="0070C0"/>
                </a:solidFill>
                <a:latin typeface="仿宋" panose="02010609060101010101" charset="-122"/>
                <a:ea typeface="仿宋" panose="02010609060101010101" charset="-122"/>
              </a:rPr>
              <a:t>销售额现状与目标设定</a:t>
            </a:r>
            <a:endParaRPr lang="zh-CN" altLang="zh-CN" sz="6600" u="sng">
              <a:solidFill>
                <a:srgbClr val="0070C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8256905" y="3560445"/>
            <a:ext cx="2741295" cy="485140"/>
          </a:xfrm>
          <a:noFill/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>
            <a:normAutofit lnSpcReduction="10000"/>
          </a:bodyPr>
          <a:p>
            <a:pPr algn="r"/>
            <a:r>
              <a:rPr lang="zh-CN" altLang="en-US" i="1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销售额提升策略</a:t>
            </a:r>
            <a:endParaRPr lang="zh-CN" altLang="en-US" i="1">
              <a:solidFill>
                <a:srgbClr val="002060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660" y="1648460"/>
            <a:ext cx="3007360" cy="2233295"/>
          </a:xfrm>
        </p:spPr>
        <p:txBody>
          <a:bodyPr>
            <a:noAutofit/>
          </a:bodyPr>
          <a:p>
            <a:pPr algn="ctr"/>
            <a:r>
              <a:rPr lang="zh-CN" altLang="en-US" sz="6000"/>
              <a:t>目录</a:t>
            </a:r>
            <a:endParaRPr lang="zh-CN" altLang="en-US" sz="6000"/>
          </a:p>
        </p:txBody>
      </p:sp>
      <p:sp>
        <p:nvSpPr>
          <p:cNvPr id="4" name="文本框 3"/>
          <p:cNvSpPr txBox="1"/>
          <p:nvPr/>
        </p:nvSpPr>
        <p:spPr>
          <a:xfrm>
            <a:off x="4397375" y="1884045"/>
            <a:ext cx="6875780" cy="4014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685800" indent="-723900" fontAlgn="auto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4800">
                <a:latin typeface="宋体" panose="02010600030101010101" pitchFamily="2" charset="-122"/>
                <a:ea typeface="宋体" panose="02010600030101010101" pitchFamily="2" charset="-122"/>
                <a:hlinkClick r:id="rId1" action="ppaction://hlinksldjump"/>
              </a:rPr>
              <a:t>当前销售额分析</a:t>
            </a:r>
            <a:endParaRPr lang="zh-CN" altLang="en-US" sz="4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85800" indent="-723900" fontAlgn="auto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4800">
                <a:latin typeface="宋体" panose="02010600030101010101" pitchFamily="2" charset="-122"/>
                <a:ea typeface="宋体" panose="02010600030101010101" pitchFamily="2" charset="-122"/>
                <a:hlinkClick r:id="rId2" action="ppaction://hlinksldjump"/>
              </a:rPr>
              <a:t>市场趋势与竞争环境</a:t>
            </a:r>
            <a:endParaRPr lang="zh-CN" altLang="en-US" sz="4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85800" indent="-723900" fontAlgn="auto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4800">
                <a:latin typeface="宋体" panose="02010600030101010101" pitchFamily="2" charset="-122"/>
                <a:ea typeface="宋体" panose="02010600030101010101" pitchFamily="2" charset="-122"/>
                <a:hlinkClick r:id="rId3" action="ppaction://hlinksldjump"/>
              </a:rPr>
              <a:t>销售目标设定与分解</a:t>
            </a:r>
            <a:endParaRPr lang="zh-CN" altLang="en-US" sz="4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500" advClick="0" advTm="10000">
        <p159:morph option="byChar"/>
        <p:sndAc>
          <p:stSnd>
            <p:snd r:embed="rId5" name="type.wav"/>
          </p:stSnd>
        </p:sndAc>
      </p:transition>
    </mc:Choice>
    <mc:Fallback>
      <p:transition spd="slow" advClick="0" advTm="10000">
        <p:fade/>
        <p:sndAc>
          <p:stSnd>
            <p:snd r:embed="rId5" name="type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34300" y="190500"/>
            <a:ext cx="4232910" cy="705485"/>
          </a:xfrm>
        </p:spPr>
        <p:txBody>
          <a:bodyPr/>
          <a:p>
            <a:r>
              <a:rPr lang="zh-CN" altLang="en-US"/>
              <a:t>当前销售额</a:t>
            </a:r>
            <a:r>
              <a:rPr lang="zh-CN" altLang="en-US"/>
              <a:t>分析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67385" y="428625"/>
            <a:ext cx="5010150" cy="60007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rgbClr val="00B0F0"/>
                </a:solidFill>
                <a:latin typeface="楷体" panose="02010609060101010101" charset="-122"/>
                <a:ea typeface="楷体" panose="02010609060101010101" charset="-122"/>
              </a:rPr>
              <a:t>销售额数据</a:t>
            </a:r>
            <a:endParaRPr lang="zh-CN" altLang="en-US" sz="3200" b="1">
              <a:solidFill>
                <a:srgbClr val="00B0F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400"/>
              <a:t>详细分析近年来的销售额数据，包括总销售额、各产品线销售额、各区域销售额等。</a:t>
            </a:r>
            <a:endParaRPr lang="zh-CN" altLang="en-US" sz="2400"/>
          </a:p>
          <a:p>
            <a:pPr algn="l">
              <a:buClrTx/>
              <a:buSzTx/>
              <a:buFontTx/>
            </a:pPr>
            <a:r>
              <a:rPr lang="zh-CN" altLang="en-US" sz="3200" b="1">
                <a:solidFill>
                  <a:srgbClr val="00B0F0"/>
                </a:solidFill>
                <a:latin typeface="楷体" panose="02010609060101010101" charset="-122"/>
                <a:ea typeface="楷体" panose="02010609060101010101" charset="-122"/>
              </a:rPr>
              <a:t>销售渠道分析</a:t>
            </a:r>
            <a:endParaRPr lang="zh-CN" altLang="en-US" sz="3200" b="1">
              <a:solidFill>
                <a:srgbClr val="00B0F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400"/>
              <a:t>评估各销售渠道的贡献和效率，包括线上渠道、线下门店、代理商等。</a:t>
            </a:r>
            <a:endParaRPr lang="zh-CN" altLang="en-US" sz="2400"/>
          </a:p>
          <a:p>
            <a:pPr algn="l">
              <a:buClrTx/>
              <a:buSzTx/>
              <a:buFontTx/>
            </a:pPr>
            <a:r>
              <a:rPr lang="zh-CN" altLang="en-US" sz="3200" b="1">
                <a:solidFill>
                  <a:srgbClr val="00B0F0"/>
                </a:solidFill>
                <a:latin typeface="楷体" panose="02010609060101010101" charset="-122"/>
                <a:ea typeface="楷体" panose="02010609060101010101" charset="-122"/>
              </a:rPr>
              <a:t>客户满意度调查</a:t>
            </a:r>
            <a:endParaRPr lang="zh-CN" altLang="en-US" sz="3200" b="1">
              <a:solidFill>
                <a:srgbClr val="00B0F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/>
              <a:t>通过客户满意度调查了解客户对产品和服务的反馈，以便针对性地提升销售额。</a:t>
            </a:r>
            <a:endParaRPr lang="zh-CN" altLang="en-US" sz="2400"/>
          </a:p>
        </p:txBody>
      </p:sp>
      <p:graphicFrame>
        <p:nvGraphicFramePr>
          <p:cNvPr id="4" name="图表 3" title="额度"/>
          <p:cNvGraphicFramePr>
            <a:graphicFrameLocks noChangeAspect="1"/>
          </p:cNvGraphicFramePr>
          <p:nvPr/>
        </p:nvGraphicFramePr>
        <p:xfrm>
          <a:off x="6012180" y="1061085"/>
          <a:ext cx="5760000" cy="43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市场趋势与竞争</a:t>
            </a:r>
            <a:r>
              <a:rPr lang="zh-CN" altLang="en-US"/>
              <a:t>环境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08965" y="1945005"/>
            <a:ext cx="5486400" cy="4374515"/>
          </a:xfrm>
          <a:prstGeom prst="leftBracke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38100">
            <a:solidFill>
              <a:schemeClr val="accent3">
                <a:lumMod val="50000"/>
              </a:schemeClr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5" name="文本框 4"/>
          <p:cNvSpPr txBox="1"/>
          <p:nvPr/>
        </p:nvSpPr>
        <p:spPr>
          <a:xfrm>
            <a:off x="6568440" y="1145540"/>
            <a:ext cx="5205095" cy="54463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3200" b="1">
                <a:solidFill>
                  <a:srgbClr val="00B0F0"/>
                </a:solidFill>
                <a:effectLst>
                  <a:reflection blurRad="6350" stA="60000" endA="900" endPos="58000" dir="5400000" sy="-100000" algn="bl" rotWithShape="0"/>
                </a:effectLst>
                <a:latin typeface="楷体" panose="02010609060101010101" charset="-122"/>
                <a:ea typeface="楷体" panose="02010609060101010101" charset="-122"/>
              </a:rPr>
              <a:t>市场趋势分析</a:t>
            </a:r>
            <a:endParaRPr lang="zh-CN" altLang="en-US" sz="3200" b="1">
              <a:solidFill>
                <a:srgbClr val="00B0F0"/>
              </a:solidFill>
              <a:effectLst>
                <a:reflection blurRad="6350" stA="60000" endA="900" endPos="58000" dir="5400000" sy="-100000" algn="bl" rotWithShape="0"/>
              </a:effectLst>
              <a:latin typeface="楷体" panose="02010609060101010101" charset="-122"/>
              <a:ea typeface="楷体" panose="02010609060101010101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400">
                <a:effectLst>
                  <a:reflection blurRad="6350" stA="60000" endA="900" endPos="58000" dir="5400000" sy="-100000" algn="bl" rotWithShape="0"/>
                </a:effectLst>
              </a:rPr>
              <a:t>关注行业发展趋势，了解消费者需求变化，及时调整产品策略。</a:t>
            </a:r>
            <a:endParaRPr lang="zh-CN" altLang="en-US" sz="2400">
              <a:effectLst>
                <a:reflection blurRad="6350" stA="60000" endA="900" endPos="58000" dir="5400000" sy="-100000" algn="bl" rotWithShape="0"/>
              </a:effectLst>
            </a:endParaRPr>
          </a:p>
          <a:p>
            <a:pPr algn="l">
              <a:buClrTx/>
              <a:buSzTx/>
              <a:buFontTx/>
            </a:pPr>
            <a:r>
              <a:rPr lang="zh-CN" altLang="en-US" sz="3200" b="1">
                <a:solidFill>
                  <a:srgbClr val="00B0F0"/>
                </a:solidFill>
                <a:effectLst>
                  <a:reflection blurRad="6350" stA="60000" endA="900" endPos="58000" dir="5400000" sy="-100000" algn="bl" rotWithShape="0"/>
                </a:effectLst>
                <a:latin typeface="楷体" panose="02010609060101010101" charset="-122"/>
                <a:ea typeface="楷体" panose="02010609060101010101" charset="-122"/>
              </a:rPr>
              <a:t>竞争对手分析</a:t>
            </a:r>
            <a:endParaRPr lang="zh-CN" altLang="en-US" sz="3200" b="1">
              <a:solidFill>
                <a:srgbClr val="00B0F0"/>
              </a:solidFill>
              <a:effectLst>
                <a:reflection blurRad="6350" stA="60000" endA="900" endPos="58000" dir="5400000" sy="-100000" algn="bl" rotWithShape="0"/>
              </a:effectLst>
              <a:latin typeface="楷体" panose="02010609060101010101" charset="-122"/>
              <a:ea typeface="楷体" panose="02010609060101010101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400">
                <a:effectLst>
                  <a:reflection blurRad="6350" stA="60000" endA="900" endPos="58000" dir="5400000" sy="-100000" algn="bl" rotWithShape="0"/>
                </a:effectLst>
              </a:rPr>
              <a:t>分析主要竞争对手的产品、价格、销售策略等，以便找到差异化竞争优势。</a:t>
            </a:r>
            <a:endParaRPr lang="zh-CN" altLang="en-US" sz="2400">
              <a:effectLst>
                <a:reflection blurRad="6350" stA="60000" endA="900" endPos="58000" dir="5400000" sy="-100000" algn="bl" rotWithShape="0"/>
              </a:effectLst>
            </a:endParaRPr>
          </a:p>
          <a:p>
            <a:pPr algn="l">
              <a:buClrTx/>
              <a:buSzTx/>
              <a:buFontTx/>
            </a:pPr>
            <a:r>
              <a:rPr lang="zh-CN" altLang="en-US" sz="3200" b="1">
                <a:solidFill>
                  <a:srgbClr val="00B0F0"/>
                </a:solidFill>
                <a:effectLst>
                  <a:reflection blurRad="6350" stA="60000" endA="900" endPos="58000" dir="5400000" sy="-100000" algn="bl" rotWithShape="0"/>
                </a:effectLst>
                <a:latin typeface="楷体" panose="02010609060101010101" charset="-122"/>
                <a:ea typeface="楷体" panose="02010609060101010101" charset="-122"/>
              </a:rPr>
              <a:t>SWOT分析</a:t>
            </a:r>
            <a:endParaRPr lang="zh-CN" altLang="en-US" sz="3200" b="1">
              <a:solidFill>
                <a:srgbClr val="00B0F0"/>
              </a:solidFill>
              <a:effectLst>
                <a:reflection blurRad="6350" stA="60000" endA="900" endPos="58000" dir="5400000" sy="-100000" algn="bl" rotWithShape="0"/>
              </a:effectLst>
              <a:latin typeface="楷体" panose="02010609060101010101" charset="-122"/>
              <a:ea typeface="楷体" panose="02010609060101010101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400">
                <a:effectLst>
                  <a:reflection blurRad="6350" stA="60000" endA="900" endPos="58000" dir="5400000" sy="-100000" algn="bl" rotWithShape="0"/>
                </a:effectLst>
              </a:rPr>
              <a:t>进行SWOT分析，明确公司的优势、劣势、机会和威胁，为制定销售策略提供依据。</a:t>
            </a:r>
            <a:endParaRPr lang="zh-CN" altLang="en-US" sz="2400">
              <a:effectLst>
                <a:reflection blurRad="6350" stA="60000" endA="900" endPos="58000" dir="5400000" sy="-100000" algn="bl" rotWithShape="0"/>
              </a:effectLst>
            </a:endParaRPr>
          </a:p>
        </p:txBody>
      </p:sp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7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9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75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12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75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15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75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18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75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2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75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6460" y="1520825"/>
            <a:ext cx="4340860" cy="4598670"/>
          </a:xfrm>
          <a:prstGeom prst="ellipse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销售目标设定与分解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00380" y="1786255"/>
            <a:ext cx="6096000" cy="4821555"/>
          </a:xfrm>
          <a:prstGeom prst="rect">
            <a:avLst/>
          </a:prstGeom>
          <a:noFill/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pPr indent="457200" fontAlgn="auto">
              <a:lnSpc>
                <a:spcPts val="2600"/>
              </a:lnSpc>
              <a:spcBef>
                <a:spcPts val="1200"/>
              </a:spcBef>
              <a:spcAft>
                <a:spcPts val="600"/>
              </a:spcAft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在制定公司的销售目标时，我们首先深入分析市场情况和公司的战略规划，以确保设定的总销售目标既具有挑战性又切实可行。然后，我们将这个总体目标细化分解到各个产品线、区域和销售渠道，以便于更精确地分配资源和监控进度。同时，我们评估实现这些目标所需的资源，并制定风险管理计划以应对潜在的市场变化。通过持续监控销售进度，并根据实际情况进行灵活调整，我们确保销售目标的实现与公司的整体战略保持一致，同时激励团队成员朝着共同的目标努力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xit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trips(downLeft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COMMONDATA" val="eyJoZGlkIjoiNzFlMGY3OGRmZGU1YjQ0MmVmN2U4Yjg3M2ZkYWM1ZjIifQ=="/>
  <p:tag name="commondata" val="eyJoZGlkIjoiMDc1NGYxZTE5YjIxODQ2YjU3NGJkMjYwN2YzNDUwN2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517</Words>
  <Application>WPS 演示</Application>
  <PresentationFormat>宽屏</PresentationFormat>
  <Paragraphs>32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仿宋</vt:lpstr>
      <vt:lpstr>微软雅黑</vt:lpstr>
      <vt:lpstr>楷体</vt:lpstr>
      <vt:lpstr>Arial Unicode MS</vt:lpstr>
      <vt:lpstr>Calibri</vt:lpstr>
      <vt:lpstr>WPS</vt:lpstr>
      <vt:lpstr>销售额现状与目标设定</vt:lpstr>
      <vt:lpstr>目录</vt:lpstr>
      <vt:lpstr>当前销售额分析</vt:lpstr>
      <vt:lpstr>市场趋势与竞争环境</vt:lpstr>
      <vt:lpstr>销售目标设定与分解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HF</cp:lastModifiedBy>
  <cp:revision>158</cp:revision>
  <dcterms:created xsi:type="dcterms:W3CDTF">2019-06-19T02:08:00Z</dcterms:created>
  <dcterms:modified xsi:type="dcterms:W3CDTF">2024-11-13T06:53:46Z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3172840CA82342D7BF7982FBA01FE17C_11</vt:lpwstr>
  </property>
</Properties>
</file>